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37"/>
  </p:notesMasterIdLst>
  <p:sldIdLst>
    <p:sldId id="256" r:id="rId2"/>
    <p:sldId id="340" r:id="rId3"/>
    <p:sldId id="342" r:id="rId4"/>
    <p:sldId id="343" r:id="rId5"/>
    <p:sldId id="372" r:id="rId6"/>
    <p:sldId id="345" r:id="rId7"/>
    <p:sldId id="365" r:id="rId8"/>
    <p:sldId id="346" r:id="rId9"/>
    <p:sldId id="371" r:id="rId10"/>
    <p:sldId id="348" r:id="rId11"/>
    <p:sldId id="375" r:id="rId12"/>
    <p:sldId id="261" r:id="rId13"/>
    <p:sldId id="308" r:id="rId14"/>
    <p:sldId id="370" r:id="rId15"/>
    <p:sldId id="285" r:id="rId16"/>
    <p:sldId id="311" r:id="rId17"/>
    <p:sldId id="286" r:id="rId18"/>
    <p:sldId id="376" r:id="rId19"/>
    <p:sldId id="377" r:id="rId20"/>
    <p:sldId id="350" r:id="rId21"/>
    <p:sldId id="266" r:id="rId22"/>
    <p:sldId id="358" r:id="rId23"/>
    <p:sldId id="293" r:id="rId24"/>
    <p:sldId id="351" r:id="rId25"/>
    <p:sldId id="352" r:id="rId26"/>
    <p:sldId id="271" r:id="rId27"/>
    <p:sldId id="353" r:id="rId28"/>
    <p:sldId id="273" r:id="rId29"/>
    <p:sldId id="378" r:id="rId30"/>
    <p:sldId id="355" r:id="rId31"/>
    <p:sldId id="356" r:id="rId32"/>
    <p:sldId id="360" r:id="rId33"/>
    <p:sldId id="374" r:id="rId34"/>
    <p:sldId id="373" r:id="rId35"/>
    <p:sldId id="363" r:id="rId36"/>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nny" initials="D"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7175E-5F2B-DC4C-AF5F-49DBF58CDA80}" v="1" dt="2022-09-15T06:05:13.6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118" autoAdjust="0"/>
    <p:restoredTop sz="89524" autoAdjust="0"/>
  </p:normalViewPr>
  <p:slideViewPr>
    <p:cSldViewPr>
      <p:cViewPr varScale="1">
        <p:scale>
          <a:sx n="114" d="100"/>
          <a:sy n="114" d="100"/>
        </p:scale>
        <p:origin x="3096" y="1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88" d="100"/>
          <a:sy n="88" d="100"/>
        </p:scale>
        <p:origin x="-382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דן וילנצ'יק" userId="e3e68bce-9552-4e5b-b0eb-5f570e2304fb" providerId="ADAL" clId="{3D17175E-5F2B-DC4C-AF5F-49DBF58CDA80}"/>
    <pc:docChg chg="modSld">
      <pc:chgData name="דן וילנצ'יק" userId="e3e68bce-9552-4e5b-b0eb-5f570e2304fb" providerId="ADAL" clId="{3D17175E-5F2B-DC4C-AF5F-49DBF58CDA80}" dt="2022-09-15T06:05:13.677" v="0" actId="1036"/>
      <pc:docMkLst>
        <pc:docMk/>
      </pc:docMkLst>
      <pc:sldChg chg="modSp">
        <pc:chgData name="דן וילנצ'יק" userId="e3e68bce-9552-4e5b-b0eb-5f570e2304fb" providerId="ADAL" clId="{3D17175E-5F2B-DC4C-AF5F-49DBF58CDA80}" dt="2022-09-15T06:05:13.677" v="0" actId="1036"/>
        <pc:sldMkLst>
          <pc:docMk/>
          <pc:sldMk cId="1804099886" sldId="372"/>
        </pc:sldMkLst>
        <pc:picChg chg="mod">
          <ac:chgData name="דן וילנצ'יק" userId="e3e68bce-9552-4e5b-b0eb-5f570e2304fb" providerId="ADAL" clId="{3D17175E-5F2B-DC4C-AF5F-49DBF58CDA80}" dt="2022-09-15T06:05:13.677" v="0" actId="1036"/>
          <ac:picMkLst>
            <pc:docMk/>
            <pc:sldMk cId="1804099886" sldId="372"/>
            <ac:picMk id="90114" creationId="{00000000-0000-0000-0000-000000000000}"/>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13-11-02T18:17:01.411" idx="1">
    <p:pos x="5750" y="10"/>
    <p:text>JPEG relies on the discrete cosine
transform (DCT)—a variant of the Fourier transform—while JPEG-2000 relies on the
discrete wavelet transform (DWT) [116]. These transforms can be viewed analytically
as rotations of coordinate axes from the standard Euclidean basis to a new basis. Why
does it make sense to change coordinates in this way? Sparsity provides the answer.
The DCT of media content often has the property that the first several transform
coefficients are quite large and later ones are very small. Treating the later coefficients
as zeros and approximating the early ones by quantized representations yields an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339545AB-BCC5-44CB-B98E-45810A048864}" type="datetimeFigureOut">
              <a:rPr lang="he-IL" smtClean="0"/>
              <a:t>י"ט.אלול.תשפ"ב</a:t>
            </a:fld>
            <a:endParaRPr lang="he-I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71C09D79-A26E-44EC-91E9-9BB6E9D553BA}" type="slidenum">
              <a:rPr lang="he-IL" smtClean="0"/>
              <a:t>‹#›</a:t>
            </a:fld>
            <a:endParaRPr lang="he-IL"/>
          </a:p>
        </p:txBody>
      </p:sp>
    </p:spTree>
    <p:extLst>
      <p:ext uri="{BB962C8B-B14F-4D97-AF65-F5344CB8AC3E}">
        <p14:creationId xmlns:p14="http://schemas.microsoft.com/office/powerpoint/2010/main" val="58176948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a:p>
        </p:txBody>
      </p:sp>
      <p:sp>
        <p:nvSpPr>
          <p:cNvPr id="4" name="Slide Number Placeholder 3"/>
          <p:cNvSpPr>
            <a:spLocks noGrp="1"/>
          </p:cNvSpPr>
          <p:nvPr>
            <p:ph type="sldNum" sz="quarter" idx="10"/>
          </p:nvPr>
        </p:nvSpPr>
        <p:spPr/>
        <p:txBody>
          <a:bodyPr/>
          <a:lstStyle/>
          <a:p>
            <a:fld id="{71C09D79-A26E-44EC-91E9-9BB6E9D553BA}" type="slidenum">
              <a:rPr lang="he-IL" smtClean="0"/>
              <a:t>2</a:t>
            </a:fld>
            <a:endParaRPr lang="he-IL"/>
          </a:p>
        </p:txBody>
      </p:sp>
    </p:spTree>
    <p:extLst>
      <p:ext uri="{BB962C8B-B14F-4D97-AF65-F5344CB8AC3E}">
        <p14:creationId xmlns:p14="http://schemas.microsoft.com/office/powerpoint/2010/main" val="1060053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1C09D79-A26E-44EC-91E9-9BB6E9D553BA}" type="slidenum">
              <a:rPr lang="he-IL" smtClean="0"/>
              <a:t>11</a:t>
            </a:fld>
            <a:endParaRPr lang="he-IL"/>
          </a:p>
        </p:txBody>
      </p:sp>
    </p:spTree>
    <p:extLst>
      <p:ext uri="{BB962C8B-B14F-4D97-AF65-F5344CB8AC3E}">
        <p14:creationId xmlns:p14="http://schemas.microsoft.com/office/powerpoint/2010/main" val="251825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he-I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a:p>
        </p:txBody>
      </p:sp>
      <p:sp>
        <p:nvSpPr>
          <p:cNvPr id="4" name="Date Placeholder 3"/>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2147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4123062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a:t>Click to edit Master title style</a:t>
            </a:r>
            <a:endParaRPr lang="he-I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504015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70244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he-I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4027935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2"/>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3979441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1989530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a:t>Click to edit Master title style</a:t>
            </a:r>
            <a:endParaRPr lang="he-I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3354133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a:t>Click to edit Master title style</a:t>
            </a:r>
            <a:endParaRPr lang="he-I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2625883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696356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3B5CCA1B-2A83-407B-98CB-9F4291D60052}" type="slidenum">
              <a:rPr lang="he-IL" smtClean="0"/>
              <a:t>‹#›</a:t>
            </a:fld>
            <a:endParaRPr lang="he-IL"/>
          </a:p>
        </p:txBody>
      </p:sp>
    </p:spTree>
    <p:extLst>
      <p:ext uri="{BB962C8B-B14F-4D97-AF65-F5344CB8AC3E}">
        <p14:creationId xmlns:p14="http://schemas.microsoft.com/office/powerpoint/2010/main" val="2807098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he-IL"/>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Date Placeholder 5"/>
          <p:cNvSpPr>
            <a:spLocks noGrp="1"/>
          </p:cNvSpPr>
          <p:nvPr>
            <p:ph type="dt" sz="half" idx="10"/>
          </p:nvPr>
        </p:nvSpPr>
        <p:spPr>
          <a:xfrm>
            <a:off x="6553200" y="6245225"/>
            <a:ext cx="2133600" cy="476250"/>
          </a:xfrm>
        </p:spPr>
        <p:txBody>
          <a:bodyPr/>
          <a:lstStyle>
            <a:lvl1pPr>
              <a:defRPr/>
            </a:lvl1pPr>
          </a:lstStyle>
          <a:p>
            <a:pPr>
              <a:defRPr/>
            </a:pPr>
            <a:endParaRPr lang="en-US"/>
          </a:p>
        </p:txBody>
      </p:sp>
      <p:sp>
        <p:nvSpPr>
          <p:cNvPr id="7" name="Footer Placeholder 6"/>
          <p:cNvSpPr>
            <a:spLocks noGrp="1"/>
          </p:cNvSpPr>
          <p:nvPr>
            <p:ph type="ftr" sz="quarter" idx="11"/>
          </p:nvPr>
        </p:nvSpPr>
        <p:spPr>
          <a:xfrm>
            <a:off x="3124200" y="6245225"/>
            <a:ext cx="2895600" cy="476250"/>
          </a:xfrm>
        </p:spPr>
        <p:txBody>
          <a:bodyPr/>
          <a:lstStyle>
            <a:lvl1pPr>
              <a:defRPr/>
            </a:lvl1pPr>
          </a:lstStyle>
          <a:p>
            <a:pPr>
              <a:defRPr/>
            </a:pPr>
            <a:endParaRPr lang="en-US"/>
          </a:p>
        </p:txBody>
      </p:sp>
      <p:sp>
        <p:nvSpPr>
          <p:cNvPr id="8" name="Slide Number Placeholder 7"/>
          <p:cNvSpPr>
            <a:spLocks noGrp="1"/>
          </p:cNvSpPr>
          <p:nvPr>
            <p:ph type="sldNum" sz="quarter" idx="12"/>
          </p:nvPr>
        </p:nvSpPr>
        <p:spPr>
          <a:xfrm>
            <a:off x="457200" y="6245225"/>
            <a:ext cx="2133600" cy="476250"/>
          </a:xfrm>
        </p:spPr>
        <p:txBody>
          <a:bodyPr/>
          <a:lstStyle>
            <a:lvl1pPr>
              <a:defRPr smtClean="0"/>
            </a:lvl1pPr>
          </a:lstStyle>
          <a:p>
            <a:pPr>
              <a:defRPr/>
            </a:pPr>
            <a:fld id="{07E74730-AFE1-4367-A501-200F75FF2E71}" type="slidenum">
              <a:rPr lang="he-IL"/>
              <a:pPr>
                <a:defRPr/>
              </a:pPr>
              <a:t>‹#›</a:t>
            </a:fld>
            <a:endParaRPr lang="en-US"/>
          </a:p>
        </p:txBody>
      </p:sp>
    </p:spTree>
    <p:extLst>
      <p:ext uri="{BB962C8B-B14F-4D97-AF65-F5344CB8AC3E}">
        <p14:creationId xmlns:p14="http://schemas.microsoft.com/office/powerpoint/2010/main" val="3679721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a:t>Click to edit Master title style</a:t>
            </a:r>
            <a:endParaRPr lang="he-I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C1E4AEF-DC18-43C6-8437-980F2D821223}" type="datetimeFigureOut">
              <a:rPr lang="he-IL" smtClean="0"/>
              <a:t>י"ט.אלול.תשפ"ב</a:t>
            </a:fld>
            <a:endParaRPr lang="he-I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3B5CCA1B-2A83-407B-98CB-9F4291D60052}" type="slidenum">
              <a:rPr lang="he-IL" smtClean="0"/>
              <a:t>‹#›</a:t>
            </a:fld>
            <a:endParaRPr lang="he-IL"/>
          </a:p>
        </p:txBody>
      </p:sp>
    </p:spTree>
    <p:extLst>
      <p:ext uri="{BB962C8B-B14F-4D97-AF65-F5344CB8AC3E}">
        <p14:creationId xmlns:p14="http://schemas.microsoft.com/office/powerpoint/2010/main" val="283789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8.wmf"/><Relationship Id="rId7" Type="http://schemas.openxmlformats.org/officeDocument/2006/relationships/image" Target="../media/image14.png"/><Relationship Id="rId2" Type="http://schemas.openxmlformats.org/officeDocument/2006/relationships/oleObject" Target="../embeddings/oleObject1.bin"/><Relationship Id="rId1" Type="http://schemas.openxmlformats.org/officeDocument/2006/relationships/slideLayout" Target="../slideLayouts/slideLayout2.xml"/><Relationship Id="rId11" Type="http://schemas.openxmlformats.org/officeDocument/2006/relationships/image" Target="../media/image11.wmf"/><Relationship Id="rId5" Type="http://schemas.openxmlformats.org/officeDocument/2006/relationships/image" Target="../media/image9.wmf"/><Relationship Id="rId10" Type="http://schemas.openxmlformats.org/officeDocument/2006/relationships/oleObject" Target="../embeddings/oleObject4.bin"/><Relationship Id="rId4" Type="http://schemas.openxmlformats.org/officeDocument/2006/relationships/oleObject" Target="../embeddings/oleObject2.bin"/><Relationship Id="rId9" Type="http://schemas.openxmlformats.org/officeDocument/2006/relationships/image" Target="../media/image10.wmf"/></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3.wmf"/><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2.wmf"/><Relationship Id="rId4" Type="http://schemas.openxmlformats.org/officeDocument/2006/relationships/oleObject" Target="../embeddings/oleObject5.bin"/></Relationships>
</file>

<file path=ppt/slides/_rels/slide1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7.wmf"/><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16.wmf"/><Relationship Id="rId4" Type="http://schemas.openxmlformats.org/officeDocument/2006/relationships/oleObject" Target="../embeddings/oleObject9.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19.png"/><Relationship Id="rId7"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18.wmf"/><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3.wmf"/><Relationship Id="rId3" Type="http://schemas.openxmlformats.org/officeDocument/2006/relationships/image" Target="../media/image27.png"/><Relationship Id="rId7" Type="http://schemas.openxmlformats.org/officeDocument/2006/relationships/image" Target="../media/image20.wmf"/><Relationship Id="rId1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22.wmf"/><Relationship Id="rId5" Type="http://schemas.openxmlformats.org/officeDocument/2006/relationships/image" Target="../media/image19.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21.wmf"/></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wmf"/><Relationship Id="rId12" Type="http://schemas.openxmlformats.org/officeDocument/2006/relationships/image" Target="../media/image34.png"/><Relationship Id="rId2" Type="http://schemas.openxmlformats.org/officeDocument/2006/relationships/image" Target="../media/image25.jpeg"/><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331.png"/><Relationship Id="rId5" Type="http://schemas.openxmlformats.org/officeDocument/2006/relationships/image" Target="../media/image27.wmf"/><Relationship Id="rId4" Type="http://schemas.openxmlformats.org/officeDocument/2006/relationships/oleObject" Target="../embeddings/oleObject18.bin"/></Relationships>
</file>

<file path=ppt/slides/_rels/slide2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0.jpe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32.wmf"/><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31.wmf"/><Relationship Id="rId4"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2.bin"/></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0.wmf"/><Relationship Id="rId4" Type="http://schemas.openxmlformats.org/officeDocument/2006/relationships/oleObject" Target="../embeddings/oleObject23.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44.wmf"/></Relationships>
</file>

<file path=ppt/slides/_rels/slide3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7.xml"/><Relationship Id="rId5" Type="http://schemas.openxmlformats.org/officeDocument/2006/relationships/image" Target="../media/image500.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268760"/>
            <a:ext cx="7772400" cy="1470025"/>
          </a:xfrm>
        </p:spPr>
        <p:style>
          <a:lnRef idx="1">
            <a:schemeClr val="dk1"/>
          </a:lnRef>
          <a:fillRef idx="2">
            <a:schemeClr val="dk1"/>
          </a:fillRef>
          <a:effectRef idx="1">
            <a:schemeClr val="dk1"/>
          </a:effectRef>
          <a:fontRef idx="minor">
            <a:schemeClr val="dk1"/>
          </a:fontRef>
        </p:style>
        <p:txBody>
          <a:bodyPr>
            <a:normAutofit/>
          </a:bodyPr>
          <a:lstStyle/>
          <a:p>
            <a:pPr rtl="0"/>
            <a:r>
              <a:rPr lang="en-US" dirty="0">
                <a:solidFill>
                  <a:schemeClr val="tx1"/>
                </a:solidFill>
                <a:cs typeface="+mn-cs"/>
              </a:rPr>
              <a:t>Sparse PCA: Dealing with High Dimensional Data</a:t>
            </a:r>
            <a:endParaRPr lang="he-IL" dirty="0">
              <a:solidFill>
                <a:schemeClr val="tx1"/>
              </a:solidFill>
              <a:cs typeface="+mn-cs"/>
            </a:endParaRPr>
          </a:p>
        </p:txBody>
      </p:sp>
      <p:sp>
        <p:nvSpPr>
          <p:cNvPr id="3" name="Subtitle 2"/>
          <p:cNvSpPr>
            <a:spLocks noGrp="1"/>
          </p:cNvSpPr>
          <p:nvPr>
            <p:ph type="subTitle" idx="1"/>
          </p:nvPr>
        </p:nvSpPr>
        <p:spPr>
          <a:xfrm>
            <a:off x="1483568" y="3429000"/>
            <a:ext cx="6400800" cy="1152128"/>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a:solidFill>
                  <a:schemeClr val="tx1"/>
                </a:solidFill>
              </a:rPr>
              <a:t>Danny Vilenchik</a:t>
            </a:r>
          </a:p>
          <a:p>
            <a:r>
              <a:rPr lang="en-US" sz="2400" dirty="0">
                <a:solidFill>
                  <a:schemeClr val="tx1"/>
                </a:solidFill>
              </a:rPr>
              <a:t>The Weizmann Institute</a:t>
            </a:r>
          </a:p>
        </p:txBody>
      </p:sp>
      <p:sp>
        <p:nvSpPr>
          <p:cNvPr id="4" name="Rectangle 3"/>
          <p:cNvSpPr/>
          <p:nvPr/>
        </p:nvSpPr>
        <p:spPr>
          <a:xfrm>
            <a:off x="683568" y="5301208"/>
            <a:ext cx="8136904" cy="461665"/>
          </a:xfrm>
          <a:prstGeom prst="rect">
            <a:avLst/>
          </a:prstGeom>
        </p:spPr>
        <p:txBody>
          <a:bodyPr wrap="square">
            <a:spAutoFit/>
          </a:bodyPr>
          <a:lstStyle/>
          <a:p>
            <a:pPr algn="ctr" rtl="0"/>
            <a:r>
              <a:rPr lang="en-US" sz="2400" dirty="0"/>
              <a:t>Based on Joint works with </a:t>
            </a:r>
            <a:r>
              <a:rPr lang="en-US" sz="2400" dirty="0" err="1"/>
              <a:t>Robi</a:t>
            </a:r>
            <a:r>
              <a:rPr lang="en-US" sz="2400" dirty="0"/>
              <a:t> Krauthgamer and Boaz Nadler</a:t>
            </a:r>
            <a:endParaRPr lang="he-IL" sz="2400" dirty="0"/>
          </a:p>
        </p:txBody>
      </p:sp>
    </p:spTree>
    <p:extLst>
      <p:ext uri="{BB962C8B-B14F-4D97-AF65-F5344CB8AC3E}">
        <p14:creationId xmlns:p14="http://schemas.microsoft.com/office/powerpoint/2010/main" val="3426544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dirty="0"/>
              <a:t>Data Analytics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algn="l" rtl="0">
                  <a:spcAft>
                    <a:spcPts val="600"/>
                  </a:spcAft>
                </a:pPr>
                <a:r>
                  <a:rPr lang="en-US" sz="2800" dirty="0"/>
                  <a:t>Sample a set of </a:t>
                </a:r>
                <a14:m>
                  <m:oMath xmlns:m="http://schemas.openxmlformats.org/officeDocument/2006/math">
                    <m:r>
                      <a:rPr lang="en-US" sz="2800" b="0" i="1" smtClean="0">
                        <a:latin typeface="Cambria Math"/>
                      </a:rPr>
                      <m:t>𝑝</m:t>
                    </m:r>
                  </m:oMath>
                </a14:m>
                <a:r>
                  <a:rPr lang="en-US" sz="2800" dirty="0"/>
                  <a:t> features (parameters) of </a:t>
                </a:r>
                <a14:m>
                  <m:oMath xmlns:m="http://schemas.openxmlformats.org/officeDocument/2006/math">
                    <m:r>
                      <a:rPr lang="en-US" sz="2800" b="0" i="1" smtClean="0">
                        <a:latin typeface="Cambria Math"/>
                      </a:rPr>
                      <m:t>𝑛</m:t>
                    </m:r>
                  </m:oMath>
                </a14:m>
                <a:r>
                  <a:rPr lang="en-US" sz="2800" dirty="0"/>
                  <a:t> observations</a:t>
                </a:r>
              </a:p>
              <a:p>
                <a:pPr algn="l" rtl="0">
                  <a:spcAft>
                    <a:spcPts val="600"/>
                  </a:spcAft>
                </a:pPr>
                <a:endParaRPr lang="en-US" sz="2800" dirty="0"/>
              </a:p>
              <a:p>
                <a:pPr algn="l" rtl="0">
                  <a:spcAft>
                    <a:spcPts val="600"/>
                  </a:spcAft>
                </a:pPr>
                <a:endParaRPr lang="en-US" sz="2800" dirty="0"/>
              </a:p>
              <a:p>
                <a:pPr algn="l" rtl="0">
                  <a:spcAft>
                    <a:spcPts val="600"/>
                  </a:spcAft>
                </a:pPr>
                <a:endParaRPr lang="en-US" sz="2800" dirty="0"/>
              </a:p>
              <a:p>
                <a:pPr algn="l" rtl="0">
                  <a:spcAft>
                    <a:spcPts val="600"/>
                  </a:spcAft>
                </a:pPr>
                <a:endParaRPr lang="en-US" sz="2800" dirty="0"/>
              </a:p>
              <a:p>
                <a:pPr algn="l" rtl="0">
                  <a:spcAft>
                    <a:spcPts val="600"/>
                  </a:spcAft>
                </a:pPr>
                <a14:m>
                  <m:oMath xmlns:m="http://schemas.openxmlformats.org/officeDocument/2006/math">
                    <m:r>
                      <a:rPr lang="en-US" sz="2800" i="1">
                        <a:latin typeface="Cambria Math"/>
                      </a:rPr>
                      <m:t>𝑝</m:t>
                    </m:r>
                    <m:r>
                      <a:rPr lang="en-US" sz="2800" i="1">
                        <a:latin typeface="Cambria Math"/>
                      </a:rPr>
                      <m:t> </m:t>
                    </m:r>
                  </m:oMath>
                </a14:m>
                <a:r>
                  <a:rPr lang="en-US" sz="2800" dirty="0"/>
                  <a:t>–dimensional data</a:t>
                </a:r>
              </a:p>
              <a:p>
                <a:pPr algn="l" rtl="0">
                  <a:spcAft>
                    <a:spcPts val="600"/>
                  </a:spcAft>
                </a:pPr>
                <a:r>
                  <a:rPr lang="en-US" sz="2800" dirty="0"/>
                  <a:t>Goal: infer information from data</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259" t="-1213" b="-2695"/>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579237087"/>
              </p:ext>
            </p:extLst>
          </p:nvPr>
        </p:nvGraphicFramePr>
        <p:xfrm>
          <a:off x="1428328" y="2924944"/>
          <a:ext cx="6096000" cy="1478280"/>
        </p:xfrm>
        <a:graphic>
          <a:graphicData uri="http://schemas.openxmlformats.org/drawingml/2006/table">
            <a:tbl>
              <a:tblPr rtl="1"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298832">
                <a:tc>
                  <a:txBody>
                    <a:bodyPr/>
                    <a:lstStyle/>
                    <a:p>
                      <a:pPr algn="ctr" rtl="1"/>
                      <a:r>
                        <a:rPr lang="en-US" dirty="0"/>
                        <a:t>Height</a:t>
                      </a:r>
                      <a:endParaRPr lang="he-IL" dirty="0"/>
                    </a:p>
                  </a:txBody>
                  <a:tcPr/>
                </a:tc>
                <a:tc>
                  <a:txBody>
                    <a:bodyPr/>
                    <a:lstStyle/>
                    <a:p>
                      <a:pPr algn="ctr" rtl="1"/>
                      <a:r>
                        <a:rPr lang="en-US" dirty="0"/>
                        <a:t>Weight</a:t>
                      </a:r>
                      <a:endParaRPr lang="he-IL" dirty="0"/>
                    </a:p>
                  </a:txBody>
                  <a:tcPr/>
                </a:tc>
                <a:tc>
                  <a:txBody>
                    <a:bodyPr/>
                    <a:lstStyle/>
                    <a:p>
                      <a:pPr algn="ctr" rtl="1"/>
                      <a:r>
                        <a:rPr lang="en-US" dirty="0"/>
                        <a:t>Age</a:t>
                      </a:r>
                      <a:endParaRPr lang="he-IL" dirty="0"/>
                    </a:p>
                  </a:txBody>
                  <a:tcPr/>
                </a:tc>
                <a:extLst>
                  <a:ext uri="{0D108BD9-81ED-4DB2-BD59-A6C34878D82A}">
                    <a16:rowId xmlns:a16="http://schemas.microsoft.com/office/drawing/2014/main" val="10000"/>
                  </a:ext>
                </a:extLst>
              </a:tr>
              <a:tr h="370840">
                <a:tc>
                  <a:txBody>
                    <a:bodyPr/>
                    <a:lstStyle/>
                    <a:p>
                      <a:pPr algn="ctr" rtl="1"/>
                      <a:r>
                        <a:rPr lang="en-US" dirty="0"/>
                        <a:t>186</a:t>
                      </a:r>
                      <a:endParaRPr lang="he-IL" dirty="0"/>
                    </a:p>
                  </a:txBody>
                  <a:tcPr/>
                </a:tc>
                <a:tc>
                  <a:txBody>
                    <a:bodyPr/>
                    <a:lstStyle/>
                    <a:p>
                      <a:pPr algn="ctr" rtl="1"/>
                      <a:r>
                        <a:rPr lang="en-US" dirty="0"/>
                        <a:t>75</a:t>
                      </a:r>
                      <a:endParaRPr lang="he-IL" dirty="0"/>
                    </a:p>
                  </a:txBody>
                  <a:tcPr/>
                </a:tc>
                <a:tc>
                  <a:txBody>
                    <a:bodyPr/>
                    <a:lstStyle/>
                    <a:p>
                      <a:pPr algn="ctr" rtl="1"/>
                      <a:r>
                        <a:rPr lang="en-US" dirty="0"/>
                        <a:t>22</a:t>
                      </a:r>
                      <a:endParaRPr lang="he-IL" dirty="0"/>
                    </a:p>
                  </a:txBody>
                  <a:tcPr/>
                </a:tc>
                <a:extLst>
                  <a:ext uri="{0D108BD9-81ED-4DB2-BD59-A6C34878D82A}">
                    <a16:rowId xmlns:a16="http://schemas.microsoft.com/office/drawing/2014/main" val="10001"/>
                  </a:ext>
                </a:extLst>
              </a:tr>
              <a:tr h="370840">
                <a:tc>
                  <a:txBody>
                    <a:bodyPr/>
                    <a:lstStyle/>
                    <a:p>
                      <a:pPr algn="ctr" rtl="1"/>
                      <a:r>
                        <a:rPr lang="en-US" dirty="0"/>
                        <a:t>177</a:t>
                      </a:r>
                      <a:endParaRPr lang="he-IL" dirty="0"/>
                    </a:p>
                  </a:txBody>
                  <a:tcPr/>
                </a:tc>
                <a:tc>
                  <a:txBody>
                    <a:bodyPr/>
                    <a:lstStyle/>
                    <a:p>
                      <a:pPr algn="ctr" rtl="1"/>
                      <a:r>
                        <a:rPr lang="en-US" dirty="0"/>
                        <a:t>82</a:t>
                      </a:r>
                      <a:endParaRPr lang="he-IL" dirty="0"/>
                    </a:p>
                  </a:txBody>
                  <a:tcPr/>
                </a:tc>
                <a:tc>
                  <a:txBody>
                    <a:bodyPr/>
                    <a:lstStyle/>
                    <a:p>
                      <a:pPr algn="ctr" rtl="1"/>
                      <a:r>
                        <a:rPr lang="en-US" dirty="0"/>
                        <a:t>42</a:t>
                      </a:r>
                      <a:endParaRPr lang="he-IL" dirty="0"/>
                    </a:p>
                  </a:txBody>
                  <a:tcPr/>
                </a:tc>
                <a:extLst>
                  <a:ext uri="{0D108BD9-81ED-4DB2-BD59-A6C34878D82A}">
                    <a16:rowId xmlns:a16="http://schemas.microsoft.com/office/drawing/2014/main" val="10002"/>
                  </a:ext>
                </a:extLst>
              </a:tr>
              <a:tr h="370840">
                <a:tc>
                  <a:txBody>
                    <a:bodyPr/>
                    <a:lstStyle/>
                    <a:p>
                      <a:pPr algn="ctr" rtl="1"/>
                      <a:r>
                        <a:rPr lang="he-IL" dirty="0"/>
                        <a:t>175</a:t>
                      </a:r>
                    </a:p>
                  </a:txBody>
                  <a:tcPr/>
                </a:tc>
                <a:tc>
                  <a:txBody>
                    <a:bodyPr/>
                    <a:lstStyle/>
                    <a:p>
                      <a:pPr algn="ctr" rtl="1"/>
                      <a:r>
                        <a:rPr lang="he-IL" dirty="0"/>
                        <a:t>50</a:t>
                      </a:r>
                    </a:p>
                  </a:txBody>
                  <a:tcPr/>
                </a:tc>
                <a:tc>
                  <a:txBody>
                    <a:bodyPr/>
                    <a:lstStyle/>
                    <a:p>
                      <a:pPr algn="ctr" rtl="1"/>
                      <a:r>
                        <a:rPr lang="en-US" dirty="0"/>
                        <a:t>13</a:t>
                      </a:r>
                      <a:endParaRPr lang="he-IL"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5268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60648"/>
            <a:ext cx="8229600" cy="1143000"/>
          </a:xfrm>
        </p:spPr>
        <p:txBody>
          <a:bodyPr/>
          <a:lstStyle/>
          <a:p>
            <a:r>
              <a:rPr lang="en-US" dirty="0"/>
              <a:t>The Classical Setting</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287413"/>
                <a:ext cx="8229600" cy="4525963"/>
              </a:xfrm>
            </p:spPr>
            <p:txBody>
              <a:bodyPr>
                <a:normAutofit/>
              </a:bodyPr>
              <a:lstStyle/>
              <a:p>
                <a:pPr algn="l" rtl="0">
                  <a:spcBef>
                    <a:spcPts val="900"/>
                  </a:spcBef>
                  <a:spcAft>
                    <a:spcPts val="900"/>
                  </a:spcAft>
                </a:pPr>
                <a:r>
                  <a:rPr lang="en-US" sz="2800" dirty="0">
                    <a:solidFill>
                      <a:srgbClr val="0070C0"/>
                    </a:solidFill>
                  </a:rPr>
                  <a:t>Recommendation Systems (Netflix, Amazon)</a:t>
                </a:r>
              </a:p>
              <a:p>
                <a:pPr lvl="1" algn="l" rtl="0">
                  <a:spcBef>
                    <a:spcPts val="900"/>
                  </a:spcBef>
                  <a:spcAft>
                    <a:spcPts val="900"/>
                  </a:spcAft>
                </a:pPr>
                <a14:m>
                  <m:oMath xmlns:m="http://schemas.openxmlformats.org/officeDocument/2006/math">
                    <m:r>
                      <a:rPr lang="en-US" i="1">
                        <a:latin typeface="Cambria Math"/>
                      </a:rPr>
                      <m:t>𝑛</m:t>
                    </m:r>
                  </m:oMath>
                </a14:m>
                <a:r>
                  <a:rPr lang="en-US" dirty="0"/>
                  <a:t> (reviewers) potentially in the millions and </a:t>
                </a:r>
                <a14:m>
                  <m:oMath xmlns:m="http://schemas.openxmlformats.org/officeDocument/2006/math">
                    <m:r>
                      <a:rPr lang="en-US" b="0" i="1" smtClean="0">
                        <a:latin typeface="Cambria Math"/>
                      </a:rPr>
                      <m:t>𝑝</m:t>
                    </m:r>
                  </m:oMath>
                </a14:m>
                <a:r>
                  <a:rPr lang="en-US" dirty="0"/>
                  <a:t> (films database) in the hundreds </a:t>
                </a:r>
              </a:p>
              <a:p>
                <a:pPr algn="l" rtl="0">
                  <a:spcBef>
                    <a:spcPts val="900"/>
                  </a:spcBef>
                  <a:spcAft>
                    <a:spcPts val="900"/>
                  </a:spcAft>
                </a:pPr>
                <a:r>
                  <a:rPr lang="en-US" sz="2800" dirty="0">
                    <a:solidFill>
                      <a:srgbClr val="0070C0"/>
                    </a:solidFill>
                  </a:rPr>
                  <a:t>The Framingham Heart study</a:t>
                </a:r>
                <a:endParaRPr lang="en-US" sz="2800" dirty="0"/>
              </a:p>
              <a:p>
                <a:pPr lvl="1" algn="l" rtl="0">
                  <a:spcBef>
                    <a:spcPts val="900"/>
                  </a:spcBef>
                  <a:spcAft>
                    <a:spcPts val="900"/>
                  </a:spcAft>
                </a:pPr>
                <a14:m>
                  <m:oMath xmlns:m="http://schemas.openxmlformats.org/officeDocument/2006/math">
                    <m:r>
                      <a:rPr lang="en-US" i="1">
                        <a:latin typeface="Cambria Math"/>
                      </a:rPr>
                      <m:t>𝑛</m:t>
                    </m:r>
                    <m:r>
                      <a:rPr lang="en-US" i="1">
                        <a:latin typeface="Cambria Math"/>
                      </a:rPr>
                      <m:t>=25,000</m:t>
                    </m:r>
                  </m:oMath>
                </a14:m>
                <a:r>
                  <a:rPr lang="en-US" dirty="0"/>
                  <a:t> patients </a:t>
                </a:r>
                <a14:m>
                  <m:oMath xmlns:m="http://schemas.openxmlformats.org/officeDocument/2006/math">
                    <m:r>
                      <a:rPr lang="en-US" i="1">
                        <a:latin typeface="Cambria Math"/>
                      </a:rPr>
                      <m:t>𝑝</m:t>
                    </m:r>
                    <m:r>
                      <a:rPr lang="en-US" i="1">
                        <a:latin typeface="Cambria Math"/>
                      </a:rPr>
                      <m:t>=100</m:t>
                    </m:r>
                  </m:oMath>
                </a14:m>
                <a:r>
                  <a:rPr lang="en-US" dirty="0"/>
                  <a:t> paramteres</a:t>
                </a:r>
                <a:endParaRPr lang="he-IL" dirty="0"/>
              </a:p>
              <a:p>
                <a:pPr algn="l" rtl="0">
                  <a:spcBef>
                    <a:spcPts val="900"/>
                  </a:spcBef>
                  <a:spcAft>
                    <a:spcPts val="900"/>
                  </a:spcAft>
                </a:pPr>
                <a:endParaRPr lang="he-IL"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287413"/>
                <a:ext cx="8229600" cy="4525963"/>
              </a:xfrm>
              <a:blipFill rotWithShape="1">
                <a:blip r:embed="rId2"/>
                <a:stretch>
                  <a:fillRect l="-1259" t="-1211"/>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67544" y="1465620"/>
                <a:ext cx="8676456" cy="523220"/>
              </a:xfrm>
              <a:prstGeom prst="rect">
                <a:avLst/>
              </a:prstGeom>
            </p:spPr>
            <p:txBody>
              <a:bodyPr wrap="square">
                <a:spAutoFit/>
              </a:bodyPr>
              <a:lstStyle/>
              <a:p>
                <a:pPr algn="l" rtl="0">
                  <a:spcAft>
                    <a:spcPts val="1200"/>
                  </a:spcAft>
                </a:pPr>
                <a:r>
                  <a:rPr lang="en-US" sz="2800" dirty="0"/>
                  <a:t>In the </a:t>
                </a:r>
                <a:r>
                  <a:rPr lang="en-US" sz="2800" dirty="0">
                    <a:solidFill>
                      <a:srgbClr val="FF0000"/>
                    </a:solidFill>
                  </a:rPr>
                  <a:t>classical setting </a:t>
                </a:r>
                <a14:m>
                  <m:oMath xmlns:m="http://schemas.openxmlformats.org/officeDocument/2006/math">
                    <m:r>
                      <a:rPr lang="en-US" sz="2800" i="1">
                        <a:latin typeface="Cambria Math"/>
                        <a:ea typeface="Cambria Math"/>
                      </a:rPr>
                      <m:t>𝑝</m:t>
                    </m:r>
                    <m:r>
                      <a:rPr lang="en-US" sz="2800" i="1">
                        <a:latin typeface="Cambria Math"/>
                        <a:ea typeface="Cambria Math"/>
                      </a:rPr>
                      <m:t> </m:t>
                    </m:r>
                  </m:oMath>
                </a14:m>
                <a:r>
                  <a:rPr lang="en-US" sz="2800" dirty="0"/>
                  <a:t>is much smaller compared to </a:t>
                </a:r>
                <a14:m>
                  <m:oMath xmlns:m="http://schemas.openxmlformats.org/officeDocument/2006/math">
                    <m:r>
                      <a:rPr lang="en-US" sz="2800" i="1">
                        <a:latin typeface="Cambria Math"/>
                      </a:rPr>
                      <m:t>𝑛</m:t>
                    </m:r>
                  </m:oMath>
                </a14:m>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467544" y="1465620"/>
                <a:ext cx="8676456" cy="523220"/>
              </a:xfrm>
              <a:prstGeom prst="rect">
                <a:avLst/>
              </a:prstGeom>
              <a:blipFill rotWithShape="1">
                <a:blip r:embed="rId3"/>
                <a:stretch>
                  <a:fillRect l="-1476" t="-10465" b="-32558"/>
                </a:stretch>
              </a:blipFill>
            </p:spPr>
            <p:txBody>
              <a:bodyPr/>
              <a:lstStyle/>
              <a:p>
                <a:r>
                  <a:rPr lang="he-IL">
                    <a:noFill/>
                  </a:rPr>
                  <a:t> </a:t>
                </a:r>
              </a:p>
            </p:txBody>
          </p:sp>
        </mc:Fallback>
      </mc:AlternateContent>
      <p:pic>
        <p:nvPicPr>
          <p:cNvPr id="89090" name="Picture 2" descr="C:\Users\vilenchi\Desktop\539w.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6168" y="5268878"/>
            <a:ext cx="1882336" cy="153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7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90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Dimensional Setting</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12776"/>
                <a:ext cx="8229600" cy="4752528"/>
              </a:xfrm>
            </p:spPr>
            <p:txBody>
              <a:bodyPr>
                <a:noAutofit/>
              </a:bodyPr>
              <a:lstStyle/>
              <a:p>
                <a:pPr algn="l" rtl="0">
                  <a:spcBef>
                    <a:spcPts val="900"/>
                  </a:spcBef>
                  <a:spcAft>
                    <a:spcPts val="900"/>
                  </a:spcAft>
                </a:pPr>
                <a14:m>
                  <m:oMath xmlns:m="http://schemas.openxmlformats.org/officeDocument/2006/math">
                    <m:r>
                      <a:rPr lang="en-US" sz="2800" i="1">
                        <a:latin typeface="Cambria Math"/>
                      </a:rPr>
                      <m:t>𝑛</m:t>
                    </m:r>
                    <m:r>
                      <a:rPr lang="en-US" sz="2800" i="1">
                        <a:latin typeface="Cambria Math"/>
                        <a:ea typeface="Cambria Math"/>
                      </a:rPr>
                      <m:t>≤</m:t>
                    </m:r>
                    <m:r>
                      <a:rPr lang="en-US" sz="2800" i="1">
                        <a:latin typeface="Cambria Math"/>
                      </a:rPr>
                      <m:t>𝑝</m:t>
                    </m:r>
                  </m:oMath>
                </a14:m>
                <a:r>
                  <a:rPr lang="en-US" sz="2800" dirty="0"/>
                  <a:t> or </a:t>
                </a:r>
                <a14:m>
                  <m:oMath xmlns:m="http://schemas.openxmlformats.org/officeDocument/2006/math">
                    <m:r>
                      <a:rPr lang="en-US" sz="2800" i="1">
                        <a:latin typeface="Cambria Math"/>
                      </a:rPr>
                      <m:t>𝑛</m:t>
                    </m:r>
                    <m:r>
                      <a:rPr lang="en-US" sz="2800" i="1" smtClean="0">
                        <a:latin typeface="Cambria Math"/>
                        <a:ea typeface="Cambria Math"/>
                      </a:rPr>
                      <m:t>≪</m:t>
                    </m:r>
                    <m:r>
                      <a:rPr lang="en-US" sz="2800" i="1">
                        <a:latin typeface="Cambria Math"/>
                      </a:rPr>
                      <m:t>𝑝</m:t>
                    </m:r>
                  </m:oMath>
                </a14:m>
                <a:endParaRPr lang="en-US" sz="2800" dirty="0"/>
              </a:p>
              <a:p>
                <a:pPr algn="l" rtl="0">
                  <a:spcBef>
                    <a:spcPts val="900"/>
                  </a:spcBef>
                  <a:spcAft>
                    <a:spcPts val="900"/>
                  </a:spcAft>
                </a:pPr>
                <a:r>
                  <a:rPr lang="en-US" sz="2800" dirty="0"/>
                  <a:t>It has become much cheaper to gather data than to worry much about what data to gather (“Big Data”)</a:t>
                </a:r>
              </a:p>
              <a:p>
                <a:pPr lvl="1" algn="l" rtl="0">
                  <a:spcBef>
                    <a:spcPts val="900"/>
                  </a:spcBef>
                  <a:spcAft>
                    <a:spcPts val="900"/>
                  </a:spcAft>
                </a:pPr>
                <a:r>
                  <a:rPr lang="en-US" dirty="0"/>
                  <a:t>Measuring </a:t>
                </a:r>
                <a:r>
                  <a:rPr lang="en-US" dirty="0">
                    <a:solidFill>
                      <a:srgbClr val="0070C0"/>
                    </a:solidFill>
                  </a:rPr>
                  <a:t>many parameters</a:t>
                </a:r>
                <a:r>
                  <a:rPr lang="en-US" dirty="0"/>
                  <a:t>, </a:t>
                </a:r>
                <a:r>
                  <a:rPr lang="en-US" dirty="0">
                    <a:solidFill>
                      <a:srgbClr val="FF0000"/>
                    </a:solidFill>
                  </a:rPr>
                  <a:t>not</a:t>
                </a:r>
                <a:r>
                  <a:rPr lang="en-US" dirty="0"/>
                  <a:t> </a:t>
                </a:r>
                <a:r>
                  <a:rPr lang="en-US" dirty="0">
                    <a:solidFill>
                      <a:srgbClr val="FF0000"/>
                    </a:solidFill>
                  </a:rPr>
                  <a:t>knowing</a:t>
                </a:r>
                <a:r>
                  <a:rPr lang="en-US" dirty="0"/>
                  <a:t> which are </a:t>
                </a:r>
                <a:r>
                  <a:rPr lang="en-US" dirty="0">
                    <a:solidFill>
                      <a:srgbClr val="FF0000"/>
                    </a:solidFill>
                  </a:rPr>
                  <a:t>relevant</a:t>
                </a:r>
                <a:r>
                  <a:rPr lang="en-US" dirty="0"/>
                  <a:t> to the</a:t>
                </a:r>
                <a:r>
                  <a:rPr lang="he-IL" dirty="0"/>
                  <a:t> </a:t>
                </a:r>
                <a:r>
                  <a:rPr lang="en-US" dirty="0"/>
                  <a:t>phenomenon of interest</a:t>
                </a:r>
              </a:p>
              <a:p>
                <a:pPr algn="l" rtl="0">
                  <a:spcBef>
                    <a:spcPts val="900"/>
                  </a:spcBef>
                  <a:spcAft>
                    <a:spcPts val="900"/>
                  </a:spcAft>
                </a:pPr>
                <a:r>
                  <a:rPr lang="en-US" sz="2800" dirty="0"/>
                  <a:t>Inherent high-dimensionality: media content</a:t>
                </a:r>
              </a:p>
              <a:p>
                <a:pPr algn="l" rtl="0">
                  <a:spcBef>
                    <a:spcPts val="900"/>
                  </a:spcBef>
                  <a:spcAft>
                    <a:spcPts val="900"/>
                  </a:spcAft>
                </a:pPr>
                <a:endParaRPr lang="en-US" sz="2800" dirty="0">
                  <a:solidFill>
                    <a:srgbClr val="FF0000"/>
                  </a:solidFill>
                </a:endParaRPr>
              </a:p>
              <a:p>
                <a:pPr lvl="1" algn="l" rtl="0">
                  <a:spcBef>
                    <a:spcPts val="900"/>
                  </a:spcBef>
                  <a:spcAft>
                    <a:spcPts val="900"/>
                  </a:spcAft>
                </a:pP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12776"/>
                <a:ext cx="8229600" cy="4752528"/>
              </a:xfrm>
              <a:blipFill rotWithShape="1">
                <a:blip r:embed="rId2"/>
                <a:stretch>
                  <a:fillRect l="-1259" t="-1155"/>
                </a:stretch>
              </a:blipFill>
            </p:spPr>
            <p:txBody>
              <a:bodyPr/>
              <a:lstStyle/>
              <a:p>
                <a:r>
                  <a:rPr lang="he-IL">
                    <a:noFill/>
                  </a:rPr>
                  <a:t> </a:t>
                </a:r>
              </a:p>
            </p:txBody>
          </p:sp>
        </mc:Fallback>
      </mc:AlternateContent>
      <p:sp>
        <p:nvSpPr>
          <p:cNvPr id="5" name="TextBox 4"/>
          <p:cNvSpPr txBox="1"/>
          <p:nvPr/>
        </p:nvSpPr>
        <p:spPr>
          <a:xfrm>
            <a:off x="539552" y="5138028"/>
            <a:ext cx="8064896"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1">
            <a:spAutoFit/>
          </a:bodyPr>
          <a:lstStyle/>
          <a:p>
            <a:pPr algn="ctr" rtl="0"/>
            <a:r>
              <a:rPr lang="en-US" sz="2800" dirty="0"/>
              <a:t>Inference in this setting: needle in a hay stack</a:t>
            </a:r>
            <a:endParaRPr lang="he-IL" sz="2800" dirty="0"/>
          </a:p>
        </p:txBody>
      </p:sp>
    </p:spTree>
    <p:extLst>
      <p:ext uri="{BB962C8B-B14F-4D97-AF65-F5344CB8AC3E}">
        <p14:creationId xmlns:p14="http://schemas.microsoft.com/office/powerpoint/2010/main" val="230841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endParaRPr lang="he-IL" dirty="0"/>
          </a:p>
        </p:txBody>
      </p:sp>
      <p:sp>
        <p:nvSpPr>
          <p:cNvPr id="3" name="Content Placeholder 2"/>
          <p:cNvSpPr>
            <a:spLocks noGrp="1"/>
          </p:cNvSpPr>
          <p:nvPr>
            <p:ph idx="1"/>
          </p:nvPr>
        </p:nvSpPr>
        <p:spPr/>
        <p:txBody>
          <a:bodyPr>
            <a:normAutofit/>
          </a:bodyPr>
          <a:lstStyle/>
          <a:p>
            <a:pPr marL="457200" indent="-457200" algn="l" rtl="0">
              <a:spcAft>
                <a:spcPts val="600"/>
              </a:spcAft>
            </a:pPr>
            <a:r>
              <a:rPr lang="en-US" sz="2800" dirty="0">
                <a:solidFill>
                  <a:srgbClr val="0070C0"/>
                </a:solidFill>
              </a:rPr>
              <a:t>Biological Data: </a:t>
            </a:r>
            <a:r>
              <a:rPr lang="en-US" sz="2800" dirty="0"/>
              <a:t>many genes few patients</a:t>
            </a:r>
          </a:p>
          <a:p>
            <a:pPr marL="457200" indent="-457200" algn="l" rtl="0">
              <a:spcAft>
                <a:spcPts val="600"/>
              </a:spcAft>
            </a:pPr>
            <a:r>
              <a:rPr lang="en-US" sz="2800" dirty="0">
                <a:solidFill>
                  <a:srgbClr val="0070C0"/>
                </a:solidFill>
              </a:rPr>
              <a:t>MRI:</a:t>
            </a:r>
            <a:r>
              <a:rPr lang="en-US" sz="2800" dirty="0"/>
              <a:t> many brain voxels few Hemodynamic response measurements </a:t>
            </a:r>
          </a:p>
          <a:p>
            <a:pPr marL="457200" indent="-457200" algn="l" rtl="0">
              <a:spcAft>
                <a:spcPts val="600"/>
              </a:spcAft>
            </a:pPr>
            <a:endParaRPr lang="en-US" sz="2800" dirty="0"/>
          </a:p>
          <a:p>
            <a:endParaRPr lang="he-IL" sz="2800" dirty="0"/>
          </a:p>
        </p:txBody>
      </p:sp>
      <p:pic>
        <p:nvPicPr>
          <p:cNvPr id="90114" name="Picture 2" descr="http://blogs.scientificamerican.com/observations/files/2012/06/800px-_fMRI_working_memory-269x3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3523828"/>
            <a:ext cx="1981120" cy="220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099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US" dirty="0"/>
              <a:t>The Curse of Dimensionality</a:t>
            </a:r>
            <a:endParaRPr lang="he-IL" dirty="0"/>
          </a:p>
        </p:txBody>
      </p:sp>
      <p:sp>
        <p:nvSpPr>
          <p:cNvPr id="3" name="Content Placeholder 2"/>
          <p:cNvSpPr>
            <a:spLocks noGrp="1"/>
          </p:cNvSpPr>
          <p:nvPr>
            <p:ph idx="1"/>
          </p:nvPr>
        </p:nvSpPr>
        <p:spPr>
          <a:xfrm>
            <a:off x="457200" y="1196752"/>
            <a:ext cx="8435280" cy="1684784"/>
          </a:xfrm>
        </p:spPr>
        <p:txBody>
          <a:bodyPr>
            <a:normAutofit/>
          </a:bodyPr>
          <a:lstStyle/>
          <a:p>
            <a:pPr algn="l" rtl="0">
              <a:spcAft>
                <a:spcPts val="600"/>
              </a:spcAft>
            </a:pPr>
            <a:r>
              <a:rPr lang="en-US" sz="2800" dirty="0"/>
              <a:t>Inference with </a:t>
            </a:r>
            <a:r>
              <a:rPr lang="en-US" sz="2800" dirty="0">
                <a:solidFill>
                  <a:srgbClr val="FF0000"/>
                </a:solidFill>
              </a:rPr>
              <a:t>limited samples </a:t>
            </a:r>
            <a:r>
              <a:rPr lang="en-US" sz="2800" dirty="0"/>
              <a:t>for very </a:t>
            </a:r>
            <a:r>
              <a:rPr lang="en-US" sz="2800" dirty="0">
                <a:solidFill>
                  <a:srgbClr val="FF0000"/>
                </a:solidFill>
              </a:rPr>
              <a:t>high-dimensional </a:t>
            </a:r>
            <a:r>
              <a:rPr lang="en-US" sz="2800" dirty="0"/>
              <a:t>data</a:t>
            </a:r>
          </a:p>
          <a:p>
            <a:pPr lvl="1" algn="l" rtl="0">
              <a:spcAft>
                <a:spcPts val="600"/>
              </a:spcAft>
            </a:pPr>
            <a:r>
              <a:rPr lang="en-US" sz="2600" dirty="0"/>
              <a:t>Most statistical tools break at this setting</a:t>
            </a:r>
            <a:endParaRPr lang="en-US" sz="2600" b="0" dirty="0"/>
          </a:p>
        </p:txBody>
      </p:sp>
      <p:sp>
        <p:nvSpPr>
          <p:cNvPr id="4" name="TextBox 3"/>
          <p:cNvSpPr txBox="1"/>
          <p:nvPr/>
        </p:nvSpPr>
        <p:spPr>
          <a:xfrm>
            <a:off x="467544" y="4149511"/>
            <a:ext cx="8568952" cy="3023905"/>
          </a:xfrm>
          <a:prstGeom prst="rect">
            <a:avLst/>
          </a:prstGeom>
          <a:noFill/>
        </p:spPr>
        <p:txBody>
          <a:bodyPr wrap="square" rtlCol="1">
            <a:spAutoFit/>
          </a:bodyPr>
          <a:lstStyle/>
          <a:p>
            <a:pPr algn="l" rtl="0">
              <a:spcBef>
                <a:spcPts val="300"/>
              </a:spcBef>
              <a:spcAft>
                <a:spcPts val="600"/>
              </a:spcAft>
            </a:pPr>
            <a:r>
              <a:rPr lang="en-US" sz="2800" dirty="0">
                <a:solidFill>
                  <a:srgbClr val="FF0000"/>
                </a:solidFill>
              </a:rPr>
              <a:t>Real data </a:t>
            </a:r>
            <a:r>
              <a:rPr lang="en-US" sz="2800" dirty="0"/>
              <a:t>is highly concentrate on </a:t>
            </a:r>
            <a:r>
              <a:rPr lang="en-US" sz="2800" dirty="0">
                <a:solidFill>
                  <a:srgbClr val="FF0000"/>
                </a:solidFill>
              </a:rPr>
              <a:t>low-dimensional</a:t>
            </a:r>
            <a:r>
              <a:rPr lang="en-US" sz="2800" dirty="0"/>
              <a:t> structure in the high-dimensional space</a:t>
            </a:r>
          </a:p>
          <a:p>
            <a:pPr marL="457200" indent="-457200" algn="l" rtl="0">
              <a:spcBef>
                <a:spcPts val="300"/>
              </a:spcBef>
              <a:spcAft>
                <a:spcPts val="600"/>
              </a:spcAft>
              <a:buFont typeface="Arial" panose="020B0604020202020204" pitchFamily="34" charset="0"/>
              <a:buChar char="•"/>
            </a:pPr>
            <a:r>
              <a:rPr lang="en-US" sz="2600" dirty="0"/>
              <a:t>Few variables explain the observed phenomena</a:t>
            </a:r>
          </a:p>
          <a:p>
            <a:pPr marL="457200" indent="-457200" algn="l" rtl="0">
              <a:spcBef>
                <a:spcPts val="300"/>
              </a:spcBef>
              <a:spcAft>
                <a:spcPts val="600"/>
              </a:spcAft>
              <a:buFont typeface="Arial" panose="020B0604020202020204" pitchFamily="34" charset="0"/>
              <a:buChar char="•"/>
            </a:pPr>
            <a:r>
              <a:rPr lang="en-US" sz="2600" dirty="0"/>
              <a:t>But nothing is free: </a:t>
            </a:r>
            <a:r>
              <a:rPr lang="en-US" sz="2600" dirty="0">
                <a:solidFill>
                  <a:srgbClr val="0070C0"/>
                </a:solidFill>
              </a:rPr>
              <a:t>irrelevant measurements </a:t>
            </a:r>
            <a:r>
              <a:rPr lang="en-US" sz="2600" dirty="0"/>
              <a:t>are ubiquitous in massive cheap data</a:t>
            </a:r>
          </a:p>
          <a:p>
            <a:pPr>
              <a:spcBef>
                <a:spcPts val="300"/>
              </a:spcBef>
            </a:pPr>
            <a:endParaRPr lang="he-IL" sz="2800" dirty="0"/>
          </a:p>
        </p:txBody>
      </p:sp>
      <p:grpSp>
        <p:nvGrpSpPr>
          <p:cNvPr id="6" name="Group 5"/>
          <p:cNvGrpSpPr/>
          <p:nvPr/>
        </p:nvGrpSpPr>
        <p:grpSpPr>
          <a:xfrm>
            <a:off x="360671" y="2833772"/>
            <a:ext cx="8315785" cy="955268"/>
            <a:chOff x="631" y="2654470"/>
            <a:chExt cx="8315785" cy="955268"/>
          </a:xfrm>
        </p:grpSpPr>
        <p:pic>
          <p:nvPicPr>
            <p:cNvPr id="8" name="Picture 2" descr="C:\Users\Danny\Desktop\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0272" y="2672028"/>
              <a:ext cx="1296144" cy="57056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C:\Users\Danny\Desktop\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1" y="2654470"/>
              <a:ext cx="1331009" cy="63504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1331640" y="3086518"/>
              <a:ext cx="5688632" cy="523220"/>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pPr algn="ctr"/>
              <a:r>
                <a:rPr lang="en-US" sz="2800" dirty="0"/>
                <a:t>The blessing of dimensionality</a:t>
              </a:r>
            </a:p>
          </p:txBody>
        </p:sp>
      </p:grpSp>
    </p:spTree>
    <p:extLst>
      <p:ext uri="{BB962C8B-B14F-4D97-AF65-F5344CB8AC3E}">
        <p14:creationId xmlns:p14="http://schemas.microsoft.com/office/powerpoint/2010/main" val="214489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10648"/>
            <a:ext cx="9036496" cy="4062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51520" y="4258250"/>
            <a:ext cx="8748464" cy="2339102"/>
          </a:xfrm>
          <a:prstGeom prst="rect">
            <a:avLst/>
          </a:prstGeom>
        </p:spPr>
        <p:txBody>
          <a:bodyPr wrap="square">
            <a:spAutoFit/>
          </a:bodyPr>
          <a:lstStyle/>
          <a:p>
            <a:pPr marL="457200" indent="-457200" algn="l" rtl="0">
              <a:spcBef>
                <a:spcPts val="300"/>
              </a:spcBef>
              <a:spcAft>
                <a:spcPts val="300"/>
              </a:spcAft>
              <a:buFont typeface="Arial" panose="020B0604020202020204" pitchFamily="34" charset="0"/>
              <a:buChar char="•"/>
            </a:pPr>
            <a:r>
              <a:rPr lang="en-US" sz="2800" dirty="0"/>
              <a:t>DCT viewed analytically as rotations of coordinate axes </a:t>
            </a:r>
          </a:p>
          <a:p>
            <a:pPr marL="457200" indent="-457200" algn="l" rtl="0">
              <a:spcBef>
                <a:spcPts val="300"/>
              </a:spcBef>
              <a:spcAft>
                <a:spcPts val="300"/>
              </a:spcAft>
              <a:buFont typeface="Arial" panose="020B0604020202020204" pitchFamily="34" charset="0"/>
              <a:buChar char="•"/>
            </a:pPr>
            <a:r>
              <a:rPr lang="en-US" sz="2800" dirty="0"/>
              <a:t>DCT of media content often has </a:t>
            </a:r>
            <a:r>
              <a:rPr lang="en-US" sz="2800" dirty="0">
                <a:solidFill>
                  <a:srgbClr val="0070C0"/>
                </a:solidFill>
              </a:rPr>
              <a:t>several large</a:t>
            </a:r>
            <a:r>
              <a:rPr lang="en-US" sz="2800" dirty="0"/>
              <a:t> transform coefficients and the rest are </a:t>
            </a:r>
            <a:r>
              <a:rPr lang="en-US" sz="2800" dirty="0">
                <a:solidFill>
                  <a:srgbClr val="FF0000"/>
                </a:solidFill>
              </a:rPr>
              <a:t>small</a:t>
            </a:r>
          </a:p>
          <a:p>
            <a:pPr marL="914400" lvl="1" indent="-457200" algn="l" rtl="0">
              <a:spcBef>
                <a:spcPts val="300"/>
              </a:spcBef>
              <a:spcAft>
                <a:spcPts val="300"/>
              </a:spcAft>
              <a:buFont typeface="Wingdings" panose="05000000000000000000" pitchFamily="2" charset="2"/>
              <a:buChar char="ü"/>
            </a:pPr>
            <a:r>
              <a:rPr lang="en-US" sz="2600" dirty="0"/>
              <a:t>Rich </a:t>
            </a:r>
            <a:r>
              <a:rPr lang="en-US" sz="2600" b="1" dirty="0"/>
              <a:t>local</a:t>
            </a:r>
            <a:r>
              <a:rPr lang="en-US" sz="2600" b="1" i="1" dirty="0"/>
              <a:t> </a:t>
            </a:r>
            <a:r>
              <a:rPr lang="en-US" sz="2600" dirty="0"/>
              <a:t>regularities, </a:t>
            </a:r>
            <a:r>
              <a:rPr lang="en-US" sz="2600" b="1" dirty="0"/>
              <a:t>global</a:t>
            </a:r>
            <a:r>
              <a:rPr lang="en-US" sz="2600" b="1" i="1" dirty="0"/>
              <a:t> </a:t>
            </a:r>
            <a:r>
              <a:rPr lang="en-US" sz="2600" dirty="0"/>
              <a:t>symmetries, </a:t>
            </a:r>
            <a:r>
              <a:rPr lang="en-US" sz="2600" b="1" dirty="0"/>
              <a:t>repetitive</a:t>
            </a:r>
            <a:r>
              <a:rPr lang="en-US" sz="2600" b="1" i="1" dirty="0"/>
              <a:t> </a:t>
            </a:r>
            <a:r>
              <a:rPr lang="en-US" sz="2600" dirty="0"/>
              <a:t>patterns</a:t>
            </a:r>
            <a:endParaRPr lang="he-IL" sz="2600" dirty="0"/>
          </a:p>
        </p:txBody>
      </p:sp>
      <p:sp>
        <p:nvSpPr>
          <p:cNvPr id="2" name="Rectangle 1"/>
          <p:cNvSpPr/>
          <p:nvPr/>
        </p:nvSpPr>
        <p:spPr>
          <a:xfrm>
            <a:off x="683568" y="2852936"/>
            <a:ext cx="2232248" cy="720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130521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1143000"/>
          </a:xfrm>
        </p:spPr>
        <p:txBody>
          <a:bodyPr/>
          <a:lstStyle/>
          <a:p>
            <a:pPr rtl="0"/>
            <a:r>
              <a:rPr lang="en-US" dirty="0"/>
              <a:t>The Computational Lens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495325"/>
                <a:ext cx="8507288" cy="4525963"/>
              </a:xfrm>
            </p:spPr>
            <p:txBody>
              <a:bodyPr>
                <a:noAutofit/>
              </a:bodyPr>
              <a:lstStyle/>
              <a:p>
                <a:pPr algn="l" rtl="0">
                  <a:spcAft>
                    <a:spcPts val="600"/>
                  </a:spcAft>
                </a:pPr>
                <a:r>
                  <a:rPr lang="en-US" sz="2800" dirty="0"/>
                  <a:t>Algorithms: </a:t>
                </a:r>
                <a:r>
                  <a:rPr lang="en-US" sz="2800" dirty="0">
                    <a:solidFill>
                      <a:srgbClr val="FF0000"/>
                    </a:solidFill>
                  </a:rPr>
                  <a:t>large scale </a:t>
                </a:r>
                <a:r>
                  <a:rPr lang="en-US" sz="2800" dirty="0"/>
                  <a:t>convex optimization</a:t>
                </a:r>
              </a:p>
              <a:p>
                <a:pPr algn="l" rtl="0">
                  <a:spcAft>
                    <a:spcPts val="600"/>
                  </a:spcAft>
                </a:pPr>
                <a:r>
                  <a:rPr lang="en-US" sz="2800" dirty="0"/>
                  <a:t>Complexity grows with the problem-size/dimension</a:t>
                </a:r>
              </a:p>
              <a:p>
                <a:pPr algn="l" rtl="0">
                  <a:spcAft>
                    <a:spcPts val="600"/>
                  </a:spcAft>
                </a:pPr>
                <a:r>
                  <a:rPr lang="en-US" sz="2800" dirty="0"/>
                  <a:t>Big difference between running time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a:rPr>
                          <m:t>𝑝</m:t>
                        </m:r>
                      </m:e>
                      <m:sup>
                        <m:r>
                          <a:rPr lang="en-US" sz="2800" b="0" i="1" smtClean="0">
                            <a:latin typeface="Cambria Math"/>
                          </a:rPr>
                          <m:t>2</m:t>
                        </m:r>
                      </m:sup>
                    </m:sSup>
                  </m:oMath>
                </a14:m>
                <a:r>
                  <a:rPr lang="en-US" sz="2800" dirty="0"/>
                  <a:t> and </a:t>
                </a:r>
                <a14:m>
                  <m:oMath xmlns:m="http://schemas.openxmlformats.org/officeDocument/2006/math">
                    <m:sSup>
                      <m:sSupPr>
                        <m:ctrlPr>
                          <a:rPr lang="en-US" sz="2800" i="1">
                            <a:latin typeface="Cambria Math" panose="02040503050406030204" pitchFamily="18" charset="0"/>
                          </a:rPr>
                        </m:ctrlPr>
                      </m:sSupPr>
                      <m:e>
                        <m:r>
                          <a:rPr lang="en-US" sz="2800" b="0" i="1" smtClean="0">
                            <a:latin typeface="Cambria Math"/>
                          </a:rPr>
                          <m:t> 2</m:t>
                        </m:r>
                      </m:e>
                      <m:sup>
                        <m:r>
                          <a:rPr lang="en-US" sz="2800" b="0" i="1" smtClean="0">
                            <a:latin typeface="Cambria Math"/>
                          </a:rPr>
                          <m:t>𝑝</m:t>
                        </m:r>
                      </m:sup>
                    </m:sSup>
                  </m:oMath>
                </a14:m>
                <a:endParaRPr lang="en-US" sz="2800" dirty="0"/>
              </a:p>
              <a:p>
                <a:pPr algn="l" rtl="0">
                  <a:spcAft>
                    <a:spcPts val="600"/>
                  </a:spcAft>
                </a:pPr>
                <a:r>
                  <a:rPr lang="en-US" sz="2800" dirty="0">
                    <a:solidFill>
                      <a:srgbClr val="00B050"/>
                    </a:solidFill>
                  </a:rPr>
                  <a:t>Average case complexity</a:t>
                </a:r>
              </a:p>
              <a:p>
                <a:pPr lvl="1" algn="l" rtl="0">
                  <a:spcAft>
                    <a:spcPts val="600"/>
                  </a:spcAft>
                </a:pPr>
                <a:r>
                  <a:rPr lang="en-US" dirty="0"/>
                  <a:t>We want a guarantee for </a:t>
                </a:r>
                <a:r>
                  <a:rPr lang="en-US" dirty="0">
                    <a:solidFill>
                      <a:srgbClr val="FF0000"/>
                    </a:solidFill>
                  </a:rPr>
                  <a:t>99%</a:t>
                </a:r>
                <a:r>
                  <a:rPr lang="en-US" dirty="0"/>
                  <a:t> of the inputs</a:t>
                </a:r>
              </a:p>
              <a:p>
                <a:pPr lvl="1" algn="l" rtl="0">
                  <a:spcAft>
                    <a:spcPts val="600"/>
                  </a:spcAft>
                </a:pPr>
                <a:r>
                  <a:rPr lang="en-US" dirty="0"/>
                  <a:t>Assume that the inputs are sampled from some distribution</a:t>
                </a:r>
              </a:p>
              <a:p>
                <a:pPr algn="l" rtl="0">
                  <a:spcAft>
                    <a:spcPts val="600"/>
                  </a:spcAft>
                </a:pPr>
                <a:endParaRPr lang="en-US" sz="2800" dirty="0"/>
              </a:p>
              <a:p>
                <a:pPr algn="l" rtl="0">
                  <a:spcAft>
                    <a:spcPts val="600"/>
                  </a:spcAft>
                </a:pPr>
                <a:endParaRPr lang="he-IL"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495325"/>
                <a:ext cx="8507288" cy="4525963"/>
              </a:xfrm>
              <a:blipFill rotWithShape="1">
                <a:blip r:embed="rId2"/>
                <a:stretch>
                  <a:fillRect l="-1290" t="-1211"/>
                </a:stretch>
              </a:blipFill>
            </p:spPr>
            <p:txBody>
              <a:bodyPr/>
              <a:lstStyle/>
              <a:p>
                <a:r>
                  <a:rPr lang="he-IL">
                    <a:noFill/>
                  </a:rPr>
                  <a:t> </a:t>
                </a:r>
              </a:p>
            </p:txBody>
          </p:sp>
        </mc:Fallback>
      </mc:AlternateContent>
    </p:spTree>
    <p:extLst>
      <p:ext uri="{BB962C8B-B14F-4D97-AF65-F5344CB8AC3E}">
        <p14:creationId xmlns:p14="http://schemas.microsoft.com/office/powerpoint/2010/main" val="402052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algn="l" rtl="0">
              <a:spcAft>
                <a:spcPts val="600"/>
              </a:spcAft>
            </a:pPr>
            <a:r>
              <a:rPr lang="en-US" dirty="0"/>
              <a:t>Discuss </a:t>
            </a:r>
            <a:r>
              <a:rPr lang="en-US" dirty="0">
                <a:solidFill>
                  <a:srgbClr val="FF0000"/>
                </a:solidFill>
              </a:rPr>
              <a:t>Principal Component Analysis</a:t>
            </a:r>
            <a:r>
              <a:rPr lang="en-US" dirty="0"/>
              <a:t> in the high-dimensional setting</a:t>
            </a:r>
          </a:p>
          <a:p>
            <a:pPr algn="l" rtl="0">
              <a:spcAft>
                <a:spcPts val="600"/>
              </a:spcAft>
            </a:pPr>
            <a:r>
              <a:rPr lang="en-US" dirty="0"/>
              <a:t>Discuss </a:t>
            </a:r>
            <a:r>
              <a:rPr lang="en-US" dirty="0">
                <a:solidFill>
                  <a:srgbClr val="FF0000"/>
                </a:solidFill>
              </a:rPr>
              <a:t>algorithmic</a:t>
            </a:r>
            <a:r>
              <a:rPr lang="en-US" dirty="0"/>
              <a:t> approaches to solve PCA</a:t>
            </a:r>
          </a:p>
          <a:p>
            <a:pPr lvl="1" algn="l" rtl="0">
              <a:spcAft>
                <a:spcPts val="600"/>
              </a:spcAft>
            </a:pPr>
            <a:r>
              <a:rPr lang="en-US" dirty="0"/>
              <a:t>Information theoretical bounds</a:t>
            </a:r>
          </a:p>
          <a:p>
            <a:pPr lvl="1" algn="l" rtl="0">
              <a:spcAft>
                <a:spcPts val="600"/>
              </a:spcAft>
            </a:pPr>
            <a:r>
              <a:rPr lang="en-US" dirty="0"/>
              <a:t>Efficiency</a:t>
            </a:r>
          </a:p>
          <a:p>
            <a:pPr lvl="1" algn="l" rtl="0">
              <a:spcAft>
                <a:spcPts val="600"/>
              </a:spcAft>
            </a:pPr>
            <a:r>
              <a:rPr lang="en-US" dirty="0" err="1"/>
              <a:t>Sparisity</a:t>
            </a:r>
            <a:r>
              <a:rPr lang="en-US" dirty="0"/>
              <a:t> assumptions</a:t>
            </a:r>
          </a:p>
          <a:p>
            <a:pPr marL="457200" lvl="1" indent="0" algn="l" rtl="0">
              <a:spcAft>
                <a:spcPts val="600"/>
              </a:spcAft>
              <a:buNone/>
            </a:pPr>
            <a:endParaRPr lang="en-US" dirty="0"/>
          </a:p>
        </p:txBody>
      </p:sp>
    </p:spTree>
    <p:extLst>
      <p:ext uri="{BB962C8B-B14F-4D97-AF65-F5344CB8AC3E}">
        <p14:creationId xmlns:p14="http://schemas.microsoft.com/office/powerpoint/2010/main" val="94993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Principal Component Analysis (PCA)</a:t>
            </a:r>
            <a:endParaRPr lang="he-IL" dirty="0"/>
          </a:p>
        </p:txBody>
      </p:sp>
      <p:sp>
        <p:nvSpPr>
          <p:cNvPr id="3" name="Content Placeholder 2"/>
          <p:cNvSpPr>
            <a:spLocks noGrp="1"/>
          </p:cNvSpPr>
          <p:nvPr>
            <p:ph idx="1"/>
          </p:nvPr>
        </p:nvSpPr>
        <p:spPr>
          <a:xfrm>
            <a:off x="539552" y="1628800"/>
            <a:ext cx="8208912" cy="5573216"/>
          </a:xfrm>
        </p:spPr>
        <p:txBody>
          <a:bodyPr>
            <a:normAutofit/>
          </a:bodyPr>
          <a:lstStyle/>
          <a:p>
            <a:pPr marL="0" indent="0" algn="l" rtl="0">
              <a:buNone/>
            </a:pPr>
            <a:r>
              <a:rPr lang="en-US" sz="2800" dirty="0"/>
              <a:t>In PCA we find the directions in which the </a:t>
            </a:r>
            <a:r>
              <a:rPr lang="en-US" sz="2800" dirty="0">
                <a:solidFill>
                  <a:srgbClr val="FF0000"/>
                </a:solidFill>
              </a:rPr>
              <a:t>variance</a:t>
            </a:r>
            <a:r>
              <a:rPr lang="en-US" sz="2800" dirty="0"/>
              <a:t> is </a:t>
            </a:r>
            <a:r>
              <a:rPr lang="en-US" sz="2800" dirty="0">
                <a:solidFill>
                  <a:srgbClr val="FF0000"/>
                </a:solidFill>
              </a:rPr>
              <a:t>maximal</a:t>
            </a:r>
          </a:p>
        </p:txBody>
      </p:sp>
      <p:sp>
        <p:nvSpPr>
          <p:cNvPr id="7" name="Rectangle 6"/>
          <p:cNvSpPr/>
          <p:nvPr/>
        </p:nvSpPr>
        <p:spPr>
          <a:xfrm>
            <a:off x="539552" y="6021288"/>
            <a:ext cx="8064896" cy="523220"/>
          </a:xfrm>
          <a:prstGeom prst="rect">
            <a:avLst/>
          </a:prstGeom>
        </p:spPr>
        <p:txBody>
          <a:bodyPr wrap="square">
            <a:spAutoFit/>
          </a:bodyPr>
          <a:lstStyle/>
          <a:p>
            <a:pPr algn="ctr" rtl="0"/>
            <a:r>
              <a:rPr lang="en-US" sz="2800" dirty="0"/>
              <a:t>Projecting may </a:t>
            </a:r>
            <a:r>
              <a:rPr lang="en-US" sz="2800" dirty="0">
                <a:solidFill>
                  <a:srgbClr val="FF0000"/>
                </a:solidFill>
              </a:rPr>
              <a:t>reduce dimensionality </a:t>
            </a:r>
            <a:r>
              <a:rPr lang="en-US" sz="2800" dirty="0"/>
              <a:t>of data</a:t>
            </a:r>
          </a:p>
        </p:txBody>
      </p:sp>
      <p:pic>
        <p:nvPicPr>
          <p:cNvPr id="6" name="Picture 2" descr="C:\Users\Danny\Desktop\pc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16" y="2708920"/>
            <a:ext cx="8856984" cy="3109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082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Types of Lung Cancer</a:t>
            </a:r>
          </a:p>
        </p:txBody>
      </p:sp>
      <p:pic>
        <p:nvPicPr>
          <p:cNvPr id="890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1412776"/>
            <a:ext cx="3600400" cy="317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23528" y="4994012"/>
            <a:ext cx="8640960" cy="523220"/>
          </a:xfrm>
          <a:prstGeom prst="rect">
            <a:avLst/>
          </a:prstGeom>
          <a:noFill/>
        </p:spPr>
        <p:txBody>
          <a:bodyPr wrap="square" rtlCol="0">
            <a:spAutoFit/>
          </a:bodyPr>
          <a:lstStyle/>
          <a:p>
            <a:pPr algn="l" rtl="0"/>
            <a:r>
              <a:rPr lang="en-US" sz="2800" dirty="0"/>
              <a:t>Data set contains 56 lung cancer patients with 2530 genes</a:t>
            </a:r>
          </a:p>
        </p:txBody>
      </p:sp>
    </p:spTree>
    <p:extLst>
      <p:ext uri="{BB962C8B-B14F-4D97-AF65-F5344CB8AC3E}">
        <p14:creationId xmlns:p14="http://schemas.microsoft.com/office/powerpoint/2010/main" val="3840821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PCA – Formal Description</a:t>
            </a:r>
            <a:endParaRPr lang="he-IL" dirty="0"/>
          </a:p>
        </p:txBody>
      </p:sp>
      <p:sp>
        <p:nvSpPr>
          <p:cNvPr id="3" name="Content Placeholder 2"/>
          <p:cNvSpPr>
            <a:spLocks noGrp="1"/>
          </p:cNvSpPr>
          <p:nvPr>
            <p:ph idx="1"/>
          </p:nvPr>
        </p:nvSpPr>
        <p:spPr>
          <a:xfrm>
            <a:off x="313510" y="1520788"/>
            <a:ext cx="8507288" cy="5688632"/>
          </a:xfrm>
        </p:spPr>
        <p:txBody>
          <a:bodyPr>
            <a:normAutofit/>
          </a:bodyPr>
          <a:lstStyle/>
          <a:p>
            <a:pPr marL="0" lvl="1" indent="0" algn="l" rtl="0">
              <a:buNone/>
            </a:pPr>
            <a:r>
              <a:rPr lang="en-US" dirty="0"/>
              <a:t>The first </a:t>
            </a:r>
            <a:r>
              <a:rPr lang="en-US" dirty="0">
                <a:solidFill>
                  <a:srgbClr val="FF0000"/>
                </a:solidFill>
              </a:rPr>
              <a:t>principal component </a:t>
            </a:r>
            <a:r>
              <a:rPr lang="en-US" dirty="0"/>
              <a:t>(PC) of </a:t>
            </a:r>
            <a:r>
              <a:rPr lang="en-US" b="1" dirty="0">
                <a:latin typeface="cmmi10" panose="020B0500000000000000" pitchFamily="34" charset="0"/>
              </a:rPr>
              <a:t>x</a:t>
            </a:r>
            <a:r>
              <a:rPr lang="en-US" dirty="0"/>
              <a:t> is the </a:t>
            </a:r>
            <a:r>
              <a:rPr lang="en-US" dirty="0">
                <a:solidFill>
                  <a:srgbClr val="FF0000"/>
                </a:solidFill>
              </a:rPr>
              <a:t>direction</a:t>
            </a:r>
            <a:r>
              <a:rPr lang="en-US" dirty="0"/>
              <a:t> </a:t>
            </a:r>
            <a:r>
              <a:rPr lang="en-US" b="1" dirty="0">
                <a:latin typeface="cmmi10" pitchFamily="34" charset="0"/>
              </a:rPr>
              <a:t>a</a:t>
            </a:r>
            <a:r>
              <a:rPr lang="en-US" b="1" baseline="-25000" dirty="0">
                <a:latin typeface="cmr10" pitchFamily="34" charset="0"/>
              </a:rPr>
              <a:t>1</a:t>
            </a:r>
            <a:r>
              <a:rPr lang="en-US" dirty="0"/>
              <a:t> in which </a:t>
            </a:r>
            <a:r>
              <a:rPr lang="en-US" dirty="0">
                <a:solidFill>
                  <a:srgbClr val="FF0000"/>
                </a:solidFill>
              </a:rPr>
              <a:t>variance is maximal</a:t>
            </a:r>
          </a:p>
          <a:p>
            <a:pPr marL="457200" lvl="1" indent="0" algn="l" rtl="0">
              <a:buNone/>
            </a:pPr>
            <a:endParaRPr lang="en-US" sz="2600" dirty="0"/>
          </a:p>
          <a:p>
            <a:pPr marL="457200" lvl="1" indent="0" algn="l" rtl="0">
              <a:buNone/>
            </a:pPr>
            <a:r>
              <a:rPr lang="en-US" dirty="0">
                <a:solidFill>
                  <a:srgbClr val="FF0000"/>
                </a:solidFill>
              </a:rPr>
              <a:t>second PC:</a:t>
            </a:r>
          </a:p>
          <a:p>
            <a:pPr lvl="1" algn="l" rtl="0"/>
            <a:endParaRPr lang="en-US" sz="2600" dirty="0"/>
          </a:p>
          <a:p>
            <a:pPr algn="l" rtl="0"/>
            <a:endParaRPr lang="en-US" sz="2800" dirty="0"/>
          </a:p>
        </p:txBody>
      </p:sp>
      <p:graphicFrame>
        <p:nvGraphicFramePr>
          <p:cNvPr id="4" name="Object 3"/>
          <p:cNvGraphicFramePr>
            <a:graphicFrameLocks noChangeAspect="1"/>
          </p:cNvGraphicFramePr>
          <p:nvPr>
            <p:extLst>
              <p:ext uri="{D42A27DB-BD31-4B8C-83A1-F6EECF244321}">
                <p14:modId xmlns:p14="http://schemas.microsoft.com/office/powerpoint/2010/main" val="3905138997"/>
              </p:ext>
            </p:extLst>
          </p:nvPr>
        </p:nvGraphicFramePr>
        <p:xfrm>
          <a:off x="3347864" y="2564904"/>
          <a:ext cx="3114675" cy="792163"/>
        </p:xfrm>
        <a:graphic>
          <a:graphicData uri="http://schemas.openxmlformats.org/presentationml/2006/ole">
            <mc:AlternateContent xmlns:mc="http://schemas.openxmlformats.org/markup-compatibility/2006">
              <mc:Choice xmlns:v="urn:schemas-microsoft-com:vml" Requires="v">
                <p:oleObj name="משוואה" r:id="rId2" imgW="1447560" imgH="368280" progId="Equation.3">
                  <p:embed/>
                </p:oleObj>
              </mc:Choice>
              <mc:Fallback>
                <p:oleObj name="משוואה" r:id="rId2" imgW="1447560" imgH="368280" progId="Equation.3">
                  <p:embed/>
                  <p:pic>
                    <p:nvPicPr>
                      <p:cNvPr id="4" name="Object 3"/>
                      <p:cNvPicPr/>
                      <p:nvPr/>
                    </p:nvPicPr>
                    <p:blipFill>
                      <a:blip r:embed="rId3"/>
                      <a:stretch>
                        <a:fillRect/>
                      </a:stretch>
                    </p:blipFill>
                    <p:spPr>
                      <a:xfrm>
                        <a:off x="3347864" y="2564904"/>
                        <a:ext cx="3114675" cy="792163"/>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757924234"/>
              </p:ext>
            </p:extLst>
          </p:nvPr>
        </p:nvGraphicFramePr>
        <p:xfrm>
          <a:off x="3332122" y="3501008"/>
          <a:ext cx="3760158" cy="825844"/>
        </p:xfrm>
        <a:graphic>
          <a:graphicData uri="http://schemas.openxmlformats.org/presentationml/2006/ole">
            <mc:AlternateContent xmlns:mc="http://schemas.openxmlformats.org/markup-compatibility/2006">
              <mc:Choice xmlns:v="urn:schemas-microsoft-com:vml" Requires="v">
                <p:oleObj name="משוואה" r:id="rId4" imgW="1676160" imgH="368280" progId="Equation.3">
                  <p:embed/>
                </p:oleObj>
              </mc:Choice>
              <mc:Fallback>
                <p:oleObj name="משוואה" r:id="rId4" imgW="1676160" imgH="368280" progId="Equation.3">
                  <p:embed/>
                  <p:pic>
                    <p:nvPicPr>
                      <p:cNvPr id="5" name="Object 4"/>
                      <p:cNvPicPr>
                        <a:picLocks noChangeAspect="1" noChangeArrowheads="1"/>
                      </p:cNvPicPr>
                      <p:nvPr/>
                    </p:nvPicPr>
                    <p:blipFill>
                      <a:blip r:embed="rId5"/>
                      <a:srcRect/>
                      <a:stretch>
                        <a:fillRect/>
                      </a:stretch>
                    </p:blipFill>
                    <p:spPr bwMode="auto">
                      <a:xfrm>
                        <a:off x="3332122" y="3501008"/>
                        <a:ext cx="3760158" cy="825844"/>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7" name="Content Placeholder 2"/>
              <p:cNvSpPr txBox="1">
                <a:spLocks/>
              </p:cNvSpPr>
              <p:nvPr/>
            </p:nvSpPr>
            <p:spPr>
              <a:xfrm>
                <a:off x="457852" y="4480520"/>
                <a:ext cx="8218604" cy="1612776"/>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l" rtl="0">
                  <a:buFont typeface="Arial" pitchFamily="34" charset="0"/>
                  <a:buNone/>
                </a:pPr>
                <a:r>
                  <a:rPr lang="en-US" sz="2600" dirty="0"/>
                  <a:t> The </a:t>
                </a:r>
                <a:r>
                  <a:rPr lang="en-US" sz="2600" dirty="0">
                    <a:solidFill>
                      <a:schemeClr val="accent6">
                        <a:lumMod val="50000"/>
                      </a:schemeClr>
                    </a:solidFill>
                  </a:rPr>
                  <a:t>population</a:t>
                </a:r>
                <a:r>
                  <a:rPr lang="en-US" sz="2600" dirty="0"/>
                  <a:t> </a:t>
                </a:r>
                <a:r>
                  <a:rPr lang="en-US" sz="2600" dirty="0">
                    <a:solidFill>
                      <a:schemeClr val="accent6">
                        <a:lumMod val="50000"/>
                      </a:schemeClr>
                    </a:solidFill>
                  </a:rPr>
                  <a:t>covariance matrix </a:t>
                </a:r>
                <a:r>
                  <a:rPr lang="en-US" sz="2600" dirty="0"/>
                  <a:t>of </a:t>
                </a:r>
                <a14:m>
                  <m:oMath xmlns:m="http://schemas.openxmlformats.org/officeDocument/2006/math">
                    <m:r>
                      <a:rPr lang="en-US" sz="2600" b="0" i="1" dirty="0" smtClean="0">
                        <a:latin typeface="Cambria Math"/>
                      </a:rPr>
                      <m:t>𝑥</m:t>
                    </m:r>
                    <m:r>
                      <a:rPr lang="en-US" sz="2600" b="0" i="1" dirty="0" smtClean="0">
                        <a:latin typeface="Cambria Math"/>
                      </a:rPr>
                      <m:t>=(</m:t>
                    </m:r>
                    <m:sSub>
                      <m:sSubPr>
                        <m:ctrlPr>
                          <a:rPr lang="en-US" sz="2600" b="0" i="1" dirty="0" smtClean="0">
                            <a:latin typeface="Cambria Math" panose="02040503050406030204" pitchFamily="18" charset="0"/>
                          </a:rPr>
                        </m:ctrlPr>
                      </m:sSubPr>
                      <m:e>
                        <m:r>
                          <a:rPr lang="en-US" sz="2600" b="0" i="1" dirty="0" smtClean="0">
                            <a:latin typeface="Cambria Math"/>
                          </a:rPr>
                          <m:t>𝑥</m:t>
                        </m:r>
                      </m:e>
                      <m:sub>
                        <m:r>
                          <a:rPr lang="en-US" sz="2600" b="0" i="1" dirty="0" smtClean="0">
                            <a:latin typeface="Cambria Math"/>
                          </a:rPr>
                          <m:t>1</m:t>
                        </m:r>
                      </m:sub>
                    </m:sSub>
                    <m:r>
                      <a:rPr lang="en-US" sz="2600" b="0" i="1" dirty="0" smtClean="0">
                        <a:latin typeface="Cambria Math"/>
                      </a:rPr>
                      <m:t>,…,</m:t>
                    </m:r>
                    <m:sSub>
                      <m:sSubPr>
                        <m:ctrlPr>
                          <a:rPr lang="en-US" sz="2600" b="0" i="1" dirty="0" smtClean="0">
                            <a:latin typeface="Cambria Math" panose="02040503050406030204" pitchFamily="18" charset="0"/>
                          </a:rPr>
                        </m:ctrlPr>
                      </m:sSubPr>
                      <m:e>
                        <m:r>
                          <a:rPr lang="en-US" sz="2600" b="0" i="1" dirty="0" smtClean="0">
                            <a:latin typeface="Cambria Math"/>
                          </a:rPr>
                          <m:t>𝑥</m:t>
                        </m:r>
                      </m:e>
                      <m:sub>
                        <m:r>
                          <a:rPr lang="en-US" sz="2600" b="0" i="1" dirty="0" smtClean="0">
                            <a:latin typeface="Cambria Math"/>
                          </a:rPr>
                          <m:t>𝑝</m:t>
                        </m:r>
                      </m:sub>
                    </m:sSub>
                    <m:r>
                      <a:rPr lang="en-US" sz="2600" b="0" i="1" dirty="0" smtClean="0">
                        <a:latin typeface="Cambria Math"/>
                      </a:rPr>
                      <m:t>)</m:t>
                    </m:r>
                  </m:oMath>
                </a14:m>
                <a:r>
                  <a:rPr lang="en-US" sz="2600" dirty="0">
                    <a:latin typeface="+mj-lt"/>
                  </a:rPr>
                  <a:t> is</a:t>
                </a:r>
              </a:p>
              <a:p>
                <a:pPr marL="0" indent="0" algn="l" rtl="0">
                  <a:buFont typeface="Arial" pitchFamily="34" charset="0"/>
                  <a:buNone/>
                </a:pPr>
                <a:endParaRPr lang="he-IL" sz="2600" dirty="0">
                  <a:latin typeface="+mj-lt"/>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457852" y="4480520"/>
                <a:ext cx="8218604" cy="1612776"/>
              </a:xfrm>
              <a:prstGeom prst="rect">
                <a:avLst/>
              </a:prstGeom>
              <a:blipFill rotWithShape="1">
                <a:blip r:embed="rId7"/>
                <a:stretch>
                  <a:fillRect l="-371" t="-3019"/>
                </a:stretch>
              </a:blipFill>
            </p:spPr>
            <p:txBody>
              <a:bodyPr/>
              <a:lstStyle/>
              <a:p>
                <a:r>
                  <a:rPr lang="he-IL">
                    <a:noFill/>
                  </a:rPr>
                  <a:t> </a:t>
                </a:r>
              </a:p>
            </p:txBody>
          </p:sp>
        </mc:Fallback>
      </mc:AlternateContent>
      <p:graphicFrame>
        <p:nvGraphicFramePr>
          <p:cNvPr id="8" name="Object 7"/>
          <p:cNvGraphicFramePr>
            <a:graphicFrameLocks noChangeAspect="1"/>
          </p:cNvGraphicFramePr>
          <p:nvPr>
            <p:extLst>
              <p:ext uri="{D42A27DB-BD31-4B8C-83A1-F6EECF244321}">
                <p14:modId xmlns:p14="http://schemas.microsoft.com/office/powerpoint/2010/main" val="2918326952"/>
              </p:ext>
            </p:extLst>
          </p:nvPr>
        </p:nvGraphicFramePr>
        <p:xfrm>
          <a:off x="1500212" y="5934918"/>
          <a:ext cx="5880100" cy="806450"/>
        </p:xfrm>
        <a:graphic>
          <a:graphicData uri="http://schemas.openxmlformats.org/presentationml/2006/ole">
            <mc:AlternateContent xmlns:mc="http://schemas.openxmlformats.org/markup-compatibility/2006">
              <mc:Choice xmlns:v="urn:schemas-microsoft-com:vml" Requires="v">
                <p:oleObj name="משוואה" r:id="rId8" imgW="2590560" imgH="355320" progId="Equation.3">
                  <p:embed/>
                </p:oleObj>
              </mc:Choice>
              <mc:Fallback>
                <p:oleObj name="משוואה" r:id="rId8" imgW="2590560" imgH="355320" progId="Equation.3">
                  <p:embed/>
                  <p:pic>
                    <p:nvPicPr>
                      <p:cNvPr id="8" name="Object 7"/>
                      <p:cNvPicPr>
                        <a:picLocks noChangeAspect="1" noChangeArrowheads="1"/>
                      </p:cNvPicPr>
                      <p:nvPr/>
                    </p:nvPicPr>
                    <p:blipFill>
                      <a:blip r:embed="rId9"/>
                      <a:srcRect/>
                      <a:stretch>
                        <a:fillRect/>
                      </a:stretch>
                    </p:blipFill>
                    <p:spPr bwMode="auto">
                      <a:xfrm>
                        <a:off x="1500212" y="5934918"/>
                        <a:ext cx="588010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136152699"/>
              </p:ext>
            </p:extLst>
          </p:nvPr>
        </p:nvGraphicFramePr>
        <p:xfrm>
          <a:off x="3589338" y="5154613"/>
          <a:ext cx="1814512" cy="506412"/>
        </p:xfrm>
        <a:graphic>
          <a:graphicData uri="http://schemas.openxmlformats.org/presentationml/2006/ole">
            <mc:AlternateContent xmlns:mc="http://schemas.openxmlformats.org/markup-compatibility/2006">
              <mc:Choice xmlns:v="urn:schemas-microsoft-com:vml" Requires="v">
                <p:oleObj name="משוואה" r:id="rId10" imgW="863280" imgH="241200" progId="Equation.3">
                  <p:embed/>
                </p:oleObj>
              </mc:Choice>
              <mc:Fallback>
                <p:oleObj name="משוואה" r:id="rId10" imgW="863280" imgH="241200" progId="Equation.3">
                  <p:embed/>
                  <p:pic>
                    <p:nvPicPr>
                      <p:cNvPr id="9" name="Object 8"/>
                      <p:cNvPicPr>
                        <a:picLocks noChangeAspect="1" noChangeArrowheads="1"/>
                      </p:cNvPicPr>
                      <p:nvPr/>
                    </p:nvPicPr>
                    <p:blipFill>
                      <a:blip r:embed="rId11"/>
                      <a:srcRect/>
                      <a:stretch>
                        <a:fillRect/>
                      </a:stretch>
                    </p:blipFill>
                    <p:spPr bwMode="auto">
                      <a:xfrm>
                        <a:off x="3589338" y="5154613"/>
                        <a:ext cx="1814512"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ular Callout 12"/>
          <p:cNvSpPr/>
          <p:nvPr/>
        </p:nvSpPr>
        <p:spPr>
          <a:xfrm>
            <a:off x="7187823" y="5013176"/>
            <a:ext cx="1800200" cy="806388"/>
          </a:xfrm>
          <a:prstGeom prst="wedgeRectCallout">
            <a:avLst>
              <a:gd name="adj1" fmla="val -145457"/>
              <a:gd name="adj2" fmla="val 69092"/>
            </a:avLst>
          </a:prstGeom>
        </p:spPr>
        <p:style>
          <a:lnRef idx="1">
            <a:schemeClr val="dk1"/>
          </a:lnRef>
          <a:fillRef idx="2">
            <a:schemeClr val="dk1"/>
          </a:fillRef>
          <a:effectRef idx="1">
            <a:schemeClr val="dk1"/>
          </a:effectRef>
          <a:fontRef idx="minor">
            <a:schemeClr val="dk1"/>
          </a:fontRef>
        </p:style>
        <p:txBody>
          <a:bodyPr rtlCol="1" anchor="ctr"/>
          <a:lstStyle/>
          <a:p>
            <a:pPr algn="ctr"/>
            <a:r>
              <a:rPr lang="en-US" sz="2000" dirty="0"/>
              <a:t>Leading eigenvector</a:t>
            </a:r>
            <a:endParaRPr lang="he-IL" sz="2000" dirty="0"/>
          </a:p>
        </p:txBody>
      </p:sp>
      <p:sp>
        <p:nvSpPr>
          <p:cNvPr id="6" name="AutoShape 232" descr="http://upload.wikimedia.org/wikipedia/commons/4/4f/Variance_various.svg"/>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Tree>
    <p:extLst>
      <p:ext uri="{BB962C8B-B14F-4D97-AF65-F5344CB8AC3E}">
        <p14:creationId xmlns:p14="http://schemas.microsoft.com/office/powerpoint/2010/main" val="234832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Algorithmic Task</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21196" y="1705454"/>
                <a:ext cx="8229600" cy="4824536"/>
              </a:xfrm>
            </p:spPr>
            <p:txBody>
              <a:bodyPr>
                <a:normAutofit/>
              </a:bodyPr>
              <a:lstStyle/>
              <a:p>
                <a:endParaRPr lang="en-US" dirty="0"/>
              </a:p>
              <a:p>
                <a:endParaRPr lang="en-US" dirty="0"/>
              </a:p>
              <a:p>
                <a:endParaRPr lang="en-US" dirty="0"/>
              </a:p>
              <a:p>
                <a:pPr algn="l" rtl="0"/>
                <a:endParaRPr lang="en-US" dirty="0"/>
              </a:p>
              <a:p>
                <a:pPr algn="l" rtl="0">
                  <a:spcBef>
                    <a:spcPts val="1200"/>
                  </a:spcBef>
                  <a:spcAft>
                    <a:spcPts val="600"/>
                  </a:spcAft>
                </a:pPr>
                <a:r>
                  <a:rPr lang="en-US" sz="2800" dirty="0">
                    <a:solidFill>
                      <a:srgbClr val="00B050"/>
                    </a:solidFill>
                  </a:rPr>
                  <a:t>Classical setting</a:t>
                </a:r>
                <a:r>
                  <a:rPr lang="en-US" sz="2800" dirty="0"/>
                  <a:t>: </a:t>
                </a:r>
                <a14:m>
                  <m:oMath xmlns:m="http://schemas.openxmlformats.org/officeDocument/2006/math">
                    <m:r>
                      <a:rPr lang="en-US" sz="2800" b="0" i="1" smtClean="0">
                        <a:latin typeface="Cambria Math"/>
                      </a:rPr>
                      <m:t>𝑝</m:t>
                    </m:r>
                    <m:r>
                      <a:rPr lang="en-US" sz="2800" b="0" i="1" smtClean="0">
                        <a:latin typeface="Cambria Math"/>
                      </a:rPr>
                      <m:t>≪</m:t>
                    </m:r>
                    <m:r>
                      <a:rPr lang="en-US" sz="2800" b="0" i="1" smtClean="0">
                        <a:latin typeface="Cambria Math"/>
                      </a:rPr>
                      <m:t>𝑛</m:t>
                    </m:r>
                  </m:oMath>
                </a14:m>
                <a:r>
                  <a:rPr lang="en-US" sz="2800" dirty="0"/>
                  <a:t>: </a:t>
                </a:r>
              </a:p>
              <a:p>
                <a:pPr algn="l" rtl="0">
                  <a:spcBef>
                    <a:spcPts val="1200"/>
                  </a:spcBef>
                  <a:spcAft>
                    <a:spcPts val="600"/>
                  </a:spcAft>
                </a:pPr>
                <a:r>
                  <a:rPr lang="en-US" sz="2800" dirty="0">
                    <a:solidFill>
                      <a:srgbClr val="FF0000"/>
                    </a:solidFill>
                  </a:rPr>
                  <a:t>High-dimensional</a:t>
                </a:r>
                <a:r>
                  <a:rPr lang="en-US" sz="2800" dirty="0"/>
                  <a:t> setting: </a:t>
                </a:r>
                <a14:m>
                  <m:oMath xmlns:m="http://schemas.openxmlformats.org/officeDocument/2006/math">
                    <m:r>
                      <a:rPr lang="en-US" sz="2800" i="1">
                        <a:latin typeface="Cambria Math"/>
                      </a:rPr>
                      <m:t>𝑛</m:t>
                    </m:r>
                    <m:r>
                      <a:rPr lang="en-US" sz="2800" i="1">
                        <a:latin typeface="Cambria Math"/>
                        <a:ea typeface="Cambria Math"/>
                      </a:rPr>
                      <m:t>≤</m:t>
                    </m:r>
                    <m:r>
                      <a:rPr lang="en-US" sz="2800" b="0" i="1" smtClean="0">
                        <a:latin typeface="Cambria Math"/>
                        <a:ea typeface="Cambria Math"/>
                      </a:rPr>
                      <m:t>𝑝</m:t>
                    </m:r>
                  </m:oMath>
                </a14:m>
                <a:r>
                  <a:rPr lang="en-US" sz="2800" dirty="0"/>
                  <a:t>: no convergence</a:t>
                </a:r>
              </a:p>
              <a:p>
                <a:pPr algn="l" rtl="0">
                  <a:spcBef>
                    <a:spcPts val="1200"/>
                  </a:spcBef>
                  <a:spcAft>
                    <a:spcPts val="600"/>
                  </a:spcAft>
                </a:pP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21196" y="1705454"/>
                <a:ext cx="8229600" cy="4824536"/>
              </a:xfrm>
              <a:blipFill rotWithShape="1">
                <a:blip r:embed="rId3"/>
                <a:stretch>
                  <a:fillRect l="-1259"/>
                </a:stretch>
              </a:blipFill>
            </p:spPr>
            <p:txBody>
              <a:bodyPr/>
              <a:lstStyle/>
              <a:p>
                <a:r>
                  <a:rPr lang="en-US">
                    <a:noFill/>
                  </a:rPr>
                  <a:t> </a:t>
                </a:r>
              </a:p>
            </p:txBody>
          </p:sp>
        </mc:Fallback>
      </mc:AlternateContent>
      <p:sp>
        <p:nvSpPr>
          <p:cNvPr id="5" name="Rounded Rectangle 4"/>
          <p:cNvSpPr/>
          <p:nvPr/>
        </p:nvSpPr>
        <p:spPr>
          <a:xfrm>
            <a:off x="395536" y="1484784"/>
            <a:ext cx="8424936" cy="1008112"/>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lnSpc>
                <a:spcPct val="150000"/>
              </a:lnSpc>
              <a:spcBef>
                <a:spcPts val="600"/>
              </a:spcBef>
              <a:spcAft>
                <a:spcPts val="600"/>
              </a:spcAft>
            </a:pPr>
            <a:r>
              <a:rPr lang="en-US" sz="2800" dirty="0"/>
              <a:t>Goal: Find the leading e/vector of the covariance matrix</a:t>
            </a:r>
            <a:endParaRPr lang="he-IL" sz="2800" dirty="0"/>
          </a:p>
        </p:txBody>
      </p:sp>
      <p:graphicFrame>
        <p:nvGraphicFramePr>
          <p:cNvPr id="8" name="Object 7"/>
          <p:cNvGraphicFramePr>
            <a:graphicFrameLocks noChangeAspect="1"/>
          </p:cNvGraphicFramePr>
          <p:nvPr>
            <p:extLst>
              <p:ext uri="{D42A27DB-BD31-4B8C-83A1-F6EECF244321}">
                <p14:modId xmlns:p14="http://schemas.microsoft.com/office/powerpoint/2010/main" val="1472883233"/>
              </p:ext>
            </p:extLst>
          </p:nvPr>
        </p:nvGraphicFramePr>
        <p:xfrm>
          <a:off x="3275856" y="2852415"/>
          <a:ext cx="2847975" cy="936625"/>
        </p:xfrm>
        <a:graphic>
          <a:graphicData uri="http://schemas.openxmlformats.org/presentationml/2006/ole">
            <mc:AlternateContent xmlns:mc="http://schemas.openxmlformats.org/markup-compatibility/2006">
              <mc:Choice xmlns:v="urn:schemas-microsoft-com:vml" Requires="v">
                <p:oleObj name="משוואה" r:id="rId4" imgW="1307880" imgH="431640" progId="Equation.3">
                  <p:embed/>
                </p:oleObj>
              </mc:Choice>
              <mc:Fallback>
                <p:oleObj name="משוואה" r:id="rId4" imgW="1307880" imgH="431640" progId="Equation.3">
                  <p:embed/>
                  <p:pic>
                    <p:nvPicPr>
                      <p:cNvPr id="8" name="Object 7"/>
                      <p:cNvPicPr>
                        <a:picLocks noChangeAspect="1" noChangeArrowheads="1"/>
                      </p:cNvPicPr>
                      <p:nvPr/>
                    </p:nvPicPr>
                    <p:blipFill>
                      <a:blip r:embed="rId5"/>
                      <a:srcRect/>
                      <a:stretch>
                        <a:fillRect/>
                      </a:stretch>
                    </p:blipFill>
                    <p:spPr bwMode="auto">
                      <a:xfrm>
                        <a:off x="3275856" y="2852415"/>
                        <a:ext cx="2847975" cy="936625"/>
                      </a:xfrm>
                      <a:prstGeom prst="rect">
                        <a:avLst/>
                      </a:prstGeom>
                      <a:noFill/>
                      <a:ln>
                        <a:noFill/>
                      </a:ln>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950917024"/>
              </p:ext>
            </p:extLst>
          </p:nvPr>
        </p:nvGraphicFramePr>
        <p:xfrm>
          <a:off x="4499992" y="3935140"/>
          <a:ext cx="1101725" cy="862012"/>
        </p:xfrm>
        <a:graphic>
          <a:graphicData uri="http://schemas.openxmlformats.org/presentationml/2006/ole">
            <mc:AlternateContent xmlns:mc="http://schemas.openxmlformats.org/markup-compatibility/2006">
              <mc:Choice xmlns:v="urn:schemas-microsoft-com:vml" Requires="v">
                <p:oleObj name="Equation" r:id="rId6" imgW="469800" imgH="368280" progId="Equation.3">
                  <p:embed/>
                </p:oleObj>
              </mc:Choice>
              <mc:Fallback>
                <p:oleObj name="Equation" r:id="rId6" imgW="469800" imgH="368280" progId="Equation.3">
                  <p:embed/>
                  <p:pic>
                    <p:nvPicPr>
                      <p:cNvPr id="9" name="Object 8"/>
                      <p:cNvPicPr>
                        <a:picLocks noChangeAspect="1" noChangeArrowheads="1"/>
                      </p:cNvPicPr>
                      <p:nvPr/>
                    </p:nvPicPr>
                    <p:blipFill>
                      <a:blip r:embed="rId7"/>
                      <a:srcRect/>
                      <a:stretch>
                        <a:fillRect/>
                      </a:stretch>
                    </p:blipFill>
                    <p:spPr bwMode="auto">
                      <a:xfrm>
                        <a:off x="4499992" y="3935140"/>
                        <a:ext cx="1101725"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9"/>
          <p:cNvSpPr/>
          <p:nvPr/>
        </p:nvSpPr>
        <p:spPr>
          <a:xfrm>
            <a:off x="5724128" y="4211796"/>
            <a:ext cx="3168352" cy="400110"/>
          </a:xfrm>
          <a:prstGeom prst="rect">
            <a:avLst/>
          </a:prstGeom>
        </p:spPr>
        <p:txBody>
          <a:bodyPr wrap="square">
            <a:spAutoFit/>
          </a:bodyPr>
          <a:lstStyle/>
          <a:p>
            <a:pPr algn="l" rtl="0"/>
            <a:r>
              <a:rPr lang="he-IL" sz="2000" dirty="0"/>
              <a:t>]</a:t>
            </a:r>
            <a:r>
              <a:rPr lang="en-US" sz="2000" dirty="0" err="1"/>
              <a:t>Muirhead</a:t>
            </a:r>
            <a:r>
              <a:rPr lang="en-US" sz="2000" dirty="0"/>
              <a:t> 82, Anderson 84]</a:t>
            </a:r>
            <a:endParaRPr lang="he-IL" sz="2000" dirty="0"/>
          </a:p>
        </p:txBody>
      </p:sp>
      <p:sp>
        <p:nvSpPr>
          <p:cNvPr id="11" name="Rectangle 10"/>
          <p:cNvSpPr/>
          <p:nvPr/>
        </p:nvSpPr>
        <p:spPr>
          <a:xfrm>
            <a:off x="539552" y="5445224"/>
            <a:ext cx="8136904" cy="461665"/>
          </a:xfrm>
          <a:prstGeom prst="rect">
            <a:avLst/>
          </a:prstGeom>
        </p:spPr>
        <p:txBody>
          <a:bodyPr wrap="square">
            <a:spAutoFit/>
          </a:bodyPr>
          <a:lstStyle/>
          <a:p>
            <a:r>
              <a:rPr lang="en-US" sz="2400" dirty="0"/>
              <a:t>[Johnstone`01,`04, </a:t>
            </a:r>
            <a:r>
              <a:rPr lang="en-US" sz="2400" dirty="0" err="1"/>
              <a:t>Baik</a:t>
            </a:r>
            <a:r>
              <a:rPr lang="en-US" sz="2400" dirty="0"/>
              <a:t>-Silverstein `06, Paul `07 and Nadler `08]</a:t>
            </a:r>
            <a:endParaRPr lang="he-IL" sz="2400" dirty="0"/>
          </a:p>
        </p:txBody>
      </p:sp>
    </p:spTree>
    <p:extLst>
      <p:ext uri="{BB962C8B-B14F-4D97-AF65-F5344CB8AC3E}">
        <p14:creationId xmlns:p14="http://schemas.microsoft.com/office/powerpoint/2010/main" val="212462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44008" y="1988840"/>
            <a:ext cx="864096" cy="432048"/>
          </a:xfrm>
          <a:prstGeom prst="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endParaRPr lang="he-IL"/>
          </a:p>
        </p:txBody>
      </p:sp>
      <p:sp>
        <p:nvSpPr>
          <p:cNvPr id="2" name="Title 1"/>
          <p:cNvSpPr>
            <a:spLocks noGrp="1"/>
          </p:cNvSpPr>
          <p:nvPr>
            <p:ph type="title"/>
          </p:nvPr>
        </p:nvSpPr>
        <p:spPr/>
        <p:txBody>
          <a:bodyPr/>
          <a:lstStyle/>
          <a:p>
            <a:r>
              <a:rPr lang="en-US" dirty="0"/>
              <a:t>Sparse PCA</a:t>
            </a:r>
          </a:p>
        </p:txBody>
      </p:sp>
      <p:graphicFrame>
        <p:nvGraphicFramePr>
          <p:cNvPr id="6" name="Object 5"/>
          <p:cNvGraphicFramePr>
            <a:graphicFrameLocks noChangeAspect="1"/>
          </p:cNvGraphicFramePr>
          <p:nvPr>
            <p:extLst>
              <p:ext uri="{D42A27DB-BD31-4B8C-83A1-F6EECF244321}">
                <p14:modId xmlns:p14="http://schemas.microsoft.com/office/powerpoint/2010/main" val="1618851838"/>
              </p:ext>
            </p:extLst>
          </p:nvPr>
        </p:nvGraphicFramePr>
        <p:xfrm>
          <a:off x="3059831" y="1484784"/>
          <a:ext cx="3433591" cy="986408"/>
        </p:xfrm>
        <a:graphic>
          <a:graphicData uri="http://schemas.openxmlformats.org/presentationml/2006/ole">
            <mc:AlternateContent xmlns:mc="http://schemas.openxmlformats.org/markup-compatibility/2006">
              <mc:Choice xmlns:v="urn:schemas-microsoft-com:vml" Requires="v">
                <p:oleObj name="Equation" r:id="rId2" imgW="1180800" imgH="355320" progId="Equation.3">
                  <p:embed/>
                </p:oleObj>
              </mc:Choice>
              <mc:Fallback>
                <p:oleObj name="Equation" r:id="rId2" imgW="1180800" imgH="35532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1" y="1484784"/>
                        <a:ext cx="3433591" cy="986408"/>
                      </a:xfrm>
                      <a:prstGeom prst="rect">
                        <a:avLst/>
                      </a:prstGeom>
                      <a:noFill/>
                      <a:ln>
                        <a:noFill/>
                      </a:ln>
                    </p:spPr>
                  </p:pic>
                </p:oleObj>
              </mc:Fallback>
            </mc:AlternateContent>
          </a:graphicData>
        </a:graphic>
      </p:graphicFrame>
      <p:sp>
        <p:nvSpPr>
          <p:cNvPr id="7" name="TextBox 6"/>
          <p:cNvSpPr txBox="1"/>
          <p:nvPr/>
        </p:nvSpPr>
        <p:spPr>
          <a:xfrm>
            <a:off x="323528" y="2708920"/>
            <a:ext cx="7272808" cy="523220"/>
          </a:xfrm>
          <a:prstGeom prst="rect">
            <a:avLst/>
          </a:prstGeom>
          <a:noFill/>
        </p:spPr>
        <p:txBody>
          <a:bodyPr wrap="square" rtlCol="0">
            <a:spAutoFit/>
          </a:bodyPr>
          <a:lstStyle/>
          <a:p>
            <a:pPr algn="l" rtl="0"/>
            <a:r>
              <a:rPr lang="en-US" sz="2800" dirty="0">
                <a:solidFill>
                  <a:srgbClr val="FF0000"/>
                </a:solidFill>
              </a:rPr>
              <a:t>Information Theoretical </a:t>
            </a:r>
            <a:r>
              <a:rPr lang="en-US" sz="2800" dirty="0"/>
              <a:t>aspect:</a:t>
            </a:r>
          </a:p>
        </p:txBody>
      </p:sp>
      <p:graphicFrame>
        <p:nvGraphicFramePr>
          <p:cNvPr id="8" name="Object 7"/>
          <p:cNvGraphicFramePr>
            <a:graphicFrameLocks noChangeAspect="1"/>
          </p:cNvGraphicFramePr>
          <p:nvPr>
            <p:extLst>
              <p:ext uri="{D42A27DB-BD31-4B8C-83A1-F6EECF244321}">
                <p14:modId xmlns:p14="http://schemas.microsoft.com/office/powerpoint/2010/main" val="3705382968"/>
              </p:ext>
            </p:extLst>
          </p:nvPr>
        </p:nvGraphicFramePr>
        <p:xfrm>
          <a:off x="2217440" y="3633961"/>
          <a:ext cx="5522912" cy="1019175"/>
        </p:xfrm>
        <a:graphic>
          <a:graphicData uri="http://schemas.openxmlformats.org/presentationml/2006/ole">
            <mc:AlternateContent xmlns:mc="http://schemas.openxmlformats.org/markup-compatibility/2006">
              <mc:Choice xmlns:v="urn:schemas-microsoft-com:vml" Requires="v">
                <p:oleObj name="משוואה" r:id="rId4" imgW="1904760" imgH="368280" progId="Equation.3">
                  <p:embed/>
                </p:oleObj>
              </mc:Choice>
              <mc:Fallback>
                <p:oleObj name="משוואה" r:id="rId4" imgW="1904760" imgH="368280" progId="Equation.3">
                  <p:embed/>
                  <p:pic>
                    <p:nvPicPr>
                      <p:cNvPr id="8" name="Object 7"/>
                      <p:cNvPicPr>
                        <a:picLocks noChangeAspect="1" noChangeArrowheads="1"/>
                      </p:cNvPicPr>
                      <p:nvPr/>
                    </p:nvPicPr>
                    <p:blipFill>
                      <a:blip r:embed="rId5"/>
                      <a:srcRect/>
                      <a:stretch>
                        <a:fillRect/>
                      </a:stretch>
                    </p:blipFill>
                    <p:spPr bwMode="auto">
                      <a:xfrm>
                        <a:off x="2217440" y="3633961"/>
                        <a:ext cx="5522912" cy="1019175"/>
                      </a:xfrm>
                      <a:prstGeom prst="rect">
                        <a:avLst/>
                      </a:prstGeom>
                      <a:noFill/>
                      <a:ln>
                        <a:noFill/>
                      </a:ln>
                    </p:spPr>
                  </p:pic>
                </p:oleObj>
              </mc:Fallback>
            </mc:AlternateContent>
          </a:graphicData>
        </a:graphic>
      </p:graphicFrame>
      <p:sp>
        <p:nvSpPr>
          <p:cNvPr id="9" name="TextBox 8"/>
          <p:cNvSpPr txBox="1"/>
          <p:nvPr/>
        </p:nvSpPr>
        <p:spPr>
          <a:xfrm>
            <a:off x="323528" y="4797152"/>
            <a:ext cx="7272808" cy="1384995"/>
          </a:xfrm>
          <a:prstGeom prst="rect">
            <a:avLst/>
          </a:prstGeom>
          <a:noFill/>
        </p:spPr>
        <p:txBody>
          <a:bodyPr wrap="square" rtlCol="0">
            <a:spAutoFit/>
          </a:bodyPr>
          <a:lstStyle/>
          <a:p>
            <a:pPr algn="l" rtl="0"/>
            <a:r>
              <a:rPr lang="en-US" sz="2800" dirty="0">
                <a:solidFill>
                  <a:srgbClr val="FF0000"/>
                </a:solidFill>
              </a:rPr>
              <a:t>Computational: </a:t>
            </a:r>
          </a:p>
          <a:p>
            <a:pPr algn="l" rtl="0"/>
            <a:r>
              <a:rPr lang="en-US" sz="2800" dirty="0"/>
              <a:t>  This is not a convex program </a:t>
            </a:r>
          </a:p>
          <a:p>
            <a:pPr algn="l" rtl="0"/>
            <a:r>
              <a:rPr lang="en-US" sz="2800" dirty="0"/>
              <a:t>  NP-hard to solve it</a:t>
            </a:r>
          </a:p>
        </p:txBody>
      </p:sp>
    </p:spTree>
    <p:extLst>
      <p:ext uri="{BB962C8B-B14F-4D97-AF65-F5344CB8AC3E}">
        <p14:creationId xmlns:p14="http://schemas.microsoft.com/office/powerpoint/2010/main" val="348038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Single Spike Model</a:t>
            </a:r>
            <a:br>
              <a:rPr lang="he-IL" dirty="0"/>
            </a:br>
            <a:r>
              <a:rPr lang="en-US" sz="2700" dirty="0"/>
              <a:t>[</a:t>
            </a:r>
            <a:r>
              <a:rPr lang="en-US" sz="2700" dirty="0" err="1"/>
              <a:t>Johnstone</a:t>
            </a:r>
            <a:r>
              <a:rPr lang="en-US" sz="2700" dirty="0"/>
              <a:t> 2001]</a:t>
            </a:r>
            <a:endParaRPr lang="he-IL" sz="27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8889" y="1628800"/>
                <a:ext cx="8229600" cy="4525963"/>
              </a:xfrm>
            </p:spPr>
            <p:txBody>
              <a:bodyPr>
                <a:normAutofit/>
              </a:bodyPr>
              <a:lstStyle/>
              <a:p>
                <a:pPr algn="l" rtl="0">
                  <a:spcAft>
                    <a:spcPts val="600"/>
                  </a:spcAft>
                </a:pPr>
                <a:r>
                  <a:rPr lang="en-US" sz="2800" dirty="0"/>
                  <a:t>Covariance matrix is rank-one perturbation of </a:t>
                </a:r>
                <a:r>
                  <a:rPr lang="en-US" sz="2800" dirty="0" err="1"/>
                  <a:t>i.i.d</a:t>
                </a:r>
                <a:r>
                  <a:rPr lang="en-US" sz="2800" dirty="0"/>
                  <a:t> </a:t>
                </a:r>
                <a14:m>
                  <m:oMath xmlns:m="http://schemas.openxmlformats.org/officeDocument/2006/math">
                    <m:r>
                      <a:rPr lang="en-US" sz="2800" b="0" i="0" smtClean="0">
                        <a:latin typeface="Cambria Math"/>
                      </a:rPr>
                      <m:t>  </m:t>
                    </m:r>
                    <m:r>
                      <a:rPr lang="en-US" sz="2800" b="0" i="1" smtClean="0">
                        <a:latin typeface="Cambria Math"/>
                      </a:rPr>
                      <m:t>𝑝</m:t>
                    </m:r>
                  </m:oMath>
                </a14:m>
                <a:r>
                  <a:rPr lang="en-US" sz="2800" dirty="0"/>
                  <a:t>-dim Gaussian</a:t>
                </a:r>
                <a:endParaRPr lang="en-US" sz="2800" dirty="0">
                  <a:latin typeface="+mj-lt"/>
                </a:endParaRPr>
              </a:p>
              <a:p>
                <a:pPr lvl="1" algn="l" rtl="0">
                  <a:spcAft>
                    <a:spcPts val="600"/>
                  </a:spcAft>
                </a:pPr>
                <a:endParaRPr lang="en-US" dirty="0"/>
              </a:p>
              <a:p>
                <a:pPr lvl="1" algn="l" rtl="0">
                  <a:spcAft>
                    <a:spcPts val="600"/>
                  </a:spcAft>
                </a:pPr>
                <a:endParaRPr lang="en-US" dirty="0"/>
              </a:p>
              <a:p>
                <a:pPr lvl="1" algn="l" rtl="0">
                  <a:spcAft>
                    <a:spcPts val="600"/>
                  </a:spcAft>
                </a:pPr>
                <a:endParaRPr lang="en-US" dirty="0"/>
              </a:p>
              <a:p>
                <a:pPr algn="l" rtl="0">
                  <a:spcAft>
                    <a:spcPts val="600"/>
                  </a:spcAft>
                </a:pPr>
                <a:r>
                  <a:rPr lang="en-US" sz="2800" dirty="0"/>
                  <a:t>Leading eigenvalue is </a:t>
                </a:r>
                <a14:m>
                  <m:oMath xmlns:m="http://schemas.openxmlformats.org/officeDocument/2006/math">
                    <m:r>
                      <a:rPr lang="en-US" sz="2800" b="0" i="1" smtClean="0">
                        <a:latin typeface="Cambria Math"/>
                      </a:rPr>
                      <m:t>1+</m:t>
                    </m:r>
                    <m:r>
                      <a:rPr lang="en-US" sz="2800" b="0" i="1" smtClean="0">
                        <a:latin typeface="Cambria Math"/>
                        <a:ea typeface="Cambria Math"/>
                      </a:rPr>
                      <m:t>𝛽</m:t>
                    </m:r>
                    <m:r>
                      <a:rPr lang="en-US" sz="2800" b="0" i="0" smtClean="0">
                        <a:latin typeface="Cambria Math"/>
                        <a:ea typeface="Cambria Math"/>
                      </a:rPr>
                      <m:t>, </m:t>
                    </m:r>
                  </m:oMath>
                </a14:m>
                <a:r>
                  <a:rPr lang="en-US" sz="2800" b="0" dirty="0">
                    <a:ea typeface="Cambria Math"/>
                  </a:rPr>
                  <a:t> with eigenvector  </a:t>
                </a:r>
                <a:r>
                  <a:rPr lang="en-US" sz="2800" b="1" dirty="0">
                    <a:latin typeface="cmr10" pitchFamily="34" charset="0"/>
                    <a:ea typeface="Cambria Math"/>
                  </a:rPr>
                  <a:t>z</a:t>
                </a:r>
              </a:p>
              <a:p>
                <a:pPr algn="l" rtl="0">
                  <a:spcAft>
                    <a:spcPts val="600"/>
                  </a:spcAft>
                </a:pPr>
                <a:r>
                  <a:rPr lang="en-US" sz="2800" dirty="0">
                    <a:latin typeface="+mj-lt"/>
                    <a:ea typeface="Cambria Math"/>
                  </a:rPr>
                  <a:t>Sparsity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8889" y="1628800"/>
                <a:ext cx="8229600" cy="4525963"/>
              </a:xfrm>
              <a:blipFill rotWithShape="1">
                <a:blip r:embed="rId3"/>
                <a:stretch>
                  <a:fillRect l="-1333" t="-1211"/>
                </a:stretch>
              </a:blipFill>
            </p:spPr>
            <p:txBody>
              <a:bodyPr/>
              <a:lstStyle/>
              <a:p>
                <a:r>
                  <a:rPr lang="he-IL">
                    <a:noFill/>
                  </a:rPr>
                  <a:t> </a:t>
                </a:r>
              </a:p>
            </p:txBody>
          </p:sp>
        </mc:Fallback>
      </mc:AlternateContent>
      <p:sp>
        <p:nvSpPr>
          <p:cNvPr id="17" name="Rectangle 16"/>
          <p:cNvSpPr/>
          <p:nvPr/>
        </p:nvSpPr>
        <p:spPr>
          <a:xfrm>
            <a:off x="2247083" y="5760996"/>
            <a:ext cx="4536504" cy="894201"/>
          </a:xfrm>
          <a:prstGeom prst="rect">
            <a:avLst/>
          </a:prstGeom>
          <a:ln>
            <a:noFill/>
          </a:ln>
        </p:spPr>
        <p:style>
          <a:lnRef idx="2">
            <a:schemeClr val="dk1"/>
          </a:lnRef>
          <a:fillRef idx="1">
            <a:schemeClr val="lt1"/>
          </a:fillRef>
          <a:effectRef idx="0">
            <a:schemeClr val="dk1"/>
          </a:effectRef>
          <a:fontRef idx="minor">
            <a:schemeClr val="dk1"/>
          </a:fontRef>
        </p:style>
        <p:txBody>
          <a:bodyPr rtlCol="1" anchor="ctr"/>
          <a:lstStyle/>
          <a:p>
            <a:pPr algn="l" rtl="0"/>
            <a:endParaRPr lang="he-IL" sz="2600" dirty="0">
              <a:solidFill>
                <a:schemeClr val="tx1"/>
              </a:solidFill>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89239033"/>
              </p:ext>
            </p:extLst>
          </p:nvPr>
        </p:nvGraphicFramePr>
        <p:xfrm>
          <a:off x="2651787" y="5558379"/>
          <a:ext cx="4512501" cy="966965"/>
        </p:xfrm>
        <a:graphic>
          <a:graphicData uri="http://schemas.openxmlformats.org/presentationml/2006/ole">
            <mc:AlternateContent xmlns:mc="http://schemas.openxmlformats.org/markup-compatibility/2006">
              <mc:Choice xmlns:v="urn:schemas-microsoft-com:vml" Requires="v">
                <p:oleObj name="Equation" r:id="rId4" imgW="2133360" imgH="457200" progId="Equation.3">
                  <p:embed/>
                </p:oleObj>
              </mc:Choice>
              <mc:Fallback>
                <p:oleObj name="Equation" r:id="rId4" imgW="2133360" imgH="457200" progId="Equation.3">
                  <p:embed/>
                  <p:pic>
                    <p:nvPicPr>
                      <p:cNvPr id="4" name="Object 3"/>
                      <p:cNvPicPr/>
                      <p:nvPr/>
                    </p:nvPicPr>
                    <p:blipFill>
                      <a:blip r:embed="rId5"/>
                      <a:stretch>
                        <a:fillRect/>
                      </a:stretch>
                    </p:blipFill>
                    <p:spPr>
                      <a:xfrm>
                        <a:off x="2651787" y="5558379"/>
                        <a:ext cx="4512501" cy="966965"/>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5313214"/>
              </p:ext>
            </p:extLst>
          </p:nvPr>
        </p:nvGraphicFramePr>
        <p:xfrm>
          <a:off x="3366813" y="2852936"/>
          <a:ext cx="2429323" cy="648072"/>
        </p:xfrm>
        <a:graphic>
          <a:graphicData uri="http://schemas.openxmlformats.org/presentationml/2006/ole">
            <mc:AlternateContent xmlns:mc="http://schemas.openxmlformats.org/markup-compatibility/2006">
              <mc:Choice xmlns:v="urn:schemas-microsoft-com:vml" Requires="v">
                <p:oleObj name="משוואה" r:id="rId6" imgW="952200" imgH="253800" progId="Equation.3">
                  <p:embed/>
                </p:oleObj>
              </mc:Choice>
              <mc:Fallback>
                <p:oleObj name="משוואה" r:id="rId6" imgW="952200" imgH="253800" progId="Equation.3">
                  <p:embed/>
                  <p:pic>
                    <p:nvPicPr>
                      <p:cNvPr id="5" name="Object 4"/>
                      <p:cNvPicPr>
                        <a:picLocks noChangeAspect="1" noChangeArrowheads="1"/>
                      </p:cNvPicPr>
                      <p:nvPr/>
                    </p:nvPicPr>
                    <p:blipFill>
                      <a:blip r:embed="rId7"/>
                      <a:srcRect/>
                      <a:stretch>
                        <a:fillRect/>
                      </a:stretch>
                    </p:blipFill>
                    <p:spPr bwMode="auto">
                      <a:xfrm>
                        <a:off x="3366813" y="2852936"/>
                        <a:ext cx="2429323" cy="648072"/>
                      </a:xfrm>
                      <a:prstGeom prst="rect">
                        <a:avLst/>
                      </a:prstGeom>
                      <a:noFill/>
                      <a:ln>
                        <a:noFill/>
                      </a:ln>
                    </p:spPr>
                  </p:pic>
                </p:oleObj>
              </mc:Fallback>
            </mc:AlternateContent>
          </a:graphicData>
        </a:graphic>
      </p:graphicFrame>
      <p:sp>
        <p:nvSpPr>
          <p:cNvPr id="6" name="Right Brace 5"/>
          <p:cNvSpPr/>
          <p:nvPr/>
        </p:nvSpPr>
        <p:spPr>
          <a:xfrm rot="5400000">
            <a:off x="4211960" y="3068960"/>
            <a:ext cx="288032" cy="1008112"/>
          </a:xfrm>
          <a:prstGeom prst="rightBrace">
            <a:avLst>
              <a:gd name="adj1" fmla="val 78470"/>
              <a:gd name="adj2" fmla="val 50000"/>
            </a:avLst>
          </a:prstGeom>
        </p:spPr>
        <p:style>
          <a:lnRef idx="2">
            <a:schemeClr val="dk1"/>
          </a:lnRef>
          <a:fillRef idx="0">
            <a:schemeClr val="dk1"/>
          </a:fillRef>
          <a:effectRef idx="1">
            <a:schemeClr val="dk1"/>
          </a:effectRef>
          <a:fontRef idx="minor">
            <a:schemeClr val="tx1"/>
          </a:fontRef>
        </p:style>
        <p:txBody>
          <a:bodyPr rtlCol="1" anchor="ctr"/>
          <a:lstStyle/>
          <a:p>
            <a:pPr algn="ctr"/>
            <a:endParaRPr lang="he-IL"/>
          </a:p>
        </p:txBody>
      </p:sp>
      <p:sp>
        <p:nvSpPr>
          <p:cNvPr id="9" name="Right Brace 8"/>
          <p:cNvSpPr/>
          <p:nvPr/>
        </p:nvSpPr>
        <p:spPr>
          <a:xfrm rot="5400000">
            <a:off x="5400092" y="3248980"/>
            <a:ext cx="288032" cy="648072"/>
          </a:xfrm>
          <a:prstGeom prst="rightBrace">
            <a:avLst>
              <a:gd name="adj1" fmla="val 78470"/>
              <a:gd name="adj2" fmla="val 50000"/>
            </a:avLst>
          </a:prstGeom>
        </p:spPr>
        <p:style>
          <a:lnRef idx="2">
            <a:schemeClr val="dk1"/>
          </a:lnRef>
          <a:fillRef idx="0">
            <a:schemeClr val="dk1"/>
          </a:fillRef>
          <a:effectRef idx="1">
            <a:schemeClr val="dk1"/>
          </a:effectRef>
          <a:fontRef idx="minor">
            <a:schemeClr val="tx1"/>
          </a:fontRef>
        </p:style>
        <p:txBody>
          <a:bodyPr rtlCol="1" anchor="ctr"/>
          <a:lstStyle/>
          <a:p>
            <a:pPr algn="ctr"/>
            <a:endParaRPr lang="he-IL"/>
          </a:p>
        </p:txBody>
      </p:sp>
      <p:sp>
        <p:nvSpPr>
          <p:cNvPr id="7" name="TextBox 6"/>
          <p:cNvSpPr txBox="1"/>
          <p:nvPr/>
        </p:nvSpPr>
        <p:spPr>
          <a:xfrm>
            <a:off x="3851920" y="3861048"/>
            <a:ext cx="864096" cy="369332"/>
          </a:xfrm>
          <a:prstGeom prst="rect">
            <a:avLst/>
          </a:prstGeom>
          <a:noFill/>
        </p:spPr>
        <p:txBody>
          <a:bodyPr wrap="square" rtlCol="1">
            <a:spAutoFit/>
          </a:bodyPr>
          <a:lstStyle/>
          <a:p>
            <a:r>
              <a:rPr lang="en-US" dirty="0">
                <a:solidFill>
                  <a:srgbClr val="FF0000"/>
                </a:solidFill>
              </a:rPr>
              <a:t>needle</a:t>
            </a:r>
            <a:endParaRPr lang="he-IL" dirty="0">
              <a:solidFill>
                <a:srgbClr val="FF0000"/>
              </a:solidFill>
            </a:endParaRPr>
          </a:p>
        </p:txBody>
      </p:sp>
      <p:sp>
        <p:nvSpPr>
          <p:cNvPr id="12" name="TextBox 11"/>
          <p:cNvSpPr txBox="1"/>
          <p:nvPr/>
        </p:nvSpPr>
        <p:spPr>
          <a:xfrm>
            <a:off x="4932040" y="3861048"/>
            <a:ext cx="1152128" cy="369332"/>
          </a:xfrm>
          <a:prstGeom prst="rect">
            <a:avLst/>
          </a:prstGeom>
          <a:noFill/>
        </p:spPr>
        <p:txBody>
          <a:bodyPr wrap="square" rtlCol="1">
            <a:spAutoFit/>
          </a:bodyPr>
          <a:lstStyle/>
          <a:p>
            <a:r>
              <a:rPr lang="en-US" dirty="0">
                <a:solidFill>
                  <a:srgbClr val="FF0000"/>
                </a:solidFill>
              </a:rPr>
              <a:t>haystack</a:t>
            </a:r>
            <a:endParaRPr lang="he-IL" dirty="0">
              <a:solidFill>
                <a:srgbClr val="FF0000"/>
              </a:solidFill>
            </a:endParaRPr>
          </a:p>
        </p:txBody>
      </p:sp>
      <p:sp>
        <p:nvSpPr>
          <p:cNvPr id="8" name="AutoShape 111" descr="data:image/jpeg;base64,/9j/4AAQSkZJRgABAQAAAQABAAD/2wCEAAkGBhAGERUQEBIVERIUFhIWFhgXExoVGBYZGxgbFxcVGBgXJyYgGholGxUUHy8hLycpLC0sFyAyNTAqNScuLCoBCQoKBQUFDQUFDSkYEhgpKSkpKSkpKSkpKSkpKSkpKSkpKSkpKSkpKSkpKSkpKSkpKSkpKSkpKSkpKSkpKSkpKf/AABEIAKQBMwMBIgACEQEDEQH/xAAcAAEAAwADAQEAAAAAAAAAAAAABQYHAgMEAQj/xABGEAABAwIDAwgHBAcHBQEAAAABAAIDBBEFEiEGEzEHFCJBUmFxkRcyUVSBk9IIIzOyFmJydYKioxUkNENjkqEnQnPBwib/xAAUAQEAAAAAAAAAAAAAAAAAAAAA/8QAFBEBAAAAAAAAAAAAAAAAAAAAAP/aAAwDAQACEQMRAD8A3FERAREQEREBERAREQEREBERAREQEREHVVVLKJjpJHBrGNc5zjwDWi5J8ACs55K+VA7a1FXBL0SHulpwbA7nRuTvLeiT7c59i0Wso48QY6KVjZI3CzmuAc1w9hB0IWf8mGAUsFRiMjaeJr4cQqI4nCNodGzI0ZGEDot1Og9qDRkREBERAREQEREBERAREQEREBERAREQEREBERAREQEREBERAREQEREBERAREQEREBUjk2/FxX95VH5WKX2y22pdiIN9Uu1dcRxt1fIfY0ewaXJ0HxAOLbLctD8AkqZ3URdTVVXJM4h5uxzgOgHEZXEAA20v3IP0SijdntoafaiBtTTPD43fAtPWxw6nD2f+ioTG8arqCvpIgImUs0zoravlktC+QuJ0EYDm2AFybXuOCC2ooTGtr6bA37p+9klyGQshhfM5rOG8eGA5W3BFzxsbcF6cAx6LaOEVELZBG71TJGYy4WBDmh3FpvoUEkirkfKJhcrgwVkRcSGgXOpJsBw9q79sdoDs5TbxmQyvkihi3jsrM8jg0Oeepjblx7mnhxQTiKnUeMTwUtVURVsOLPiic5jIY2NtIGlwb905xIOlhx00JUZgu1lVJK0R1MWKRvppp5BFCIzTua0GNhLSfXdmYGO6XRJ6ig0RFnOBbfyhjnSSR1pfT0ckQia1h5zOZBzPQnhkDrnpNbmLtAr3hMU0MLBUPEk1vvHNblaXHUho6mi9h12Avqg9aIiAiIgIiICIiAiIgIiICIiAiIgIiICIiAiIgIiICIiAo3aLaCHZimkqqh1o4xfvceDWNHW4mwCklhfKfXS8oeLwYLTuIiicN6RqA+15Hn25GXA/WLh1oOjYzZyflhrn4piIPNGOyxx3OV1tRC3/AE23u49ZPebXjYPB4MRGLU0sTHQOxCoYY8oy5cjAAAOFtLW4WFleMJwuLBYY6eBoZFE0NaB1Ae32k8SesklZPh/KVR7ByYoJ875n4jUuZExurhlYLlx6LRce2/cUEFTvm5CsV3bi5+G1J4nXo3tm0/zI76+1p7xbSdp5qrEamjlpqKWohp5t9vGS04bKx8Dmgx55AeMg4gcDa+iqePbW4fymYORUvjp6o7ySJlnu3b2ucIxmy65mgA/t9y4cjXKbT0lEaSum3b6d1oy4OOaM6gaA+qcw8C1Bc5IqvA66erjpJKqOrhpRlZJE18MkQeMjxI5rcpD75gTYg6KW2JwWTZ+hip5cu8bvHODdWtL5HSZGnrDc+Ufsqm4ly70WFVpgc0yUxawiaO5LXG+YOY4AkDTUeRWi4ZicWMxMngfnikF2usRceBsUEPHs3WMcCcUqXAEEtMVNYi/DSO9upcNvcDkxymZuo2zSQT09Q2NxAbLu33dGS7QZmlw10va6sqIM6rcCr8Xkq6umhOHSPo200TXPjEkj95nMhMJc1lm3Y03v0idLBd2B4DJHW08tNQPwyKNkjanNJEecAttGy0T37xwec28dY6cTdX9EFDxrZqpx1lVO2PdPAfHSxAtYS0uG/mLho2WZrXMDr3awjUFzlM7F4a/Dm1BMJpYZJ88EDi0mJm6ja4WYXNYHSNkflBsM3UTZWNEBERAREQEREBERAREQEREBERAREQEREBERAREQEREBERBFbVY63Zmjnq38Io3OA7TuDG/FxaPisy+z9gDpm1GKz3dLO9zGOPEjNmlf/E+w/gKfaExt0jKbDIbmSd4e5o4kA5I29+Z5J/gWnbMYG3ZukgpGcIo2tJ9ruL3fFxcfiglFnWx2B020BxaGqhZNGcSqNHtvboM1B4tPeLFaKqRybfi4r+8qj8rEFl2ewCHZinZS04cIoy/KHOzEZnueRc8Rdxsscl/6fbVAjowVxF+oWmNj3aTtv4LdVkP2icFMlNT1zBZ8EmQkcQ1+rTfuewf70F/qthaHEKvn00Imnysa3edJrA29i1h0vrxNz7LKfGiitlcZG0NHT1Q/zYmOPc63THwcHD4KVQEREBERAREQEREBERAREQEREBERAREQEREBERAREQEREBERAREQERVvlE2h/RfDqioBs8MLI/8AyP6DLeBObwaUGXYD/wBQdqJKn1oKMks6xaL7uK3jITJ5rdVlv2ftnv7Mw91U4dOqeSD17tl2t/m3h+IWpICpHJt+Liv7yqPysV3VI5NvxcV/eVR+ViC7qB27wT9I8Oqaa13PicWftt6bP5mtU8iDKvs8Y3z6gkpXHpU0psPYyTpj+cSrVVhmwv8A+L2mqqH1Y6jeBg6tfv4vJpc34rYsbwaHHI93UZjEHB5aJHRh1gdH5CMzdb2OlwPYgkUWbbM4u3ZejraqJr5KM1IbQxl5OcOLIhu3PuWxOmJsfZc29szR49icVdDSVUVIxssckgdHJK4kMID2NzNHTGdh1ABBNuFkFwRRGN4pU4eWiClFQCCSTUMhynqFn8V34NXTV8ZdPAKdwcQGiVstxYdLMzQcTp3IJBFjGPSsw+nrKidtSzFop5pYpd3OQGNlvDke0boQboAEE21N9bKf2pwdhrJ6qsoKirptzT5HQygbvLvDNeMSMceLDo0+qUGkL5dZrtTRPxYCqp2ukp3UdOaScShjKRzXmR8787g5o3e7JcASRGWka2MlgO0FPiVYaioeWSyWipYnMflhjcN40PdbI2omaBJkJzBm7FuNwvKIiAiIgIiICIiAiIgIiICIiAiIgIiICIiAiIgLFeXrEn4zUUeEQavke17h+s87uIHwvIT4hbPLKIWlziA1oJJPAAaklYdyYxHb7HarFngmKEkx36i4GOEfCNrj42QbThGGswaCKnjFmRMZG3waAL+Ol160RAWd7G41T4AcWmqZWQxjEqjpPda5yM0HWT3C5WiLG6Dk0o9vZMUM2eOZmI1LWSMdq0ZWGxaei4X7ge9Bqez+Pw7TU7KqnJMTy/KXNLScr3MJsdQLtKkVQtl+SGiwilZDUsbPKwyXkDpGBwL3Fpyh1gcpaLd3XxUr6M8L92HzZfqQZxy5U7tncQocWjGrS1rrdqJ2doP7TXOHg1adtNgzts6RkcFRuY5DG9x3e8EsVs27cLtOR123sdQCOBKqHKXyYUX9mzyUsGSaFu9ac73aMN3iznEepmXg5H9nsO2rw1j5YA6aJz4pDvJBe3SYbB1h0HNHwKC7zbJTYnSyUlXUtexwi3RhpxAYXRuzMcBmcDZzWWGg6Nutd2F7NzsqG1dZUipkjjfFEGQCFjA8tMjyMzi57sjRe4AA0Gq6fRnhfuw+bL9SejPC/dh82X6kHZtqcMoIhVYlTxSxsc1mZ9O2YszuAvqCQ29r28l7tmRQGHNhwgEDzm+4axrC6wBJDLDNYAG+uiq21XI9RYzTmGmY2nkc6M7wukflaHAus0usTbRSuxHJvRbCNPNw98rhZ8j3El3XbKLNAv3X7yg54lstU444x1NW19GZA8wspxG94a7O2KSXMbsBAvZrSQOOpXbjWB12JukZFXNhglGUt5qHyMGUNcI5MwAvqblrrX06lYkQQFTskyaGmo2uy0kGQPjIzGZsYG7jc6/qZgHOFjmygaAm/nn2MM9SZd/aB1TFVui3fSM0cbY22lzaM+7Y4tyk3HEA2VnRAREQEREBERAREQEREBERAREQEREBERAREQERCbIM65ctqv0fw10LTaWrJib7QzjK7wykN/jCkeSPZb9FsMia5tpZvvpfaC8DK0+DA0W9t1nD3el3aEAdOho/9rmMdr47yTT9nwW9hAREQFSOTb8XFf3lUflYruqRybfi4r+8qj8rEF3REQcJYxM0tcLtIIIPWDoQsO5KZTsPjdXhEhIZIXbu/WWXfEf4onOPwC3RYry7YVJgdTSYzT6Pjexjz+sw54ie4jO0+AHWg2pF4cDxePH6eKpiN2Ssa8d1xq094Nwe8L3ICIiAih8b2uotnXBlTO2NxaX5bOcQ29s5DAS1twRmNhoVJ01SysY2SNwex4DmuabhwIuCCOIIQdqIiAi4ySCEFziGtAJJJsABqSSeAURhG2NDjship52yPylwFnDM0GxezMAHtv1i4QTKKEg21oKmfmzKhjpS5zANbF7fWY19srnDsg3Xog2lpKmc0rZmmZuYFuupbYvaHWyuc0OF2gki+oCCTReWjxOKvdIyN2cwv3clgbNfYOLc3AkBwvYm17GxXqQEREBERAREQEREBERAREQEREBZty2bdfo1Sc1hd/eqoFotxZGdHv7ifVHeSR6qs+2229NsNTmac3ebiKMHpSu9g9gGl3cB42BzLkx2TqNuqw47iQu3NmgYRYOcPVIB4RstZvtIv1G4Xfki2I/QyhG8bapntJN7W6dCL+EHXvc5XhEQEREBUjk2/FxX95VH5WK7rGqHlLpNgpMTEwfJM/EalzI2N4jKwXLz0Wi47z3INlRULZbldosXpWTVLxBK8yZo2sleGgPcGjMG2Jyhp+PUpb0lYX7x/Rl+lBZ1E7VbPx7U0k1JJoJWEA9lw1Y/4OAPwUd6SsL94/oy/SnpKwv3j+jL9KDPuQ3aSTB5ZsDq+hLG+R0QJ6wfvYx5Zx7buK2hYDytz0lZPFiuGTkVcZbvA2KRpOX1JQXNAu0DKb8W29hvftlOWXD8bp2Pnk3FRa0keR7rEaFzcoPQPEeNkGgIqx6SsL94/oy/SnpKwv3j+jL9KD1bUw180ZFBzbO5j2uM2e/Do5cmnW7jpr4qm4DihxCmwqho5JaSCaKpzvuwzf3azDG15BaLvLnZgPVbpa692MY3gGOP3s0z8+UMJYaqLM3U5X7rLmGp0N+K5VmO7P1sMdO5wbHDYxZI54nREC12PjaHNNieB160Hv2JZNT1NdDLUz1O4ljYwyOaRlfE2UCzWjpjOWk9dhoF5sdxaogqJGsrKmNoIs1mDy1DW6DQStaQ/wAbrswfbDBMBj3VPLkaXOcfu53Oc4+s97nNLnOOmpJOiiNp+XGkwCeFsbTUwPa/eFocx7CCLECQAOFidNPFBb8Sw1+0eGvp94c89M5m8dEYjd7LZnRGxZqdW8RqFVpjWOrsKiqKeGB0bqkAxTmQlopnNeQ3I3JHfd8SdS0dV1bcFxyk23pTJA4yQyBzHXDozqLOb1EHXiD4FcsH2UpcDe6WJjjK5oaZJJZJn5b3yB8pcQ2+tgbaIM9xPC67Z+gpKCSGAtiq6NsUzZznkPOA5rmwlnReW5i7pdTjqpPGMFnwiojZBOxz3z1k9M3ddKIzB2/nldmIdFE2V5Ayguc+NpPttVBsXRYdKJ2RudIzNkMk0sojzaO3bZHODLgkaAaaKRiwqKGZ9SG/eyNYxzi4mzW3LWNB0a27nGwtcm5QVfYLHGObDStpzCySmFVA4y718sbngOfNoMsznSNe7VwJkOuiuaisH2XpcBcXQR5CWhmr3vDWAlwjjDyRGy5JytsNeClUBERAREQEREBERAREQEUZjO0tHs83NVVEUA6s7wCfBvE/ALNtoPtC0tOd3h8D6uQ6Nc4GNl+qzfXd4Wag1tzgwXOgCzLbflxpMCvDQ2rKngC03iaeGrh657m+YVV/RvaXlSN62TmNKbHIQYxbuhBzv/jI8Vo2xfJVh+xdnxs31QP86SxcP2BwZ8Ne8oKHsnyWVu2lQMSx1ziDYtgdo5w4hrmj8KP9QWJ1vbr2uKJsDQ1oDWtAAAFgANAABwFlzRAREQEREBZ3sZg1PjxxaGpiZNGcSqOi9uYeqzUew941WiKkcm34uK/vKo/KxBZtn8Ah2Zp2UtOC2JhflBcXEZnueRc6kXcVIWX1EHyyWX1EHxzQ7Q6rFdtOS+r2RqDimBFzbEufAzUt6zkbwfGeuPq6rjQbWiDM9heW2k2itDWWo6rh0jaJ54dFx9U/qu+BK0saqlba8kuH7Z3kc3cVB/zYwAXH/Ubwf46HvWetwXabkt/wzjXUjeDQDK0D/wAR+8j/AITbvQbvZLLJcA+0NSVNmV0ElK/gXNG9YPbcaPb4WK0TBdraHaIXpamKbua8Zh4sPSHkglrKExvYyi2jminqohM6EODGvN2DMQSSzg49EcbjuU4iDjHGIgGtAAAsABYAewBckRAREQEREBERARULbnliotjHOhAdUVLeMbeiGniM7yLD4BxTDeWnCJ4Y3TVTI5XMYZGCOUhjyAXNvl1sbhBfUVL9MeB++t+XL9Kz7lJ5RP7cmiZhmLNgpywiXSSLK4O45ms3huDaw0GXqug2nEMYp8IbmqJo4W+2SRrB/MQqbi/Lfg2FXDZ3VDh1Qxl38zrN/wCVkeHbMYFOd5X426V59YRwyg/Mka4n/aFcsJdsXhFiHxyuH/dMyaW/i1zcv/CDrq/tBVGKO3eG4c6R3UXl0jvlxD/6XTzHbDbP138xid+sKe3dZl5fNXil5V9n6FuSKqijaOAZBI0eTWWXd6Y8D99b8uX6UFSwb7O8ObeV9XJUPOrgwZAT7C92ZzvHorR8A2MoNlx/dKaOI8MwGZ58ZHXcfNQvpjwP31vy5fpT0x4H7635cv0oLoipfpjwP31vy5fpT0x4H7635cv0oLoipfpjwP31vy5fpT0x4H7635cv0oLoipfpjwP31vy5fpT0x4H7635cv0oLoipfpjwP31vy5fpT0x4H7635cv0oLoqRybfi4r+8qj8rFz9MeCe+t+XL9Kquw/KVhWEyYg6aqawT1000fQkOaNzWgO0bpwOh1Qa8ipfpjwP31vy5fpT0x4H7635cv0oLoipfpjwP31vy5fpT0x4H7635cv0oLoipfpjwP31vy5fpT0x4H7635cv0oLoipfpjwP31vy5fpT0x4H7635cv0oJrHdjKDab/ABVNHKe0W2ePB7bOHms9xn7OtHUEuo6mWmdxAcBK0eB6Lh5lWj0x4H7635cv0p6Y8D99b8uX6UFB/QrazZP/AAlZzlg4N3wdp7MlSLDwBX30t4/s1piGG52ji7dSRX/jbmZ5BX30x4H7635cv0p6Y8D99b8uX6UFawz7RlBUWFRBPAesjLK0fEFp/lVvwrlRwjGLCOtiBPVITCfC0uXVV7FNtNlMa/xDqaUnrdTPzfB2TMPNU/FsH2MxHWOrfTH/AE98R/tkY7/iyDeY5WygFpDgeBBuD8QuS/O+x5wzY2ujmixzPStzF8YjniLuiQ1rmtBY4ZiCeHDgtU9MeB++t+XL9KC6IqX6ZME99b8uX6VA0PL9QPqpIJgWwh9oqhoLmOb1F7CA5vjY/BBqSLrgnbUta9pu1wDgfaCLg+SIIvaPZKi2rZu6uBso/wC1xFnt/ZeOk3zXrw3CYsLhjgY27YmMjaXAEkNAaLm2psERB6ebs7LfIJzdnZb5BfEQfebs7LfIJzdnZb5BEQObs7LfIJzdnZb5BEQObs7LfIJzdnZb5BEQObs7LfIJzdnZb5BEQObs7LfIJzdnZb5BEQObs7LfIJzdnZb5BEQObs7LfIJzdnZb5BEQObs7LfIJzdnZb5BfEQfebs7LfIJzdnZb5BEQObs7LfIJzdnZb5BEQObs7LfIJzdnZb5BEQObs7LfIJzdnZb5BEQObs7LfIJzdnZb5BEQObs7LfIJzdnZb5BEQObs7LfIJzdnZb5BEQObs7LfIJzdnZb5BEQObs7LfIKBodgcPoaqStEDX1Ery8vf0sh9kYOjOHEC/eiILEiIg//Z"/>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0" name="AutoShape 113" descr="data:image/jpeg;base64,/9j/4AAQSkZJRgABAQAAAQABAAD/2wCEAAkGBhAGERUQEBIVERIUFhIWFhgXExoVGBYZGxgbFxcVGBgXJyYgGholGxUUHy8hLycpLC0sFyAyNTAqNScuLCoBCQoKBQUFDQUFDSkYEhgpKSkpKSkpKSkpKSkpKSkpKSkpKSkpKSkpKSkpKSkpKSkpKSkpKSkpKSkpKSkpKSkpKf/AABEIAKQBMwMBIgACEQEDEQH/xAAcAAEAAwADAQEAAAAAAAAAAAAABQYHAgMEAQj/xABGEAABAwIDAwgHBAcHBQEAAAABAAIDBBEFEiEGEzEHFCJBUmFxkRcyUVSBk9IIIzOyFmJydYKioxUkNENjkqEnQnPBwib/xAAUAQEAAAAAAAAAAAAAAAAAAAAA/8QAFBEBAAAAAAAAAAAAAAAAAAAAAP/aAAwDAQACEQMRAD8A3FERAREQEREBERAREQEREBERAREQEREHVVVLKJjpJHBrGNc5zjwDWi5J8ACs55K+VA7a1FXBL0SHulpwbA7nRuTvLeiT7c59i0Wso48QY6KVjZI3CzmuAc1w9hB0IWf8mGAUsFRiMjaeJr4cQqI4nCNodGzI0ZGEDot1Og9qDRkREBERAREQEREBERAREQEREBERAREQEREBERAREQEREBERAREQEREBERAREQEREBUjk2/FxX95VH5WKX2y22pdiIN9Uu1dcRxt1fIfY0ewaXJ0HxAOLbLctD8AkqZ3URdTVVXJM4h5uxzgOgHEZXEAA20v3IP0SijdntoafaiBtTTPD43fAtPWxw6nD2f+ioTG8arqCvpIgImUs0zoravlktC+QuJ0EYDm2AFybXuOCC2ooTGtr6bA37p+9klyGQshhfM5rOG8eGA5W3BFzxsbcF6cAx6LaOEVELZBG71TJGYy4WBDmh3FpvoUEkirkfKJhcrgwVkRcSGgXOpJsBw9q79sdoDs5TbxmQyvkihi3jsrM8jg0Oeepjblx7mnhxQTiKnUeMTwUtVURVsOLPiic5jIY2NtIGlwb905xIOlhx00JUZgu1lVJK0R1MWKRvppp5BFCIzTua0GNhLSfXdmYGO6XRJ6ig0RFnOBbfyhjnSSR1pfT0ckQia1h5zOZBzPQnhkDrnpNbmLtAr3hMU0MLBUPEk1vvHNblaXHUho6mi9h12Avqg9aIiAiIgIiICIiAiIgIiICIiAiIgIiICIiAiIgIiICIiAo3aLaCHZimkqqh1o4xfvceDWNHW4mwCklhfKfXS8oeLwYLTuIiicN6RqA+15Hn25GXA/WLh1oOjYzZyflhrn4piIPNGOyxx3OV1tRC3/AE23u49ZPebXjYPB4MRGLU0sTHQOxCoYY8oy5cjAAAOFtLW4WFleMJwuLBYY6eBoZFE0NaB1Ae32k8SesklZPh/KVR7ByYoJ875n4jUuZExurhlYLlx6LRce2/cUEFTvm5CsV3bi5+G1J4nXo3tm0/zI76+1p7xbSdp5qrEamjlpqKWohp5t9vGS04bKx8Dmgx55AeMg4gcDa+iqePbW4fymYORUvjp6o7ySJlnu3b2ucIxmy65mgA/t9y4cjXKbT0lEaSum3b6d1oy4OOaM6gaA+qcw8C1Bc5IqvA66erjpJKqOrhpRlZJE18MkQeMjxI5rcpD75gTYg6KW2JwWTZ+hip5cu8bvHODdWtL5HSZGnrDc+Ufsqm4ly70WFVpgc0yUxawiaO5LXG+YOY4AkDTUeRWi4ZicWMxMngfnikF2usRceBsUEPHs3WMcCcUqXAEEtMVNYi/DSO9upcNvcDkxymZuo2zSQT09Q2NxAbLu33dGS7QZmlw10va6sqIM6rcCr8Xkq6umhOHSPo200TXPjEkj95nMhMJc1lm3Y03v0idLBd2B4DJHW08tNQPwyKNkjanNJEecAttGy0T37xwec28dY6cTdX9EFDxrZqpx1lVO2PdPAfHSxAtYS0uG/mLho2WZrXMDr3awjUFzlM7F4a/Dm1BMJpYZJ88EDi0mJm6ja4WYXNYHSNkflBsM3UTZWNEBERAREQEREBERAREQEREBERAREQEREBERAREQEREBERBFbVY63Zmjnq38Io3OA7TuDG/FxaPisy+z9gDpm1GKz3dLO9zGOPEjNmlf/E+w/gKfaExt0jKbDIbmSd4e5o4kA5I29+Z5J/gWnbMYG3ZukgpGcIo2tJ9ruL3fFxcfiglFnWx2B020BxaGqhZNGcSqNHtvboM1B4tPeLFaKqRybfi4r+8qj8rEFl2ewCHZinZS04cIoy/KHOzEZnueRc8Rdxsscl/6fbVAjowVxF+oWmNj3aTtv4LdVkP2icFMlNT1zBZ8EmQkcQ1+rTfuewf70F/qthaHEKvn00Imnysa3edJrA29i1h0vrxNz7LKfGiitlcZG0NHT1Q/zYmOPc63THwcHD4KVQEREBERAREQEREBERAREQEREBERAREQEREBERAREQEREBERAREQERVvlE2h/RfDqioBs8MLI/8AyP6DLeBObwaUGXYD/wBQdqJKn1oKMks6xaL7uK3jITJ5rdVlv2ftnv7Mw91U4dOqeSD17tl2t/m3h+IWpICpHJt+Liv7yqPysV3VI5NvxcV/eVR+ViC7qB27wT9I8Oqaa13PicWftt6bP5mtU8iDKvs8Y3z6gkpXHpU0psPYyTpj+cSrVVhmwv8A+L2mqqH1Y6jeBg6tfv4vJpc34rYsbwaHHI93UZjEHB5aJHRh1gdH5CMzdb2OlwPYgkUWbbM4u3ZejraqJr5KM1IbQxl5OcOLIhu3PuWxOmJsfZc29szR49icVdDSVUVIxssckgdHJK4kMID2NzNHTGdh1ABBNuFkFwRRGN4pU4eWiClFQCCSTUMhynqFn8V34NXTV8ZdPAKdwcQGiVstxYdLMzQcTp3IJBFjGPSsw+nrKidtSzFop5pYpd3OQGNlvDke0boQboAEE21N9bKf2pwdhrJ6qsoKirptzT5HQygbvLvDNeMSMceLDo0+qUGkL5dZrtTRPxYCqp2ukp3UdOaScShjKRzXmR8787g5o3e7JcASRGWka2MlgO0FPiVYaioeWSyWipYnMflhjcN40PdbI2omaBJkJzBm7FuNwvKIiAiIgIiICIiAiIgIiICIiAiIgIiICIiAiIgLFeXrEn4zUUeEQavke17h+s87uIHwvIT4hbPLKIWlziA1oJJPAAaklYdyYxHb7HarFngmKEkx36i4GOEfCNrj42QbThGGswaCKnjFmRMZG3waAL+Ol160RAWd7G41T4AcWmqZWQxjEqjpPda5yM0HWT3C5WiLG6Dk0o9vZMUM2eOZmI1LWSMdq0ZWGxaei4X7ge9Bqez+Pw7TU7KqnJMTy/KXNLScr3MJsdQLtKkVQtl+SGiwilZDUsbPKwyXkDpGBwL3Fpyh1gcpaLd3XxUr6M8L92HzZfqQZxy5U7tncQocWjGrS1rrdqJ2doP7TXOHg1adtNgzts6RkcFRuY5DG9x3e8EsVs27cLtOR123sdQCOBKqHKXyYUX9mzyUsGSaFu9ac73aMN3iznEepmXg5H9nsO2rw1j5YA6aJz4pDvJBe3SYbB1h0HNHwKC7zbJTYnSyUlXUtexwi3RhpxAYXRuzMcBmcDZzWWGg6Nutd2F7NzsqG1dZUipkjjfFEGQCFjA8tMjyMzi57sjRe4AA0Gq6fRnhfuw+bL9SejPC/dh82X6kHZtqcMoIhVYlTxSxsc1mZ9O2YszuAvqCQ29r28l7tmRQGHNhwgEDzm+4axrC6wBJDLDNYAG+uiq21XI9RYzTmGmY2nkc6M7wukflaHAus0usTbRSuxHJvRbCNPNw98rhZ8j3El3XbKLNAv3X7yg54lstU444x1NW19GZA8wspxG94a7O2KSXMbsBAvZrSQOOpXbjWB12JukZFXNhglGUt5qHyMGUNcI5MwAvqblrrX06lYkQQFTskyaGmo2uy0kGQPjIzGZsYG7jc6/qZgHOFjmygaAm/nn2MM9SZd/aB1TFVui3fSM0cbY22lzaM+7Y4tyk3HEA2VnRAREQEREBERAREQEREBERAREQEREBERAREQERCbIM65ctqv0fw10LTaWrJib7QzjK7wykN/jCkeSPZb9FsMia5tpZvvpfaC8DK0+DA0W9t1nD3el3aEAdOho/9rmMdr47yTT9nwW9hAREQFSOTb8XFf3lUflYruqRybfi4r+8qj8rEF3REQcJYxM0tcLtIIIPWDoQsO5KZTsPjdXhEhIZIXbu/WWXfEf4onOPwC3RYry7YVJgdTSYzT6Pjexjz+sw54ie4jO0+AHWg2pF4cDxePH6eKpiN2Ssa8d1xq094Nwe8L3ICIiAih8b2uotnXBlTO2NxaX5bOcQ29s5DAS1twRmNhoVJ01SysY2SNwex4DmuabhwIuCCOIIQdqIiAi4ySCEFziGtAJJJsABqSSeAURhG2NDjship52yPylwFnDM0GxezMAHtv1i4QTKKEg21oKmfmzKhjpS5zANbF7fWY19srnDsg3Xog2lpKmc0rZmmZuYFuupbYvaHWyuc0OF2gki+oCCTReWjxOKvdIyN2cwv3clgbNfYOLc3AkBwvYm17GxXqQEREBERAREQEREBERAREQEREBZty2bdfo1Sc1hd/eqoFotxZGdHv7ifVHeSR6qs+2229NsNTmac3ebiKMHpSu9g9gGl3cB42BzLkx2TqNuqw47iQu3NmgYRYOcPVIB4RstZvtIv1G4Xfki2I/QyhG8bapntJN7W6dCL+EHXvc5XhEQEREBUjk2/FxX95VH5WK7rGqHlLpNgpMTEwfJM/EalzI2N4jKwXLz0Wi47z3INlRULZbldosXpWTVLxBK8yZo2sleGgPcGjMG2Jyhp+PUpb0lYX7x/Rl+lBZ1E7VbPx7U0k1JJoJWEA9lw1Y/4OAPwUd6SsL94/oy/SnpKwv3j+jL9KDPuQ3aSTB5ZsDq+hLG+R0QJ6wfvYx5Zx7buK2hYDytz0lZPFiuGTkVcZbvA2KRpOX1JQXNAu0DKb8W29hvftlOWXD8bp2Pnk3FRa0keR7rEaFzcoPQPEeNkGgIqx6SsL94/oy/SnpKwv3j+jL9KD1bUw180ZFBzbO5j2uM2e/Do5cmnW7jpr4qm4DihxCmwqho5JaSCaKpzvuwzf3azDG15BaLvLnZgPVbpa692MY3gGOP3s0z8+UMJYaqLM3U5X7rLmGp0N+K5VmO7P1sMdO5wbHDYxZI54nREC12PjaHNNieB160Hv2JZNT1NdDLUz1O4ljYwyOaRlfE2UCzWjpjOWk9dhoF5sdxaogqJGsrKmNoIs1mDy1DW6DQStaQ/wAbrswfbDBMBj3VPLkaXOcfu53Oc4+s97nNLnOOmpJOiiNp+XGkwCeFsbTUwPa/eFocx7CCLECQAOFidNPFBb8Sw1+0eGvp94c89M5m8dEYjd7LZnRGxZqdW8RqFVpjWOrsKiqKeGB0bqkAxTmQlopnNeQ3I3JHfd8SdS0dV1bcFxyk23pTJA4yQyBzHXDozqLOb1EHXiD4FcsH2UpcDe6WJjjK5oaZJJZJn5b3yB8pcQ2+tgbaIM9xPC67Z+gpKCSGAtiq6NsUzZznkPOA5rmwlnReW5i7pdTjqpPGMFnwiojZBOxz3z1k9M3ddKIzB2/nldmIdFE2V5Ayguc+NpPttVBsXRYdKJ2RudIzNkMk0sojzaO3bZHODLgkaAaaKRiwqKGZ9SG/eyNYxzi4mzW3LWNB0a27nGwtcm5QVfYLHGObDStpzCySmFVA4y718sbngOfNoMsznSNe7VwJkOuiuaisH2XpcBcXQR5CWhmr3vDWAlwjjDyRGy5JytsNeClUBERAREQEREBERAREQEUZjO0tHs83NVVEUA6s7wCfBvE/ALNtoPtC0tOd3h8D6uQ6Nc4GNl+qzfXd4Wag1tzgwXOgCzLbflxpMCvDQ2rKngC03iaeGrh657m+YVV/RvaXlSN62TmNKbHIQYxbuhBzv/jI8Vo2xfJVh+xdnxs31QP86SxcP2BwZ8Ne8oKHsnyWVu2lQMSx1ziDYtgdo5w4hrmj8KP9QWJ1vbr2uKJsDQ1oDWtAAAFgANAABwFlzRAREQEREBZ3sZg1PjxxaGpiZNGcSqOi9uYeqzUew941WiKkcm34uK/vKo/KxBZtn8Ah2Zp2UtOC2JhflBcXEZnueRc6kXcVIWX1EHyyWX1EHxzQ7Q6rFdtOS+r2RqDimBFzbEufAzUt6zkbwfGeuPq6rjQbWiDM9heW2k2itDWWo6rh0jaJ54dFx9U/qu+BK0saqlba8kuH7Z3kc3cVB/zYwAXH/Ubwf46HvWetwXabkt/wzjXUjeDQDK0D/wAR+8j/AITbvQbvZLLJcA+0NSVNmV0ElK/gXNG9YPbcaPb4WK0TBdraHaIXpamKbua8Zh4sPSHkglrKExvYyi2jminqohM6EODGvN2DMQSSzg49EcbjuU4iDjHGIgGtAAAsABYAewBckRAREQEREBERARULbnliotjHOhAdUVLeMbeiGniM7yLD4BxTDeWnCJ4Y3TVTI5XMYZGCOUhjyAXNvl1sbhBfUVL9MeB++t+XL9Kz7lJ5RP7cmiZhmLNgpywiXSSLK4O45ms3huDaw0GXqug2nEMYp8IbmqJo4W+2SRrB/MQqbi/Lfg2FXDZ3VDh1Qxl38zrN/wCVkeHbMYFOd5X426V59YRwyg/Mka4n/aFcsJdsXhFiHxyuH/dMyaW/i1zcv/CDrq/tBVGKO3eG4c6R3UXl0jvlxD/6XTzHbDbP138xid+sKe3dZl5fNXil5V9n6FuSKqijaOAZBI0eTWWXd6Y8D99b8uX6UFSwb7O8ObeV9XJUPOrgwZAT7C92ZzvHorR8A2MoNlx/dKaOI8MwGZ58ZHXcfNQvpjwP31vy5fpT0x4H7635cv0oLoipfpjwP31vy5fpT0x4H7635cv0oLoipfpjwP31vy5fpT0x4H7635cv0oLoipfpjwP31vy5fpT0x4H7635cv0oLoipfpjwP31vy5fpT0x4H7635cv0oLoqRybfi4r+8qj8rFz9MeCe+t+XL9Kquw/KVhWEyYg6aqawT1000fQkOaNzWgO0bpwOh1Qa8ipfpjwP31vy5fpT0x4H7635cv0oLoipfpjwP31vy5fpT0x4H7635cv0oLoipfpjwP31vy5fpT0x4H7635cv0oLoipfpjwP31vy5fpT0x4H7635cv0oJrHdjKDab/ABVNHKe0W2ePB7bOHms9xn7OtHUEuo6mWmdxAcBK0eB6Lh5lWj0x4H7635cv0p6Y8D99b8uX6UFB/QrazZP/AAlZzlg4N3wdp7MlSLDwBX30t4/s1piGG52ji7dSRX/jbmZ5BX30x4H7635cv0p6Y8D99b8uX6UFawz7RlBUWFRBPAesjLK0fEFp/lVvwrlRwjGLCOtiBPVITCfC0uXVV7FNtNlMa/xDqaUnrdTPzfB2TMPNU/FsH2MxHWOrfTH/AE98R/tkY7/iyDeY5WygFpDgeBBuD8QuS/O+x5wzY2ujmixzPStzF8YjniLuiQ1rmtBY4ZiCeHDgtU9MeB++t+XL9KC6IqX6ZME99b8uX6VA0PL9QPqpIJgWwh9oqhoLmOb1F7CA5vjY/BBqSLrgnbUta9pu1wDgfaCLg+SIIvaPZKi2rZu6uBso/wC1xFnt/ZeOk3zXrw3CYsLhjgY27YmMjaXAEkNAaLm2psERB6ebs7LfIJzdnZb5BfEQfebs7LfIJzdnZb5BEQObs7LfIJzdnZb5BEQObs7LfIJzdnZb5BEQObs7LfIJzdnZb5BEQObs7LfIJzdnZb5BEQObs7LfIJzdnZb5BEQObs7LfIJzdnZb5BEQObs7LfIJzdnZb5BfEQfebs7LfIJzdnZb5BEQObs7LfIJzdnZb5BEQObs7LfIJzdnZb5BEQObs7LfIJzdnZb5BEQObs7LfIJzdnZb5BEQObs7LfIJzdnZb5BEQObs7LfIJzdnZb5BEQObs7LfIJzdnZb5BEQObs7LfIKBodgcPoaqStEDX1Ery8vf0sh9kYOjOHEC/eiILEiIg//Z"/>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Tree>
    <p:extLst>
      <p:ext uri="{BB962C8B-B14F-4D97-AF65-F5344CB8AC3E}">
        <p14:creationId xmlns:p14="http://schemas.microsoft.com/office/powerpoint/2010/main" val="218300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7"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619672" y="2348880"/>
            <a:ext cx="5770984" cy="3384376"/>
          </a:xfrm>
          <a:prstGeom prst="bracketPair">
            <a:avLst/>
          </a:prstGeom>
          <a:ln w="28575"/>
        </p:spPr>
        <p:style>
          <a:lnRef idx="1">
            <a:schemeClr val="accent1"/>
          </a:lnRef>
          <a:fillRef idx="0">
            <a:schemeClr val="accent1"/>
          </a:fillRef>
          <a:effectRef idx="0">
            <a:schemeClr val="accent1"/>
          </a:effectRef>
          <a:fontRef idx="minor">
            <a:schemeClr val="tx1"/>
          </a:fontRef>
        </p:style>
        <p:txBody>
          <a:bodyPr rtlCol="1" anchor="ctr"/>
          <a:lstStyle/>
          <a:p>
            <a:endParaRPr lang="he-IL" dirty="0"/>
          </a:p>
        </p:txBody>
      </p:sp>
      <p:cxnSp>
        <p:nvCxnSpPr>
          <p:cNvPr id="5" name="Straight Connector 4"/>
          <p:cNvCxnSpPr/>
          <p:nvPr/>
        </p:nvCxnSpPr>
        <p:spPr>
          <a:xfrm flipH="1">
            <a:off x="2987824" y="2568678"/>
            <a:ext cx="10557" cy="309257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051720" y="3196542"/>
            <a:ext cx="4968552"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048" y="2568678"/>
            <a:ext cx="523584" cy="461665"/>
          </a:xfrm>
          <a:prstGeom prst="rect">
            <a:avLst/>
          </a:prstGeom>
          <a:noFill/>
        </p:spPr>
        <p:txBody>
          <a:bodyPr wrap="square" rtlCol="1">
            <a:spAutoFit/>
          </a:bodyPr>
          <a:lstStyle/>
          <a:p>
            <a:r>
              <a:rPr lang="en-US" sz="2400" dirty="0">
                <a:latin typeface="cmmi10" panose="020B0500000000000000" pitchFamily="34" charset="0"/>
              </a:rPr>
              <a:t>k</a:t>
            </a:r>
            <a:endParaRPr lang="he-IL" sz="2400" dirty="0">
              <a:latin typeface="cmmi10" panose="020B0500000000000000" pitchFamily="34" charset="0"/>
            </a:endParaRPr>
          </a:p>
        </p:txBody>
      </p:sp>
      <p:sp>
        <p:nvSpPr>
          <p:cNvPr id="17" name="TextBox 16"/>
          <p:cNvSpPr txBox="1"/>
          <p:nvPr/>
        </p:nvSpPr>
        <p:spPr>
          <a:xfrm>
            <a:off x="2267744" y="1772816"/>
            <a:ext cx="360040" cy="461665"/>
          </a:xfrm>
          <a:prstGeom prst="rect">
            <a:avLst/>
          </a:prstGeom>
          <a:noFill/>
        </p:spPr>
        <p:txBody>
          <a:bodyPr wrap="square" rtlCol="1">
            <a:spAutoFit/>
          </a:bodyPr>
          <a:lstStyle/>
          <a:p>
            <a:r>
              <a:rPr lang="en-US" sz="2400" dirty="0">
                <a:latin typeface="cmmi10" panose="020B0500000000000000" pitchFamily="34" charset="0"/>
              </a:rPr>
              <a:t>k</a:t>
            </a:r>
            <a:endParaRPr lang="he-IL" dirty="0">
              <a:latin typeface="cmmi10" panose="020B0500000000000000" pitchFamily="34" charset="0"/>
            </a:endParaRPr>
          </a:p>
        </p:txBody>
      </p:sp>
      <p:sp>
        <p:nvSpPr>
          <p:cNvPr id="18" name="TextBox 17"/>
          <p:cNvSpPr txBox="1"/>
          <p:nvPr/>
        </p:nvSpPr>
        <p:spPr>
          <a:xfrm>
            <a:off x="107504" y="4211796"/>
            <a:ext cx="1257089" cy="461665"/>
          </a:xfrm>
          <a:prstGeom prst="rect">
            <a:avLst/>
          </a:prstGeom>
          <a:noFill/>
        </p:spPr>
        <p:txBody>
          <a:bodyPr wrap="square" rtlCol="1">
            <a:spAutoFit/>
          </a:bodyPr>
          <a:lstStyle/>
          <a:p>
            <a:r>
              <a:rPr lang="en-US" sz="2400" dirty="0">
                <a:latin typeface="cmmi10" panose="020B0500000000000000" pitchFamily="34" charset="0"/>
              </a:rPr>
              <a:t>p</a:t>
            </a:r>
            <a:r>
              <a:rPr lang="en-US" sz="2400" dirty="0">
                <a:latin typeface="cmr10" panose="020B0500000000000000" pitchFamily="34" charset="0"/>
              </a:rPr>
              <a:t>-</a:t>
            </a:r>
            <a:r>
              <a:rPr lang="en-US" sz="2400" dirty="0">
                <a:latin typeface="cmmi10" panose="020B0500000000000000" pitchFamily="34" charset="0"/>
              </a:rPr>
              <a:t>k</a:t>
            </a:r>
            <a:endParaRPr lang="he-IL" sz="2400" dirty="0">
              <a:latin typeface="cmmi10" panose="020B0500000000000000" pitchFamily="34" charset="0"/>
            </a:endParaRPr>
          </a:p>
        </p:txBody>
      </p:sp>
      <p:sp>
        <p:nvSpPr>
          <p:cNvPr id="19" name="TextBox 18"/>
          <p:cNvSpPr txBox="1"/>
          <p:nvPr/>
        </p:nvSpPr>
        <p:spPr>
          <a:xfrm>
            <a:off x="4716017" y="1772816"/>
            <a:ext cx="792088" cy="461665"/>
          </a:xfrm>
          <a:prstGeom prst="rect">
            <a:avLst/>
          </a:prstGeom>
          <a:noFill/>
        </p:spPr>
        <p:txBody>
          <a:bodyPr wrap="square" rtlCol="1">
            <a:spAutoFit/>
          </a:bodyPr>
          <a:lstStyle/>
          <a:p>
            <a:r>
              <a:rPr lang="en-US" sz="2400" dirty="0">
                <a:latin typeface="cmmi10" panose="020B0500000000000000" pitchFamily="34" charset="0"/>
              </a:rPr>
              <a:t>p</a:t>
            </a:r>
            <a:r>
              <a:rPr lang="en-US" sz="2400" dirty="0">
                <a:latin typeface="cmr10" panose="020B0500000000000000" pitchFamily="34" charset="0"/>
              </a:rPr>
              <a:t>-</a:t>
            </a:r>
            <a:r>
              <a:rPr lang="en-US" sz="2400" dirty="0">
                <a:latin typeface="cmmi10" panose="020B0500000000000000" pitchFamily="34" charset="0"/>
              </a:rPr>
              <a:t>k</a:t>
            </a:r>
            <a:endParaRPr lang="he-IL" sz="2800" dirty="0">
              <a:latin typeface="cmmi10" panose="020B0500000000000000" pitchFamily="34" charset="0"/>
            </a:endParaRPr>
          </a:p>
        </p:txBody>
      </p:sp>
      <p:sp>
        <p:nvSpPr>
          <p:cNvPr id="20" name="TextBox 19"/>
          <p:cNvSpPr txBox="1"/>
          <p:nvPr/>
        </p:nvSpPr>
        <p:spPr>
          <a:xfrm>
            <a:off x="1259632" y="2568678"/>
            <a:ext cx="1584176" cy="461665"/>
          </a:xfrm>
          <a:prstGeom prst="rect">
            <a:avLst/>
          </a:prstGeom>
          <a:noFill/>
        </p:spPr>
        <p:txBody>
          <a:bodyPr wrap="square" rtlCol="1">
            <a:spAutoFit/>
          </a:bodyPr>
          <a:lstStyle/>
          <a:p>
            <a:r>
              <a:rPr lang="en-US" sz="2400" dirty="0"/>
              <a:t>signal</a:t>
            </a:r>
            <a:endParaRPr lang="he-IL" dirty="0"/>
          </a:p>
        </p:txBody>
      </p:sp>
      <p:sp>
        <p:nvSpPr>
          <p:cNvPr id="21" name="TextBox 20"/>
          <p:cNvSpPr txBox="1"/>
          <p:nvPr/>
        </p:nvSpPr>
        <p:spPr>
          <a:xfrm>
            <a:off x="1475656" y="4180438"/>
            <a:ext cx="1368152" cy="461665"/>
          </a:xfrm>
          <a:prstGeom prst="rect">
            <a:avLst/>
          </a:prstGeom>
          <a:noFill/>
        </p:spPr>
        <p:txBody>
          <a:bodyPr wrap="square" rtlCol="1">
            <a:spAutoFit/>
          </a:bodyPr>
          <a:lstStyle/>
          <a:p>
            <a:r>
              <a:rPr lang="en-US" sz="2400" dirty="0"/>
              <a:t>mixed</a:t>
            </a:r>
            <a:endParaRPr lang="he-IL" dirty="0"/>
          </a:p>
        </p:txBody>
      </p:sp>
      <p:sp>
        <p:nvSpPr>
          <p:cNvPr id="22" name="TextBox 21"/>
          <p:cNvSpPr txBox="1"/>
          <p:nvPr/>
        </p:nvSpPr>
        <p:spPr>
          <a:xfrm>
            <a:off x="3851920" y="2568678"/>
            <a:ext cx="1800200" cy="461665"/>
          </a:xfrm>
          <a:prstGeom prst="rect">
            <a:avLst/>
          </a:prstGeom>
          <a:noFill/>
        </p:spPr>
        <p:txBody>
          <a:bodyPr wrap="square" rtlCol="1">
            <a:spAutoFit/>
          </a:bodyPr>
          <a:lstStyle/>
          <a:p>
            <a:r>
              <a:rPr lang="en-US" sz="2400" dirty="0"/>
              <a:t>mixed</a:t>
            </a:r>
            <a:endParaRPr lang="he-IL" dirty="0"/>
          </a:p>
        </p:txBody>
      </p:sp>
      <p:sp>
        <p:nvSpPr>
          <p:cNvPr id="23" name="TextBox 22"/>
          <p:cNvSpPr txBox="1"/>
          <p:nvPr/>
        </p:nvSpPr>
        <p:spPr>
          <a:xfrm>
            <a:off x="2843808" y="4213072"/>
            <a:ext cx="2865067" cy="461665"/>
          </a:xfrm>
          <a:prstGeom prst="rect">
            <a:avLst/>
          </a:prstGeom>
          <a:noFill/>
        </p:spPr>
        <p:txBody>
          <a:bodyPr wrap="square" rtlCol="1">
            <a:spAutoFit/>
          </a:bodyPr>
          <a:lstStyle/>
          <a:p>
            <a:r>
              <a:rPr lang="en-US" sz="2400" dirty="0"/>
              <a:t>NOISE</a:t>
            </a:r>
            <a:endParaRPr lang="he-IL" dirty="0"/>
          </a:p>
        </p:txBody>
      </p:sp>
      <p:sp>
        <p:nvSpPr>
          <p:cNvPr id="13" name="Title 1"/>
          <p:cNvSpPr>
            <a:spLocks noGrp="1"/>
          </p:cNvSpPr>
          <p:nvPr>
            <p:ph type="title"/>
          </p:nvPr>
        </p:nvSpPr>
        <p:spPr>
          <a:xfrm>
            <a:off x="457200" y="274638"/>
            <a:ext cx="8229600" cy="1143000"/>
          </a:xfrm>
        </p:spPr>
        <p:txBody>
          <a:bodyPr/>
          <a:lstStyle/>
          <a:p>
            <a:r>
              <a:rPr lang="en-US" dirty="0"/>
              <a:t>Covariance Matrix</a:t>
            </a:r>
            <a:endParaRPr lang="he-IL" dirty="0"/>
          </a:p>
        </p:txBody>
      </p:sp>
    </p:spTree>
    <p:extLst>
      <p:ext uri="{BB962C8B-B14F-4D97-AF65-F5344CB8AC3E}">
        <p14:creationId xmlns:p14="http://schemas.microsoft.com/office/powerpoint/2010/main" val="5107203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Questions of interest</a:t>
            </a:r>
            <a:endParaRPr lang="he-IL" dirty="0"/>
          </a:p>
        </p:txBody>
      </p:sp>
      <p:sp>
        <p:nvSpPr>
          <p:cNvPr id="3" name="Content Placeholder 2"/>
          <p:cNvSpPr>
            <a:spLocks noGrp="1"/>
          </p:cNvSpPr>
          <p:nvPr>
            <p:ph idx="1"/>
          </p:nvPr>
        </p:nvSpPr>
        <p:spPr>
          <a:xfrm>
            <a:off x="457200" y="1600200"/>
            <a:ext cx="8229600" cy="5069160"/>
          </a:xfrm>
        </p:spPr>
        <p:txBody>
          <a:bodyPr>
            <a:normAutofit/>
          </a:bodyPr>
          <a:lstStyle/>
          <a:p>
            <a:pPr marL="0" indent="0" algn="l" rtl="0">
              <a:buNone/>
            </a:pPr>
            <a:r>
              <a:rPr lang="en-US" sz="2800" dirty="0">
                <a:solidFill>
                  <a:srgbClr val="FF0000"/>
                </a:solidFill>
              </a:rPr>
              <a:t>Information limit:</a:t>
            </a:r>
          </a:p>
          <a:p>
            <a:pPr algn="l" rtl="0"/>
            <a:endParaRPr lang="en-US" sz="2800" dirty="0"/>
          </a:p>
          <a:p>
            <a:pPr algn="l" rtl="0"/>
            <a:endParaRPr lang="en-US" sz="2800" dirty="0"/>
          </a:p>
          <a:p>
            <a:pPr algn="l" rtl="0"/>
            <a:endParaRPr lang="en-US" sz="2800" dirty="0"/>
          </a:p>
          <a:p>
            <a:pPr marL="0" indent="0" algn="l" rtl="0">
              <a:buNone/>
            </a:pPr>
            <a:r>
              <a:rPr lang="en-US" sz="2800" dirty="0">
                <a:solidFill>
                  <a:srgbClr val="FF0000"/>
                </a:solidFill>
              </a:rPr>
              <a:t>Computational limit:</a:t>
            </a:r>
          </a:p>
          <a:p>
            <a:pPr algn="l" rtl="0"/>
            <a:endParaRPr lang="en-US" sz="2800" dirty="0"/>
          </a:p>
          <a:p>
            <a:pPr algn="l" rtl="0"/>
            <a:endParaRPr lang="en-US" sz="2800" dirty="0"/>
          </a:p>
          <a:p>
            <a:pPr algn="l" rtl="0"/>
            <a:endParaRPr lang="en-US" sz="2800" dirty="0"/>
          </a:p>
          <a:p>
            <a:pPr marL="0" indent="0" algn="l" rtl="0">
              <a:buNone/>
            </a:pPr>
            <a:endParaRPr lang="en-US" sz="2800" dirty="0"/>
          </a:p>
          <a:p>
            <a:pPr algn="l" rtl="0"/>
            <a:endParaRPr lang="en-US" sz="2800" dirty="0"/>
          </a:p>
          <a:p>
            <a:pPr algn="l" rtl="0"/>
            <a:endParaRPr lang="en-US" sz="2800" dirty="0"/>
          </a:p>
          <a:p>
            <a:pPr algn="l" rtl="0"/>
            <a:endParaRPr lang="en-US" sz="2800" dirty="0"/>
          </a:p>
          <a:p>
            <a:pPr algn="l" rtl="0"/>
            <a:endParaRPr lang="en-US" sz="2800" dirty="0"/>
          </a:p>
        </p:txBody>
      </p:sp>
      <p:sp>
        <p:nvSpPr>
          <p:cNvPr id="4" name="Rounded Rectangle 3"/>
          <p:cNvSpPr/>
          <p:nvPr/>
        </p:nvSpPr>
        <p:spPr>
          <a:xfrm>
            <a:off x="755576" y="2276872"/>
            <a:ext cx="7666727" cy="108012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rtl="0"/>
            <a:r>
              <a:rPr lang="en-US" sz="2400" dirty="0"/>
              <a:t>Up to what </a:t>
            </a:r>
            <a:r>
              <a:rPr lang="en-US" sz="2400" dirty="0" err="1"/>
              <a:t>sparsity</a:t>
            </a:r>
            <a:r>
              <a:rPr lang="en-US" sz="2400" dirty="0"/>
              <a:t> level </a:t>
            </a:r>
            <a:r>
              <a:rPr lang="en-US" sz="2400" dirty="0">
                <a:latin typeface="cmmi10" pitchFamily="34" charset="0"/>
              </a:rPr>
              <a:t>k</a:t>
            </a:r>
            <a:r>
              <a:rPr lang="en-US" sz="2400" dirty="0"/>
              <a:t> can one recover the planted spike?</a:t>
            </a:r>
            <a:endParaRPr lang="he-IL" sz="2400" dirty="0"/>
          </a:p>
        </p:txBody>
      </p:sp>
      <p:sp>
        <p:nvSpPr>
          <p:cNvPr id="8" name="Rounded Rectangle 7"/>
          <p:cNvSpPr/>
          <p:nvPr/>
        </p:nvSpPr>
        <p:spPr>
          <a:xfrm>
            <a:off x="743626" y="4581128"/>
            <a:ext cx="7666727" cy="108012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rtl="0"/>
            <a:r>
              <a:rPr lang="en-US" sz="2600" dirty="0"/>
              <a:t>Up to what </a:t>
            </a:r>
            <a:r>
              <a:rPr lang="en-US" sz="2600" dirty="0" err="1"/>
              <a:t>sparsity</a:t>
            </a:r>
            <a:r>
              <a:rPr lang="en-US" sz="2600" dirty="0"/>
              <a:t> level </a:t>
            </a:r>
            <a:r>
              <a:rPr lang="en-US" sz="2600" dirty="0">
                <a:latin typeface="cmmi10" pitchFamily="34" charset="0"/>
              </a:rPr>
              <a:t>k</a:t>
            </a:r>
            <a:r>
              <a:rPr lang="en-US" sz="2600" dirty="0"/>
              <a:t> can one </a:t>
            </a:r>
            <a:r>
              <a:rPr lang="en-US" sz="2600" dirty="0">
                <a:solidFill>
                  <a:srgbClr val="FF0000"/>
                </a:solidFill>
              </a:rPr>
              <a:t>efficiently</a:t>
            </a:r>
            <a:r>
              <a:rPr lang="en-US" sz="2600" dirty="0"/>
              <a:t> recover the planted spike?</a:t>
            </a:r>
            <a:endParaRPr lang="he-IL" sz="2600" dirty="0"/>
          </a:p>
        </p:txBody>
      </p:sp>
      <mc:AlternateContent xmlns:mc="http://schemas.openxmlformats.org/markup-compatibility/2006" xmlns:a14="http://schemas.microsoft.com/office/drawing/2010/main">
        <mc:Choice Requires="a14">
          <p:sp>
            <p:nvSpPr>
              <p:cNvPr id="6" name="Rounded Rectangle 5"/>
              <p:cNvSpPr/>
              <p:nvPr/>
            </p:nvSpPr>
            <p:spPr>
              <a:xfrm>
                <a:off x="793705" y="3933056"/>
                <a:ext cx="7666727" cy="1584176"/>
              </a:xfrm>
              <a:prstGeom prst="roundRect">
                <a:avLst/>
              </a:prstGeom>
            </p:spPr>
            <p:style>
              <a:lnRef idx="1">
                <a:schemeClr val="dk1"/>
              </a:lnRef>
              <a:fillRef idx="1001">
                <a:schemeClr val="lt2"/>
              </a:fillRef>
              <a:effectRef idx="1">
                <a:schemeClr val="dk1"/>
              </a:effectRef>
              <a:fontRef idx="minor">
                <a:schemeClr val="dk1"/>
              </a:fontRef>
            </p:style>
            <p:txBody>
              <a:bodyPr rtlCol="1" anchor="ctr"/>
              <a:lstStyle/>
              <a:p>
                <a:pPr algn="l" rtl="0">
                  <a:spcBef>
                    <a:spcPts val="600"/>
                  </a:spcBef>
                  <a:spcAft>
                    <a:spcPts val="600"/>
                  </a:spcAft>
                </a:pPr>
                <a:r>
                  <a:rPr lang="en-US" sz="2800" dirty="0"/>
                  <a:t>Theorem [</a:t>
                </a:r>
                <a:r>
                  <a:rPr lang="en-US" sz="2800" dirty="0" err="1"/>
                  <a:t>Amini</a:t>
                </a:r>
                <a:r>
                  <a:rPr lang="en-US" sz="2800" dirty="0"/>
                  <a:t> &amp; Wainwright, Annals of Stat 09] </a:t>
                </a:r>
              </a:p>
              <a:p>
                <a:pPr algn="l" rtl="0">
                  <a:spcBef>
                    <a:spcPts val="600"/>
                  </a:spcBef>
                  <a:spcAft>
                    <a:spcPts val="600"/>
                  </a:spcAft>
                </a:pPr>
                <a:r>
                  <a:rPr lang="en-US" sz="2800" dirty="0">
                    <a:solidFill>
                      <a:schemeClr val="tx1"/>
                    </a:solidFill>
                  </a:rPr>
                  <a:t>For </a:t>
                </a:r>
                <a14:m>
                  <m:oMath xmlns:m="http://schemas.openxmlformats.org/officeDocument/2006/math">
                    <m:r>
                      <a:rPr lang="en-US" sz="2800" b="0" i="1" smtClean="0">
                        <a:solidFill>
                          <a:schemeClr val="tx1"/>
                        </a:solidFill>
                        <a:latin typeface="Cambria Math"/>
                      </a:rPr>
                      <m:t>𝑘</m:t>
                    </m:r>
                    <m:r>
                      <a:rPr lang="en-US" sz="2800" b="0" i="1" smtClean="0">
                        <a:solidFill>
                          <a:schemeClr val="tx1"/>
                        </a:solidFill>
                        <a:latin typeface="Cambria Math"/>
                        <a:ea typeface="Cambria Math"/>
                      </a:rPr>
                      <m:t>≥</m:t>
                    </m:r>
                    <m:r>
                      <a:rPr lang="en-US" sz="2800" b="0" i="1" smtClean="0">
                        <a:solidFill>
                          <a:schemeClr val="tx1"/>
                        </a:solidFill>
                        <a:latin typeface="Cambria Math"/>
                        <a:ea typeface="Cambria Math"/>
                      </a:rPr>
                      <m:t>𝑛</m:t>
                    </m:r>
                    <m:r>
                      <a:rPr lang="en-US" sz="2800" b="0" i="1" smtClean="0">
                        <a:solidFill>
                          <a:schemeClr val="tx1"/>
                        </a:solidFill>
                        <a:latin typeface="Cambria Math"/>
                        <a:ea typeface="Cambria Math"/>
                      </a:rPr>
                      <m:t>/</m:t>
                    </m:r>
                    <m:func>
                      <m:funcPr>
                        <m:ctrlPr>
                          <a:rPr lang="en-US" sz="2800" b="0" i="1" smtClean="0">
                            <a:solidFill>
                              <a:schemeClr val="tx1"/>
                            </a:solidFill>
                            <a:latin typeface="Cambria Math" panose="02040503050406030204" pitchFamily="18" charset="0"/>
                            <a:ea typeface="Cambria Math"/>
                          </a:rPr>
                        </m:ctrlPr>
                      </m:funcPr>
                      <m:fName>
                        <m:r>
                          <m:rPr>
                            <m:sty m:val="p"/>
                          </m:rPr>
                          <a:rPr lang="en-US" sz="2800" b="0" i="0" smtClean="0">
                            <a:solidFill>
                              <a:schemeClr val="tx1"/>
                            </a:solidFill>
                            <a:latin typeface="Cambria Math"/>
                            <a:ea typeface="Cambria Math"/>
                          </a:rPr>
                          <m:t>log</m:t>
                        </m:r>
                      </m:fName>
                      <m:e>
                        <m:r>
                          <a:rPr lang="en-US" sz="2800" b="0" i="1" smtClean="0">
                            <a:solidFill>
                              <a:schemeClr val="tx1"/>
                            </a:solidFill>
                            <a:latin typeface="Cambria Math"/>
                            <a:ea typeface="Cambria Math"/>
                          </a:rPr>
                          <m:t>𝑝</m:t>
                        </m:r>
                      </m:e>
                    </m:func>
                  </m:oMath>
                </a14:m>
                <a:r>
                  <a:rPr lang="en-US" sz="2800" dirty="0">
                    <a:solidFill>
                      <a:schemeClr val="tx1"/>
                    </a:solidFill>
                  </a:rPr>
                  <a:t>, no algorithm recovers the support of </a:t>
                </a:r>
                <a14:m>
                  <m:oMath xmlns:m="http://schemas.openxmlformats.org/officeDocument/2006/math">
                    <m:r>
                      <a:rPr lang="en-US" sz="2800" b="0" i="1" smtClean="0">
                        <a:solidFill>
                          <a:schemeClr val="tx1"/>
                        </a:solidFill>
                        <a:latin typeface="Cambria Math"/>
                      </a:rPr>
                      <m:t>𝑧</m:t>
                    </m:r>
                  </m:oMath>
                </a14:m>
                <a:r>
                  <a:rPr lang="en-US" sz="2800" dirty="0">
                    <a:solidFill>
                      <a:schemeClr val="tx1"/>
                    </a:solidFill>
                  </a:rPr>
                  <a:t> </a:t>
                </a:r>
                <a:r>
                  <a:rPr lang="en-US" sz="2800" dirty="0" err="1">
                    <a:solidFill>
                      <a:schemeClr val="tx1"/>
                    </a:solidFill>
                  </a:rPr>
                  <a:t>w.p</a:t>
                </a:r>
                <a:r>
                  <a:rPr lang="en-US" sz="2800" dirty="0">
                    <a:solidFill>
                      <a:schemeClr val="tx1"/>
                    </a:solidFill>
                  </a:rPr>
                  <a:t>. better than 1/2</a:t>
                </a:r>
                <a:endParaRPr lang="en-US" sz="2800" dirty="0">
                  <a:solidFill>
                    <a:schemeClr val="tx1"/>
                  </a:solidFill>
                  <a:latin typeface="cmmi10" pitchFamily="34" charset="0"/>
                </a:endParaRPr>
              </a:p>
            </p:txBody>
          </p:sp>
        </mc:Choice>
        <mc:Fallback xmlns="">
          <p:sp>
            <p:nvSpPr>
              <p:cNvPr id="6" name="Rounded Rectangle 5"/>
              <p:cNvSpPr>
                <a:spLocks noRot="1" noChangeAspect="1" noMove="1" noResize="1" noEditPoints="1" noAdjustHandles="1" noChangeArrowheads="1" noChangeShapeType="1" noTextEdit="1"/>
              </p:cNvSpPr>
              <p:nvPr/>
            </p:nvSpPr>
            <p:spPr>
              <a:xfrm>
                <a:off x="793705" y="3933056"/>
                <a:ext cx="7666727" cy="1584176"/>
              </a:xfrm>
              <a:prstGeom prst="round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1814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 grpId="1"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4928" y="188640"/>
            <a:ext cx="8229600" cy="1143000"/>
          </a:xfrm>
        </p:spPr>
        <p:txBody>
          <a:bodyPr/>
          <a:lstStyle/>
          <a:p>
            <a:r>
              <a:rPr lang="en-US" dirty="0"/>
              <a:t>Naïve Approach </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79301"/>
                <a:ext cx="8229600" cy="4525963"/>
              </a:xfrm>
            </p:spPr>
            <p:txBody>
              <a:bodyPr>
                <a:normAutofit/>
              </a:bodyPr>
              <a:lstStyle/>
              <a:p>
                <a:pPr algn="l" rtl="0"/>
                <a:r>
                  <a:rPr lang="en-US" sz="2800" dirty="0"/>
                  <a:t>Go over all </a:t>
                </a:r>
                <a14:m>
                  <m:oMath xmlns:m="http://schemas.openxmlformats.org/officeDocument/2006/math">
                    <m:r>
                      <a:rPr lang="en-US" sz="2800" b="0" i="1" smtClean="0">
                        <a:latin typeface="Cambria Math"/>
                      </a:rPr>
                      <m:t>𝑘</m:t>
                    </m:r>
                    <m:r>
                      <a:rPr lang="en-US" sz="2800" b="0" i="1" smtClean="0">
                        <a:latin typeface="Cambria Math"/>
                        <a:ea typeface="Cambria Math"/>
                      </a:rPr>
                      <m:t>×</m:t>
                    </m:r>
                    <m:r>
                      <a:rPr lang="en-US" sz="2800" b="0" i="1" smtClean="0">
                        <a:latin typeface="Cambria Math"/>
                        <a:ea typeface="Cambria Math"/>
                      </a:rPr>
                      <m:t>𝑘</m:t>
                    </m:r>
                    <m:r>
                      <a:rPr lang="en-US" sz="2800" b="0" i="1" smtClean="0">
                        <a:latin typeface="Cambria Math"/>
                        <a:ea typeface="Cambria Math"/>
                      </a:rPr>
                      <m:t> </m:t>
                    </m:r>
                  </m:oMath>
                </a14:m>
                <a:r>
                  <a:rPr lang="en-US" sz="2800" dirty="0"/>
                  <a:t>submatrices </a:t>
                </a:r>
                <a14:m>
                  <m:oMath xmlns:m="http://schemas.openxmlformats.org/officeDocument/2006/math">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i="1">
                                <a:latin typeface="Cambria Math"/>
                              </a:rPr>
                              <m:t>Ʃ</m:t>
                            </m:r>
                          </m:e>
                        </m:acc>
                      </m:e>
                      <m:sub>
                        <m:r>
                          <a:rPr lang="en-US" sz="2800" b="0" i="1" smtClean="0">
                            <a:latin typeface="Cambria Math"/>
                          </a:rPr>
                          <m:t>𝑘</m:t>
                        </m:r>
                      </m:sub>
                    </m:sSub>
                  </m:oMath>
                </a14:m>
                <a:endParaRPr lang="en-US" sz="2800" dirty="0"/>
              </a:p>
              <a:p>
                <a:pPr lvl="1" algn="l" rtl="0"/>
                <a:r>
                  <a:rPr lang="en-US" dirty="0"/>
                  <a:t>Compute largest eigenvalue of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Ʃ</m:t>
                            </m:r>
                          </m:e>
                        </m:acc>
                      </m:e>
                      <m:sub>
                        <m:r>
                          <a:rPr lang="en-US" i="1">
                            <a:latin typeface="Cambria Math"/>
                          </a:rPr>
                          <m:t>𝑘</m:t>
                        </m:r>
                      </m:sub>
                    </m:sSub>
                  </m:oMath>
                </a14:m>
                <a:endParaRPr lang="en-US" dirty="0"/>
              </a:p>
              <a:p>
                <a:pPr lvl="1" algn="l" rtl="0"/>
                <a:r>
                  <a:rPr lang="en-US" dirty="0"/>
                  <a:t>Return the maximizer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79301"/>
                <a:ext cx="8229600" cy="4525963"/>
              </a:xfrm>
              <a:blipFill rotWithShape="1">
                <a:blip r:embed="rId3"/>
                <a:stretch>
                  <a:fillRect l="-1259" t="-943"/>
                </a:stretch>
              </a:blipFill>
            </p:spPr>
            <p:txBody>
              <a:bodyPr/>
              <a:lstStyle/>
              <a:p>
                <a:r>
                  <a:rPr lang="he-IL">
                    <a:noFill/>
                  </a:rPr>
                  <a:t> </a:t>
                </a:r>
              </a:p>
            </p:txBody>
          </p:sp>
        </mc:Fallback>
      </mc:AlternateContent>
      <p:grpSp>
        <p:nvGrpSpPr>
          <p:cNvPr id="14" name="Group 13"/>
          <p:cNvGrpSpPr/>
          <p:nvPr/>
        </p:nvGrpSpPr>
        <p:grpSpPr>
          <a:xfrm>
            <a:off x="1331640" y="3212976"/>
            <a:ext cx="6486525" cy="2643808"/>
            <a:chOff x="1403648" y="3161456"/>
            <a:chExt cx="6486525" cy="2643808"/>
          </a:xfrm>
        </p:grpSpPr>
        <p:graphicFrame>
          <p:nvGraphicFramePr>
            <p:cNvPr id="10" name="Object 9"/>
            <p:cNvGraphicFramePr>
              <a:graphicFrameLocks noChangeAspect="1"/>
            </p:cNvGraphicFramePr>
            <p:nvPr>
              <p:extLst>
                <p:ext uri="{D42A27DB-BD31-4B8C-83A1-F6EECF244321}">
                  <p14:modId xmlns:p14="http://schemas.microsoft.com/office/powerpoint/2010/main" val="3150899404"/>
                </p:ext>
              </p:extLst>
            </p:nvPr>
          </p:nvGraphicFramePr>
          <p:xfrm>
            <a:off x="1403648" y="3161456"/>
            <a:ext cx="6486525" cy="2582863"/>
          </p:xfrm>
          <a:graphic>
            <a:graphicData uri="http://schemas.openxmlformats.org/presentationml/2006/ole">
              <mc:AlternateContent xmlns:mc="http://schemas.openxmlformats.org/markup-compatibility/2006">
                <mc:Choice xmlns:v="urn:schemas-microsoft-com:vml" Requires="v">
                  <p:oleObj name="Equation" r:id="rId4" imgW="2869920" imgH="1143000" progId="Equation.3">
                    <p:embed/>
                  </p:oleObj>
                </mc:Choice>
                <mc:Fallback>
                  <p:oleObj name="Equation" r:id="rId4" imgW="2869920" imgH="1143000" progId="Equation.3">
                    <p:embed/>
                    <p:pic>
                      <p:nvPicPr>
                        <p:cNvPr id="10" name="Object 9"/>
                        <p:cNvPicPr/>
                        <p:nvPr/>
                      </p:nvPicPr>
                      <p:blipFill>
                        <a:blip r:embed="rId5"/>
                        <a:stretch>
                          <a:fillRect/>
                        </a:stretch>
                      </p:blipFill>
                      <p:spPr>
                        <a:xfrm>
                          <a:off x="1403648" y="3161456"/>
                          <a:ext cx="6486525" cy="2582863"/>
                        </a:xfrm>
                        <a:prstGeom prst="rect">
                          <a:avLst/>
                        </a:prstGeom>
                      </p:spPr>
                    </p:pic>
                  </p:oleObj>
                </mc:Fallback>
              </mc:AlternateContent>
            </a:graphicData>
          </a:graphic>
        </p:graphicFrame>
        <p:sp>
          <p:nvSpPr>
            <p:cNvPr id="12" name="Rectangle 11"/>
            <p:cNvSpPr/>
            <p:nvPr/>
          </p:nvSpPr>
          <p:spPr>
            <a:xfrm>
              <a:off x="2267744" y="3212976"/>
              <a:ext cx="1872208" cy="10081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Oval 12"/>
            <p:cNvSpPr/>
            <p:nvPr/>
          </p:nvSpPr>
          <p:spPr>
            <a:xfrm>
              <a:off x="4427984" y="4221088"/>
              <a:ext cx="925810" cy="576064"/>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sp>
          <p:nvSpPr>
            <p:cNvPr id="15" name="Oval 14"/>
            <p:cNvSpPr/>
            <p:nvPr/>
          </p:nvSpPr>
          <p:spPr>
            <a:xfrm>
              <a:off x="4438278" y="5211663"/>
              <a:ext cx="997818" cy="576064"/>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sp>
          <p:nvSpPr>
            <p:cNvPr id="16" name="Oval 15"/>
            <p:cNvSpPr/>
            <p:nvPr/>
          </p:nvSpPr>
          <p:spPr>
            <a:xfrm>
              <a:off x="6804248" y="5229200"/>
              <a:ext cx="864096" cy="576064"/>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sp>
          <p:nvSpPr>
            <p:cNvPr id="17" name="Oval 16"/>
            <p:cNvSpPr/>
            <p:nvPr/>
          </p:nvSpPr>
          <p:spPr>
            <a:xfrm>
              <a:off x="6804248" y="4149080"/>
              <a:ext cx="936104" cy="576064"/>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1" anchor="ctr"/>
            <a:lstStyle/>
            <a:p>
              <a:pPr algn="ctr"/>
              <a:endParaRPr lang="he-IL"/>
            </a:p>
          </p:txBody>
        </p:sp>
      </p:grpSp>
      <mc:AlternateContent xmlns:mc="http://schemas.openxmlformats.org/markup-compatibility/2006" xmlns:a14="http://schemas.microsoft.com/office/drawing/2010/main">
        <mc:Choice Requires="a14">
          <p:sp>
            <p:nvSpPr>
              <p:cNvPr id="18" name="TextBox 17"/>
              <p:cNvSpPr txBox="1"/>
              <p:nvPr/>
            </p:nvSpPr>
            <p:spPr>
              <a:xfrm>
                <a:off x="1403648" y="6210453"/>
                <a:ext cx="6336704" cy="530915"/>
              </a:xfrm>
              <a:prstGeom prst="rect">
                <a:avLst/>
              </a:prstGeom>
              <a:noFill/>
            </p:spPr>
            <p:txBody>
              <a:bodyPr wrap="square" rtlCol="1">
                <a:spAutoFit/>
              </a:bodyPr>
              <a:lstStyle/>
              <a:p>
                <a:pPr algn="ctr" rtl="0"/>
                <a:r>
                  <a:rPr lang="en-US" sz="2800" dirty="0">
                    <a:solidFill>
                      <a:srgbClr val="FF0000"/>
                    </a:solidFill>
                  </a:rPr>
                  <a:t>Runtime: </a:t>
                </a:r>
                <a14:m>
                  <m:oMath xmlns:m="http://schemas.openxmlformats.org/officeDocument/2006/math">
                    <m:sSup>
                      <m:sSupPr>
                        <m:ctrlPr>
                          <a:rPr lang="en-US" sz="2800" i="1" smtClean="0">
                            <a:solidFill>
                              <a:srgbClr val="FF0000"/>
                            </a:solidFill>
                            <a:latin typeface="Cambria Math" panose="02040503050406030204" pitchFamily="18" charset="0"/>
                          </a:rPr>
                        </m:ctrlPr>
                      </m:sSupPr>
                      <m:e>
                        <m:r>
                          <a:rPr lang="en-US" sz="2800" b="0" i="1" smtClean="0">
                            <a:solidFill>
                              <a:srgbClr val="FF0000"/>
                            </a:solidFill>
                            <a:latin typeface="Cambria Math"/>
                          </a:rPr>
                          <m:t>𝑝</m:t>
                        </m:r>
                      </m:e>
                      <m:sup>
                        <m:r>
                          <a:rPr lang="en-US" sz="2800" b="0" i="1" smtClean="0">
                            <a:solidFill>
                              <a:srgbClr val="FF0000"/>
                            </a:solidFill>
                            <a:latin typeface="Cambria Math"/>
                          </a:rPr>
                          <m:t>𝑘</m:t>
                        </m:r>
                      </m:sup>
                    </m:sSup>
                  </m:oMath>
                </a14:m>
                <a:endParaRPr lang="he-IL" sz="2800" dirty="0">
                  <a:solidFill>
                    <a:srgbClr val="FF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1403648" y="6210453"/>
                <a:ext cx="6336704" cy="530915"/>
              </a:xfrm>
              <a:prstGeom prst="rect">
                <a:avLst/>
              </a:prstGeom>
              <a:blipFill rotWithShape="1">
                <a:blip r:embed="rId6"/>
                <a:stretch>
                  <a:fillRect t="-9195" b="-32184"/>
                </a:stretch>
              </a:blipFill>
            </p:spPr>
            <p:txBody>
              <a:bodyPr/>
              <a:lstStyle/>
              <a:p>
                <a:r>
                  <a:rPr lang="he-IL">
                    <a:noFill/>
                  </a:rPr>
                  <a:t> </a:t>
                </a:r>
              </a:p>
            </p:txBody>
          </p:sp>
        </mc:Fallback>
      </mc:AlternateContent>
      <p:sp>
        <p:nvSpPr>
          <p:cNvPr id="20" name="Rounded Rectangular Callout 19"/>
          <p:cNvSpPr/>
          <p:nvPr/>
        </p:nvSpPr>
        <p:spPr>
          <a:xfrm>
            <a:off x="215516" y="188640"/>
            <a:ext cx="2376264" cy="1008112"/>
          </a:xfrm>
          <a:prstGeom prst="wedgeRoundRectCallout">
            <a:avLst>
              <a:gd name="adj1" fmla="val -56235"/>
              <a:gd name="adj2" fmla="val -64423"/>
              <a:gd name="adj3" fmla="val 16667"/>
            </a:avLst>
          </a:prstGeom>
        </p:spPr>
        <p:style>
          <a:lnRef idx="1">
            <a:schemeClr val="accent3"/>
          </a:lnRef>
          <a:fillRef idx="2">
            <a:schemeClr val="accent3"/>
          </a:fillRef>
          <a:effectRef idx="1">
            <a:schemeClr val="accent3"/>
          </a:effectRef>
          <a:fontRef idx="minor">
            <a:schemeClr val="dk1"/>
          </a:fontRef>
        </p:style>
        <p:txBody>
          <a:bodyPr rtlCol="1" anchor="ctr"/>
          <a:lstStyle/>
          <a:p>
            <a:pPr algn="ctr"/>
            <a:endParaRPr lang="he-IL"/>
          </a:p>
        </p:txBody>
      </p:sp>
      <p:graphicFrame>
        <p:nvGraphicFramePr>
          <p:cNvPr id="19" name="Object 18"/>
          <p:cNvGraphicFramePr>
            <a:graphicFrameLocks noChangeAspect="1"/>
          </p:cNvGraphicFramePr>
          <p:nvPr>
            <p:extLst>
              <p:ext uri="{D42A27DB-BD31-4B8C-83A1-F6EECF244321}">
                <p14:modId xmlns:p14="http://schemas.microsoft.com/office/powerpoint/2010/main" val="3932584693"/>
              </p:ext>
            </p:extLst>
          </p:nvPr>
        </p:nvGraphicFramePr>
        <p:xfrm>
          <a:off x="238138" y="404664"/>
          <a:ext cx="2353642" cy="675734"/>
        </p:xfrm>
        <a:graphic>
          <a:graphicData uri="http://schemas.openxmlformats.org/presentationml/2006/ole">
            <mc:AlternateContent xmlns:mc="http://schemas.openxmlformats.org/markup-compatibility/2006">
              <mc:Choice xmlns:v="urn:schemas-microsoft-com:vml" Requires="v">
                <p:oleObj name="Equation" r:id="rId7" imgW="1180588" imgH="355446" progId="Equation.3">
                  <p:embed/>
                </p:oleObj>
              </mc:Choice>
              <mc:Fallback>
                <p:oleObj name="Equation" r:id="rId7" imgW="1180588" imgH="355446" progId="Equation.3">
                  <p:embed/>
                  <p:pic>
                    <p:nvPicPr>
                      <p:cNvPr id="19"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138" y="404664"/>
                        <a:ext cx="2353642" cy="67573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57468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Greedy Approach</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159840"/>
                <a:ext cx="8229600" cy="4525963"/>
              </a:xfrm>
            </p:spPr>
            <p:txBody>
              <a:bodyPr>
                <a:normAutofit/>
              </a:bodyPr>
              <a:lstStyle/>
              <a:p>
                <a:pPr marL="457200" lvl="1" indent="0" algn="l" rtl="0">
                  <a:buNone/>
                </a:pPr>
                <a:r>
                  <a:rPr lang="en-US" dirty="0"/>
                  <a:t>Return indices of </a:t>
                </a:r>
                <a14:m>
                  <m:oMath xmlns:m="http://schemas.openxmlformats.org/officeDocument/2006/math">
                    <m:r>
                      <a:rPr lang="en-US" i="1">
                        <a:latin typeface="Cambria Math"/>
                      </a:rPr>
                      <m:t>𝑘</m:t>
                    </m:r>
                  </m:oMath>
                </a14:m>
                <a:r>
                  <a:rPr lang="en-US" dirty="0"/>
                  <a:t> largest diagonal entries in </a:t>
                </a:r>
                <a14:m>
                  <m:oMath xmlns:m="http://schemas.openxmlformats.org/officeDocument/2006/math">
                    <m:acc>
                      <m:accPr>
                        <m:chr m:val="̂"/>
                        <m:ctrlPr>
                          <a:rPr lang="el-GR" i="1" smtClean="0">
                            <a:latin typeface="Cambria Math" panose="02040503050406030204" pitchFamily="18" charset="0"/>
                          </a:rPr>
                        </m:ctrlPr>
                      </m:accPr>
                      <m:e>
                        <m:r>
                          <m:rPr>
                            <m:sty m:val="p"/>
                          </m:rPr>
                          <a:rPr lang="el-GR" i="1">
                            <a:latin typeface="Cambria Math"/>
                          </a:rPr>
                          <m:t>Σ</m:t>
                        </m:r>
                      </m:e>
                    </m:acc>
                  </m:oMath>
                </a14:m>
                <a:endParaRPr lang="en-US" dirty="0"/>
              </a:p>
              <a:p>
                <a:pPr lvl="1" algn="l" rtl="0"/>
                <a:endParaRPr lang="en-US" dirty="0"/>
              </a:p>
              <a:p>
                <a:pPr lvl="1" algn="l" rtl="0"/>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159840"/>
                <a:ext cx="8229600" cy="4525963"/>
              </a:xfrm>
              <a:blipFill rotWithShape="1">
                <a:blip r:embed="rId3"/>
                <a:stretch>
                  <a:fillRect t="-942"/>
                </a:stretch>
              </a:blipFill>
            </p:spPr>
            <p:txBody>
              <a:bodyPr/>
              <a:lstStyle/>
              <a:p>
                <a:r>
                  <a:rPr lang="he-IL">
                    <a:noFill/>
                  </a:rPr>
                  <a:t> </a:t>
                </a:r>
              </a:p>
            </p:txBody>
          </p:sp>
        </mc:Fallback>
      </mc:AlternateContent>
      <p:graphicFrame>
        <p:nvGraphicFramePr>
          <p:cNvPr id="4" name="Object 3"/>
          <p:cNvGraphicFramePr>
            <a:graphicFrameLocks noChangeAspect="1"/>
          </p:cNvGraphicFramePr>
          <p:nvPr>
            <p:extLst>
              <p:ext uri="{D42A27DB-BD31-4B8C-83A1-F6EECF244321}">
                <p14:modId xmlns:p14="http://schemas.microsoft.com/office/powerpoint/2010/main" val="3545192881"/>
              </p:ext>
            </p:extLst>
          </p:nvPr>
        </p:nvGraphicFramePr>
        <p:xfrm>
          <a:off x="1233959" y="4797152"/>
          <a:ext cx="1393825" cy="815975"/>
        </p:xfrm>
        <a:graphic>
          <a:graphicData uri="http://schemas.openxmlformats.org/presentationml/2006/ole">
            <mc:AlternateContent xmlns:mc="http://schemas.openxmlformats.org/markup-compatibility/2006">
              <mc:Choice xmlns:v="urn:schemas-microsoft-com:vml" Requires="v">
                <p:oleObj name="Equation" r:id="rId4" imgW="672840" imgH="393480" progId="Equation.3">
                  <p:embed/>
                </p:oleObj>
              </mc:Choice>
              <mc:Fallback>
                <p:oleObj name="Equation" r:id="rId4" imgW="672840" imgH="393480" progId="Equation.3">
                  <p:embed/>
                  <p:pic>
                    <p:nvPicPr>
                      <p:cNvPr id="4" name="Object 3"/>
                      <p:cNvPicPr>
                        <a:picLocks noChangeAspect="1" noChangeArrowheads="1"/>
                      </p:cNvPicPr>
                      <p:nvPr/>
                    </p:nvPicPr>
                    <p:blipFill>
                      <a:blip r:embed="rId5"/>
                      <a:srcRect/>
                      <a:stretch>
                        <a:fillRect/>
                      </a:stretch>
                    </p:blipFill>
                    <p:spPr bwMode="auto">
                      <a:xfrm>
                        <a:off x="1233959" y="4797152"/>
                        <a:ext cx="1393825" cy="81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658963348"/>
              </p:ext>
            </p:extLst>
          </p:nvPr>
        </p:nvGraphicFramePr>
        <p:xfrm>
          <a:off x="2604567" y="4725144"/>
          <a:ext cx="1822450" cy="885825"/>
        </p:xfrm>
        <a:graphic>
          <a:graphicData uri="http://schemas.openxmlformats.org/presentationml/2006/ole">
            <mc:AlternateContent xmlns:mc="http://schemas.openxmlformats.org/markup-compatibility/2006">
              <mc:Choice xmlns:v="urn:schemas-microsoft-com:vml" Requires="v">
                <p:oleObj name="Equation" r:id="rId6" imgW="914400" imgH="444240" progId="Equation.3">
                  <p:embed/>
                </p:oleObj>
              </mc:Choice>
              <mc:Fallback>
                <p:oleObj name="Equation" r:id="rId6" imgW="914400" imgH="444240" progId="Equation.3">
                  <p:embed/>
                  <p:pic>
                    <p:nvPicPr>
                      <p:cNvPr id="5"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4567" y="4725144"/>
                        <a:ext cx="18224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4181600307"/>
              </p:ext>
            </p:extLst>
          </p:nvPr>
        </p:nvGraphicFramePr>
        <p:xfrm>
          <a:off x="6804248" y="4894388"/>
          <a:ext cx="1577975" cy="866775"/>
        </p:xfrm>
        <a:graphic>
          <a:graphicData uri="http://schemas.openxmlformats.org/presentationml/2006/ole">
            <mc:AlternateContent xmlns:mc="http://schemas.openxmlformats.org/markup-compatibility/2006">
              <mc:Choice xmlns:v="urn:schemas-microsoft-com:vml" Requires="v">
                <p:oleObj name="Equation" r:id="rId8" imgW="761760" imgH="419040" progId="Equation.3">
                  <p:embed/>
                </p:oleObj>
              </mc:Choice>
              <mc:Fallback>
                <p:oleObj name="Equation" r:id="rId8" imgW="761760" imgH="419040" progId="Equation.3">
                  <p:embed/>
                  <p:pic>
                    <p:nvPicPr>
                      <p:cNvPr id="6" name="Object 5"/>
                      <p:cNvPicPr>
                        <a:picLocks noChangeAspect="1" noChangeArrowheads="1"/>
                      </p:cNvPicPr>
                      <p:nvPr/>
                    </p:nvPicPr>
                    <p:blipFill>
                      <a:blip r:embed="rId9"/>
                      <a:srcRect/>
                      <a:stretch>
                        <a:fillRect/>
                      </a:stretch>
                    </p:blipFill>
                    <p:spPr bwMode="auto">
                      <a:xfrm>
                        <a:off x="6804248" y="4894388"/>
                        <a:ext cx="15779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644838585"/>
              </p:ext>
            </p:extLst>
          </p:nvPr>
        </p:nvGraphicFramePr>
        <p:xfrm>
          <a:off x="3851920" y="5877272"/>
          <a:ext cx="1966269" cy="569831"/>
        </p:xfrm>
        <a:graphic>
          <a:graphicData uri="http://schemas.openxmlformats.org/presentationml/2006/ole">
            <mc:AlternateContent xmlns:mc="http://schemas.openxmlformats.org/markup-compatibility/2006">
              <mc:Choice xmlns:v="urn:schemas-microsoft-com:vml" Requires="v">
                <p:oleObj name="משוואה" r:id="rId10" imgW="876240" imgH="253800" progId="Equation.3">
                  <p:embed/>
                </p:oleObj>
              </mc:Choice>
              <mc:Fallback>
                <p:oleObj name="משוואה" r:id="rId10" imgW="876240" imgH="253800" progId="Equation.3">
                  <p:embed/>
                  <p:pic>
                    <p:nvPicPr>
                      <p:cNvPr id="9" name="Object 8"/>
                      <p:cNvPicPr>
                        <a:picLocks noChangeAspect="1" noChangeArrowheads="1"/>
                      </p:cNvPicPr>
                      <p:nvPr/>
                    </p:nvPicPr>
                    <p:blipFill>
                      <a:blip r:embed="rId11"/>
                      <a:srcRect/>
                      <a:stretch>
                        <a:fillRect/>
                      </a:stretch>
                    </p:blipFill>
                    <p:spPr bwMode="auto">
                      <a:xfrm>
                        <a:off x="3851920" y="5877272"/>
                        <a:ext cx="1966269" cy="569831"/>
                      </a:xfrm>
                      <a:prstGeom prst="rect">
                        <a:avLst/>
                      </a:prstGeom>
                      <a:noFill/>
                      <a:ln>
                        <a:noFill/>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822609141"/>
              </p:ext>
            </p:extLst>
          </p:nvPr>
        </p:nvGraphicFramePr>
        <p:xfrm>
          <a:off x="2038375" y="2060575"/>
          <a:ext cx="5341937" cy="2322513"/>
        </p:xfrm>
        <a:graphic>
          <a:graphicData uri="http://schemas.openxmlformats.org/presentationml/2006/ole">
            <mc:AlternateContent xmlns:mc="http://schemas.openxmlformats.org/markup-compatibility/2006">
              <mc:Choice xmlns:v="urn:schemas-microsoft-com:vml" Requires="v">
                <p:oleObj name="Equation" r:id="rId12" imgW="2628720" imgH="1143000" progId="Equation.3">
                  <p:embed/>
                </p:oleObj>
              </mc:Choice>
              <mc:Fallback>
                <p:oleObj name="Equation" r:id="rId12" imgW="2628720" imgH="1143000" progId="Equation.3">
                  <p:embed/>
                  <p:pic>
                    <p:nvPicPr>
                      <p:cNvPr id="11" name="Object 10"/>
                      <p:cNvPicPr/>
                      <p:nvPr/>
                    </p:nvPicPr>
                    <p:blipFill>
                      <a:blip r:embed="rId13"/>
                      <a:stretch>
                        <a:fillRect/>
                      </a:stretch>
                    </p:blipFill>
                    <p:spPr>
                      <a:xfrm>
                        <a:off x="2038375" y="2060575"/>
                        <a:ext cx="5341937" cy="2322513"/>
                      </a:xfrm>
                      <a:prstGeom prst="rect">
                        <a:avLst/>
                      </a:prstGeom>
                    </p:spPr>
                  </p:pic>
                </p:oleObj>
              </mc:Fallback>
            </mc:AlternateContent>
          </a:graphicData>
        </a:graphic>
      </p:graphicFrame>
      <p:sp>
        <p:nvSpPr>
          <p:cNvPr id="7" name="Oval 6"/>
          <p:cNvSpPr/>
          <p:nvPr/>
        </p:nvSpPr>
        <p:spPr>
          <a:xfrm>
            <a:off x="2267744" y="1988840"/>
            <a:ext cx="720080" cy="576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7" name="Oval 16"/>
          <p:cNvSpPr/>
          <p:nvPr/>
        </p:nvSpPr>
        <p:spPr>
          <a:xfrm>
            <a:off x="3275856" y="2420888"/>
            <a:ext cx="792088" cy="5760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9" name="Straight Arrow Connector 18"/>
          <p:cNvCxnSpPr>
            <a:stCxn id="4" idx="0"/>
          </p:cNvCxnSpPr>
          <p:nvPr/>
        </p:nvCxnSpPr>
        <p:spPr>
          <a:xfrm flipV="1">
            <a:off x="1930871" y="2996952"/>
            <a:ext cx="1741029" cy="1800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a:stCxn id="6" idx="0"/>
          </p:cNvCxnSpPr>
          <p:nvPr/>
        </p:nvCxnSpPr>
        <p:spPr>
          <a:xfrm flipH="1" flipV="1">
            <a:off x="5724128" y="3789040"/>
            <a:ext cx="1869107" cy="110534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215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heavier cannon?</a:t>
            </a:r>
            <a:endParaRPr lang="he-IL" dirty="0"/>
          </a:p>
        </p:txBody>
      </p:sp>
      <p:pic>
        <p:nvPicPr>
          <p:cNvPr id="76802" name="Picture 2" descr="http://azcapitoltimes.com/files/2012/12/cann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6953" y="1772817"/>
            <a:ext cx="5689383" cy="3779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593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866" name="Picture 170" descr="http://cdn1.moneywise.co.uk/files/imagecache/article_header/images/articles/no_entry_sig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26694" y="3341283"/>
            <a:ext cx="673098" cy="447757"/>
          </a:xfrm>
          <a:prstGeom prst="rect">
            <a:avLst/>
          </a:prstGeom>
          <a:noFill/>
          <a:extLst>
            <a:ext uri="{909E8E84-426E-40DD-AFC4-6F175D3DCCD1}">
              <a14:hiddenFill xmlns:a14="http://schemas.microsoft.com/office/drawing/2010/main">
                <a:solidFill>
                  <a:srgbClr val="FFFFFF"/>
                </a:solidFill>
              </a14:hiddenFill>
            </a:ext>
          </a:extLst>
        </p:spPr>
      </p:pic>
      <p:sp>
        <p:nvSpPr>
          <p:cNvPr id="20" name="Rounded Rectangle 19"/>
          <p:cNvSpPr/>
          <p:nvPr/>
        </p:nvSpPr>
        <p:spPr>
          <a:xfrm>
            <a:off x="2466876" y="4314800"/>
            <a:ext cx="4175448" cy="914400"/>
          </a:xfrm>
          <a:prstGeom prst="roundRect">
            <a:avLst/>
          </a:prstGeom>
        </p:spPr>
        <p:style>
          <a:lnRef idx="1">
            <a:schemeClr val="accent5"/>
          </a:lnRef>
          <a:fillRef idx="2">
            <a:schemeClr val="accent5"/>
          </a:fillRef>
          <a:effectRef idx="1">
            <a:schemeClr val="accent5"/>
          </a:effectRef>
          <a:fontRef idx="minor">
            <a:schemeClr val="dk1"/>
          </a:fontRef>
        </p:style>
        <p:txBody>
          <a:bodyPr rtlCol="1" anchor="ctr"/>
          <a:lstStyle/>
          <a:p>
            <a:pPr algn="ctr"/>
            <a:endParaRPr lang="he-IL"/>
          </a:p>
        </p:txBody>
      </p:sp>
      <p:sp>
        <p:nvSpPr>
          <p:cNvPr id="2" name="Title 1"/>
          <p:cNvSpPr>
            <a:spLocks noGrp="1"/>
          </p:cNvSpPr>
          <p:nvPr>
            <p:ph type="title"/>
          </p:nvPr>
        </p:nvSpPr>
        <p:spPr/>
        <p:txBody>
          <a:bodyPr>
            <a:normAutofit fontScale="90000"/>
          </a:bodyPr>
          <a:lstStyle/>
          <a:p>
            <a:pPr rtl="0"/>
            <a:r>
              <a:rPr lang="en-US" dirty="0"/>
              <a:t>Semi-definite Programming Approach</a:t>
            </a:r>
            <a:endParaRPr lang="he-IL" dirty="0"/>
          </a:p>
        </p:txBody>
      </p:sp>
      <p:pic>
        <p:nvPicPr>
          <p:cNvPr id="2151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5877272"/>
            <a:ext cx="4502971" cy="434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4932040" y="3041084"/>
            <a:ext cx="3600400" cy="1107996"/>
          </a:xfrm>
          <a:prstGeom prst="rect">
            <a:avLst/>
          </a:prstGeom>
          <a:noFill/>
        </p:spPr>
        <p:txBody>
          <a:bodyPr wrap="square" rtlCol="1">
            <a:spAutoFit/>
          </a:bodyPr>
          <a:lstStyle/>
          <a:p>
            <a:pPr algn="l" rtl="0"/>
            <a:r>
              <a:rPr lang="en-US" sz="2200" dirty="0"/>
              <a:t>SDP Relaxation </a:t>
            </a:r>
          </a:p>
          <a:p>
            <a:pPr algn="l" rtl="0"/>
            <a:r>
              <a:rPr lang="en-US" sz="2200" dirty="0"/>
              <a:t>[</a:t>
            </a:r>
            <a:r>
              <a:rPr lang="en-US" sz="2200" dirty="0" err="1"/>
              <a:t>d`Aspremont</a:t>
            </a:r>
            <a:r>
              <a:rPr lang="en-US" sz="2200" dirty="0"/>
              <a:t> et al. 2004]</a:t>
            </a:r>
            <a:endParaRPr lang="he-IL" sz="2200" dirty="0"/>
          </a:p>
          <a:p>
            <a:pPr algn="l" rtl="0"/>
            <a:endParaRPr lang="he-IL" sz="2200" dirty="0"/>
          </a:p>
        </p:txBody>
      </p:sp>
      <p:sp>
        <p:nvSpPr>
          <p:cNvPr id="10" name="Rounded Rectangle 9"/>
          <p:cNvSpPr/>
          <p:nvPr/>
        </p:nvSpPr>
        <p:spPr>
          <a:xfrm>
            <a:off x="2561641" y="1556792"/>
            <a:ext cx="4175448" cy="914400"/>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endParaRPr lang="he-IL"/>
          </a:p>
        </p:txBody>
      </p:sp>
      <p:graphicFrame>
        <p:nvGraphicFramePr>
          <p:cNvPr id="17" name="Object 16"/>
          <p:cNvGraphicFramePr>
            <a:graphicFrameLocks noChangeAspect="1"/>
          </p:cNvGraphicFramePr>
          <p:nvPr>
            <p:extLst>
              <p:ext uri="{D42A27DB-BD31-4B8C-83A1-F6EECF244321}">
                <p14:modId xmlns:p14="http://schemas.microsoft.com/office/powerpoint/2010/main" val="3258333959"/>
              </p:ext>
            </p:extLst>
          </p:nvPr>
        </p:nvGraphicFramePr>
        <p:xfrm>
          <a:off x="3275856" y="1628800"/>
          <a:ext cx="2681287" cy="769938"/>
        </p:xfrm>
        <a:graphic>
          <a:graphicData uri="http://schemas.openxmlformats.org/presentationml/2006/ole">
            <mc:AlternateContent xmlns:mc="http://schemas.openxmlformats.org/markup-compatibility/2006">
              <mc:Choice xmlns:v="urn:schemas-microsoft-com:vml" Requires="v">
                <p:oleObj name="משוואה" r:id="rId4" imgW="1180800" imgH="355320" progId="Equation.3">
                  <p:embed/>
                </p:oleObj>
              </mc:Choice>
              <mc:Fallback>
                <p:oleObj name="משוואה" r:id="rId4" imgW="1180800" imgH="355320" progId="Equation.3">
                  <p:embed/>
                  <p:pic>
                    <p:nvPicPr>
                      <p:cNvPr id="17" name="Object 16"/>
                      <p:cNvPicPr>
                        <a:picLocks noChangeAspect="1" noChangeArrowheads="1"/>
                      </p:cNvPicPr>
                      <p:nvPr/>
                    </p:nvPicPr>
                    <p:blipFill>
                      <a:blip r:embed="rId5"/>
                      <a:srcRect/>
                      <a:stretch>
                        <a:fillRect/>
                      </a:stretch>
                    </p:blipFill>
                    <p:spPr bwMode="auto">
                      <a:xfrm>
                        <a:off x="3275856" y="1628800"/>
                        <a:ext cx="2681287" cy="769938"/>
                      </a:xfrm>
                      <a:prstGeom prst="rect">
                        <a:avLst/>
                      </a:prstGeom>
                      <a:noFill/>
                      <a:ln>
                        <a:noFill/>
                      </a:ln>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797737271"/>
              </p:ext>
            </p:extLst>
          </p:nvPr>
        </p:nvGraphicFramePr>
        <p:xfrm>
          <a:off x="2714625" y="4208463"/>
          <a:ext cx="3690938" cy="963612"/>
        </p:xfrm>
        <a:graphic>
          <a:graphicData uri="http://schemas.openxmlformats.org/presentationml/2006/ole">
            <mc:AlternateContent xmlns:mc="http://schemas.openxmlformats.org/markup-compatibility/2006">
              <mc:Choice xmlns:v="urn:schemas-microsoft-com:vml" Requires="v">
                <p:oleObj name="משוואה" r:id="rId6" imgW="1625400" imgH="444240" progId="Equation.3">
                  <p:embed/>
                </p:oleObj>
              </mc:Choice>
              <mc:Fallback>
                <p:oleObj name="משוואה" r:id="rId6" imgW="1625400" imgH="444240" progId="Equation.3">
                  <p:embed/>
                  <p:pic>
                    <p:nvPicPr>
                      <p:cNvPr id="5" name="Object 4"/>
                      <p:cNvPicPr>
                        <a:picLocks noChangeAspect="1" noChangeArrowheads="1"/>
                      </p:cNvPicPr>
                      <p:nvPr/>
                    </p:nvPicPr>
                    <p:blipFill>
                      <a:blip r:embed="rId7"/>
                      <a:srcRect/>
                      <a:stretch>
                        <a:fillRect/>
                      </a:stretch>
                    </p:blipFill>
                    <p:spPr bwMode="auto">
                      <a:xfrm>
                        <a:off x="2714625" y="4208463"/>
                        <a:ext cx="3690938"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Down Arrow 7"/>
          <p:cNvSpPr/>
          <p:nvPr/>
        </p:nvSpPr>
        <p:spPr>
          <a:xfrm>
            <a:off x="4376518" y="3096836"/>
            <a:ext cx="398515" cy="864096"/>
          </a:xfrm>
          <a:prstGeom prst="downArrow">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3" name="TextBox 2"/>
              <p:cNvSpPr txBox="1"/>
              <p:nvPr/>
            </p:nvSpPr>
            <p:spPr>
              <a:xfrm>
                <a:off x="107504" y="1556792"/>
                <a:ext cx="2016224" cy="954107"/>
              </a:xfrm>
              <a:prstGeom prst="rect">
                <a:avLst/>
              </a:prstGeom>
              <a:noFill/>
            </p:spPr>
            <p:txBody>
              <a:bodyPr wrap="square" rtlCol="1">
                <a:spAutoFit/>
              </a:bodyPr>
              <a:lstStyle/>
              <a:p>
                <a:pPr algn="ctr"/>
                <a:r>
                  <a:rPr lang="en-US" sz="2800" dirty="0"/>
                  <a:t>Feasible solution </a:t>
                </a:r>
                <a14:m>
                  <m:oMath xmlns:m="http://schemas.openxmlformats.org/officeDocument/2006/math">
                    <m:r>
                      <a:rPr lang="en-US" sz="2800" b="0" i="1" smtClean="0">
                        <a:latin typeface="Cambria Math"/>
                      </a:rPr>
                      <m:t>𝑎</m:t>
                    </m:r>
                  </m:oMath>
                </a14:m>
                <a:endParaRPr lang="he-IL" sz="2800" dirty="0"/>
              </a:p>
            </p:txBody>
          </p:sp>
        </mc:Choice>
        <mc:Fallback xmlns="">
          <p:sp>
            <p:nvSpPr>
              <p:cNvPr id="3" name="TextBox 2"/>
              <p:cNvSpPr txBox="1">
                <a:spLocks noRot="1" noChangeAspect="1" noMove="1" noResize="1" noEditPoints="1" noAdjustHandles="1" noChangeArrowheads="1" noChangeShapeType="1" noTextEdit="1"/>
              </p:cNvSpPr>
              <p:nvPr/>
            </p:nvSpPr>
            <p:spPr>
              <a:xfrm>
                <a:off x="107504" y="1556792"/>
                <a:ext cx="2016224" cy="954107"/>
              </a:xfrm>
              <a:prstGeom prst="rect">
                <a:avLst/>
              </a:prstGeom>
              <a:blipFill rotWithShape="1">
                <a:blip r:embed="rId11"/>
                <a:stretch>
                  <a:fillRect t="-5732" b="-17197"/>
                </a:stretch>
              </a:blipFill>
            </p:spPr>
            <p:txBody>
              <a:bodyPr/>
              <a:lstStyle/>
              <a:p>
                <a:r>
                  <a:rPr lang="he-IL">
                    <a:noFill/>
                  </a:rPr>
                  <a:t> </a:t>
                </a:r>
              </a:p>
            </p:txBody>
          </p:sp>
        </mc:Fallback>
      </mc:AlternateContent>
      <p:sp>
        <p:nvSpPr>
          <p:cNvPr id="13" name="Down Arrow 12"/>
          <p:cNvSpPr/>
          <p:nvPr/>
        </p:nvSpPr>
        <p:spPr>
          <a:xfrm>
            <a:off x="827584" y="3068960"/>
            <a:ext cx="398515" cy="864096"/>
          </a:xfrm>
          <a:prstGeom prst="downArrow">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4" name="TextBox 13"/>
              <p:cNvSpPr txBox="1"/>
              <p:nvPr/>
            </p:nvSpPr>
            <p:spPr>
              <a:xfrm>
                <a:off x="179512" y="4275093"/>
                <a:ext cx="2016224" cy="1421864"/>
              </a:xfrm>
              <a:prstGeom prst="rect">
                <a:avLst/>
              </a:prstGeom>
              <a:noFill/>
            </p:spPr>
            <p:txBody>
              <a:bodyPr wrap="square" rtlCol="1">
                <a:spAutoFit/>
              </a:bodyPr>
              <a:lstStyle/>
              <a:p>
                <a:pPr algn="ctr" rtl="0"/>
                <a:r>
                  <a:rPr lang="en-US" sz="2800" dirty="0"/>
                  <a:t>Feasible solution </a:t>
                </a:r>
                <a14:m>
                  <m:oMath xmlns:m="http://schemas.openxmlformats.org/officeDocument/2006/math">
                    <m:r>
                      <a:rPr lang="en-US" sz="2800" b="0" i="1" smtClean="0">
                        <a:latin typeface="Cambria Math"/>
                      </a:rPr>
                      <m:t>𝑋</m:t>
                    </m:r>
                    <m:r>
                      <a:rPr lang="en-US" sz="2800" b="0" i="0" smtClean="0">
                        <a:latin typeface="Cambria Math"/>
                      </a:rPr>
                      <m:t>=</m:t>
                    </m:r>
                    <m:r>
                      <a:rPr lang="en-US" sz="2800" b="0" i="1" smtClean="0">
                        <a:latin typeface="Cambria Math"/>
                      </a:rPr>
                      <m:t>𝑎</m:t>
                    </m:r>
                    <m:sSup>
                      <m:sSupPr>
                        <m:ctrlPr>
                          <a:rPr lang="en-US" sz="2800" b="0" i="1" smtClean="0">
                            <a:latin typeface="Cambria Math" panose="02040503050406030204" pitchFamily="18" charset="0"/>
                          </a:rPr>
                        </m:ctrlPr>
                      </m:sSupPr>
                      <m:e>
                        <m:r>
                          <a:rPr lang="en-US" sz="2800" b="0" i="1" smtClean="0">
                            <a:latin typeface="Cambria Math"/>
                          </a:rPr>
                          <m:t>𝑎</m:t>
                        </m:r>
                      </m:e>
                      <m:sup>
                        <m:r>
                          <a:rPr lang="en-US" sz="2800" b="0" i="1" smtClean="0">
                            <a:latin typeface="Cambria Math"/>
                          </a:rPr>
                          <m:t>𝑡</m:t>
                        </m:r>
                      </m:sup>
                    </m:sSup>
                  </m:oMath>
                </a14:m>
                <a:endParaRPr lang="he-IL" sz="2800" dirty="0"/>
              </a:p>
            </p:txBody>
          </p:sp>
        </mc:Choice>
        <mc:Fallback xmlns="">
          <p:sp>
            <p:nvSpPr>
              <p:cNvPr id="14" name="TextBox 13"/>
              <p:cNvSpPr txBox="1">
                <a:spLocks noRot="1" noChangeAspect="1" noMove="1" noResize="1" noEditPoints="1" noAdjustHandles="1" noChangeArrowheads="1" noChangeShapeType="1" noTextEdit="1"/>
              </p:cNvSpPr>
              <p:nvPr/>
            </p:nvSpPr>
            <p:spPr>
              <a:xfrm>
                <a:off x="179512" y="4275093"/>
                <a:ext cx="2016224" cy="1421864"/>
              </a:xfrm>
              <a:prstGeom prst="rect">
                <a:avLst/>
              </a:prstGeom>
              <a:blipFill rotWithShape="1">
                <a:blip r:embed="rId12"/>
                <a:stretch>
                  <a:fillRect t="-3846"/>
                </a:stretch>
              </a:blipFill>
            </p:spPr>
            <p:txBody>
              <a:bodyPr/>
              <a:lstStyle/>
              <a:p>
                <a:r>
                  <a:rPr lang="he-IL">
                    <a:noFill/>
                  </a:rPr>
                  <a:t> </a:t>
                </a:r>
              </a:p>
            </p:txBody>
          </p:sp>
        </mc:Fallback>
      </mc:AlternateContent>
      <p:sp>
        <p:nvSpPr>
          <p:cNvPr id="15" name="Down Arrow 14"/>
          <p:cNvSpPr/>
          <p:nvPr/>
        </p:nvSpPr>
        <p:spPr>
          <a:xfrm rot="10800000">
            <a:off x="1691680" y="3026088"/>
            <a:ext cx="398515" cy="864096"/>
          </a:xfrm>
          <a:prstGeom prst="downArrow">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he-IL"/>
          </a:p>
        </p:txBody>
      </p:sp>
      <p:sp>
        <p:nvSpPr>
          <p:cNvPr id="12" name="AutoShape 166" descr="data:image/jpeg;base64,/9j/4AAQSkZJRgABAQAAAQABAAD/2wCEAAkGBxQSEhIUEhQVFBUUFBgXFBQXFRcVFRUXFBQXFhYVFBQYHSggGBolHBQUIjEhJSkrLi4uFx8zODMsNygtLisBCgoKDg0OGhAQGywlHyQsLCwsLCwsLCwsLSwsLCwsLCwsLC8sLCwsLCwsLCwsLCwsLCwsLCwsLCwsLCwsLCwsLP/AABEIAOEA4AMBEQACEQEDEQH/xAAcAAEAAgMBAQEAAAAAAAAAAAAABAUDBgcCAQj/xABIEAABAwEFBAYHBQYDBwUAAAABAAIDBAURITFBBhJRYQcTIjJxgTNCUpGhscEUI0NicjRTY4KSsiSD0RVUdKKjwuEWJURkc//EABoBAQACAwEAAAAAAAAAAAAAAAACAwEEBQb/xAAyEQACAgEDAgQEBAYDAAAAAAAAAQIDEQQSMSFBBRNRYSIycYGRobHRI0JSweHwFBUz/9oADAMBAAIRAxEAPwDuKAIAgCAIAgCAIAgItfaMUDd6aRkY4ucG/NYbS5JxrlN4ismo1/SjRMvEXWTn+Gzs/wBTrgq3bHsbUdBY/mwikqOlGd3oqRjBxllx9zQo+a/QvWgh3k/siDLt3XvylpouQYX/ABJWPMkTWkqXZv7nxm1Fa7Otb5QNTe/Uz/x6/wCj8yRFb1dpXN84GpufqRdFf9H5k6n2gtIfjUsvIscz5FZUpEHRT6Nfcnw7Y1zMZaJsg4wS3n+lwClvl6Fb0tT+WWPqifSdIdITdN1tM7hNGWi/9YvCyrF3K5aKz+XD+hs1HWxytDonte06tcHD4KaafBrShKLxJYJCyRCAIAgCAIAgCAIAgCAIAgCAIAgNd2l20pKEXSyXv0iZ2pD5aeahKaibFOlst6pdPU5dtD0p1U14hupY+PelI8cmqiVrZ1afD4R56v8AI0KrtMyO3nl0r/blcXnyvyVW43lVhY4+gZWPPrXDgMEyZ2JEiJ/ErJFonwShZINFjBOEyRcSxp5wpZIOJZ08wWclbiWlLNwKzkqcS0ZLvC54a8cHAO+alkqcccEI7LU5dvwGSkk9qBxaL+bMim1djPnTSxLqvcmRWpaNGPvGtr4Rm9lzJwObcnfBZ3SXuVOqizj4X+RsdgbUU1YD1L+2O9E8bkrfFhxVkZqXBrW6edXzLp69i6UigIAgCAIAgCAIAgCAIAgI9oV0cEbpJntYxovLnG4BYbS5JQhKb2xXU41tl0qyTb0dFfFFkZiPvH/oHqjnmtad2eDtabw5R6z6v8v8nNZKgkk3kk5ucb3HxJVDZ1o1JGA81glg+LJFkiFhKyV4LKmoyVkw0WtNZyyVstKezOSzgg5FjDZvJZwQciZFZyzgg5kuKjIyWcEXJE2FrgslbwWNPKpJlUolnTycFJFEkQ7X2bgqrnOBjmHdniO5I08yM/NHFMQunXx1XoyFDb9VZxDLQBnp77mVkbcWj+OwfMJucfmJOmu7rV0fp+xu9LUska18bg9rhe1zTeCORVqeTQlFxeGZUMBAEAQBAEAQBAEBTbU7SwUERkmdngxg7zzwaPqoymorqX0aed0sRPz/ALW7VT18m/MbmA/dwg9hg0v9p3NaU7HJnptNoo0xNeOKrNtIbiwSwfHBZMNHyKIuOAvUiiRbUcLQQHOvd7DAXO9wWcFbsXY3KytnauS7qqJ93tTOEY8bjirVW/Q0rNXBcyX26mx0uxFoHN9LD4NdIforFUzUlrq/d/kWDNhav/fmjwpx9XLPlv1KnrYf0v8AH/Bl/wDRlaO7XMP6qcEfByz5b9TH/Lr7xf4/4MbrBtNmRpJxza6InlqsbJElqKn6r8yNJXzRftNBOwDN8V0zB47uKxxyixNS+WSf5EyzLSpqjCGZjnasJ3XjkWlFh8GJbo/MizNJdmLlnBDee44iEMNpk2FykiqSJe4HAtcA5pFxaReCOYUil9HlGo1NjTWa91RZ4MkBN89GTkNXwcDyVbi49Ym1G2F62W89n+5tdgW3DWRCWB14ycMnMdq17dCrIyUllGpbTKqW2RZKRUEAQBAEAQBAUu1m0kVBAZZcTlGwd57tGj/VRnNRWS/T0SuntR+eLetiasmdNOb3HutHdjbo1oXPnY5M9fpdJGmCSRVvCgjYkfGtWTCR7DVgzgkWfZsk8gjhjdLIfUaMubjkArIxbNS++MFnJ07ZvohJudXS3D9xFgPB0n+i2Y0+pw7vEf6Fn3f7HSrH2fpqVt0ELI+YHaPi44q5RS4ObZdZZ8zLNSKggCAIAgCAprZ2Wpar00LS7R47LxzDxjeouCfJdXqLK/lf27GvS2DXUeNJL9qiH/x58HgcI5dfNQ2yXHU2VdVZ8y2v1XH4EmxdoYahxiIdBO3vU8vZeP0394cwiaYsrlBZ5Xqi76tZK8maPBZIMlMKkVM07aKwpaWU19ngb93+Ip8mTtGZHB44quUWnuiblN0bI+Vbx2fobLs/bUVZC2aE3g5tPeY4ZtcNCFOMlJZRq3VSqltkWSkVBAEAQBARbUtBlPFJNKd1kbS5x8NBzWG8LLJ1wc5KMeWfnbai3pK+czyXhowhj0Yy/wDuOq59tm5nsfD9FGmBTOCpOi0YHtWUVSQasmEZWXXtvvLQ4b4bg4t13TxWYtZ6lV8ZuPwn6L2EhohSsdQBojcMT65dr1hz3l0YbcdDx2qdu/Fn+PsbGpmsEAQBAEAQBAEAQBAU+0OzcFY0CVtz29yVvZkYeLXjHyUZQUi6nUTq449OxrcVqVFnvbFaB62Bx3Yq0DK/JtQPVPNV5cekvxNrZC1bque8f2NtYQQCCCCLwRiCOIVhrGRrkMNGUPWSGDSLdp3WbOa6nbfBIQKyBoy/jsHEaqqXwvcjdqkr4eVPn+V/2N4pKlsrGyMIc17Q5pGRBF4KtTyaMouLaZlWSIQBAEBxbpS2k+1TmmjP3FO77wg4SSj1eYb81p32dkej8J0XTfLv+n+TRnrTPS4MbmIYML2LJBowltyyVtHphQyi/wBktpZbPm6yK90bvTQ6PHtNGjgrarXFnP12hjfHK5P0DYVsxVcLJoHBzHDzadWuGhC6EZJrKPJW1SqltkWCyVhAEAQBAEAQBAEAQGGrpWSsdHI0PY4EOa4Xgg6ELDWSUZOLzHk0QdZY8gY8uks6R1zHm9zqRxODXHMx6A6Kr5OnY3+mpW6PSa5Xr7/U3IOBAIIIIvBGRB1CsNU+dZcsGdp9fc4FrgC1wucDkQcwVkjhrqjU9m5TZ9WaF5P2ecmSjcTgw5ug+oUI/C9ptXLzq/NXK6P9ze1ac8IAgNY6Q9oDR0jnM9NKerhH5nZu8hefJV2S2xNvRUedal2XJwt0e6A3O7Fx1LjmSVzJPLPc01qEcGIhRLT6GrJgxXgm64gE3NeR2XEZtByvCk4NLJrx1EJTcDxJColziRnMuUiprBkjcsEky+2U2kls+brIr3Ru9NDo8e03g4K6q1xZz9doI3xyuTv1h2xFVwsmgcHMcPMHVrhoRwXQjJNZR5C2qVctsiwWSsIAgCAIAgCAIAgCAw1dMyVjo5GhzHghzSLwQdCsNZJRk4vK5NJseR1n1IoZiTBJjRSuN92roHO4jRVL4Xtf2N6eLYebHn+Zf3NmlUipGNsqZMuJV7VWX9qpy1p3ZYz1kD9WyMxF3jksSWUSpn5c8vjhlpsfbYrKWOU4PF7JW6tkZg8EeOPmpwluRRqKvKsce3b6F0pFAQHFOkG1vtNdJdjHSDq2cDI7vu8slo6ifXB6jwfTYipPv1NRkK1D0JhKAlUFA+eSKCL0kzt0H2W+s88gFbXDczR1uoVUG2dxl2LpnULaIt7DG9l2Tw/94D7V+K6Plrbg8atXYrfMX++xxfaCw5aKbqJ8b/RS3XNlb9HDgufbU4M9doNdG+OHyVEsSqN9oiObuqRW1gyxuWCSZsGyu0EtBL1sN7mO9PBo8e0zg8K6q1xZzNfoY3RyuTvVh2xFVwtmgcHMd7wdWuGhC6EZJrKPJW1SrltkT1krCAIAgCAIAgCAIAgKjaqw21lO+Indd3onjNkjcWOHmoyjuRdRb5U89u/0KbZm1nVEBEo3Z4HGKdvB7fW8CMVBPKNmyChLpw+qJUz7isEksnuOZZyQcSmsmT7JabmZQ17d9o0bPGO0P5h8liPSX1JWrzKM94/ob4rjnlbtJaYpaWec/hxkjmbsB77lGTwsltNfmWKPqcDLC1jQ7Fzr3vPFzzvH5rmTeWe60sNsCFKVWbZjiF5AWURk8LJ1LocsW8S1rxjJ93DfpG09pw/UfkuhRDCyeP8AFtS5z2L6v+x01bBxyr2jsGKthdDM28HFrh3mO0c06FRlFSWGW03SqluicJt+xJaKbqZ8b/RS+rK36O4hc62pwZ7LQ66N8cdyomhVR0GiG5u6VIqxglUsqwZfU2LZu3JaGXroBvMd6eDR49tnB4V9Vjizla7RRuj7ncrDtiKrhZNA7eY4eYOrXDQjgt+Mk1lHlbapVy2yJ6yVhAEAQBAEAQBAEAQGjbSxfY6+GqGEVUBT1HJ/4Uh+I9yqksSz6m/RLzKnDvHqvp3J9aLrxwWGTgQ4Z1hMnKJXbXNcabro/SUsjZ2XZ3MPbA8W3pLgU4U9r4fQ3+gqmyxxyNN7XtDgRzF6uTyjmTi4ycX2NK6Wqm+KmpwfTzAuH5Ihvn47vvVV7wsHR8Lr3WOXp/c5nXuvc481zXye0rWIpFVJiVEsPcVK5wDWd6V7YmeLzdf8VbWss0tbaoQP0hZFA2nhihYLmxsa0eQuXUSwsHhLJucnJ9yWskAgKvaOwYa2F0MzbwcWu9ZjtHNOhUZRUlhltN0qpbonCresWWim6ioF9/opfVlb46O4hc62pxZ7LQ6+N8fcqZ4VUb7RCILSpFbWCyo6hERaL/Z+2ZaGXroO0x3p4NJB7bBkHj4q+uxxZy9Zo42xO2WJa8VXCyaB28xw8wdWuGhC3oyTWUeXtqlXLbInrJWEAQBAEAQBAEAQFPtbZIqqSeHVzCWHg9uLHDmCAozWVgu09nl2KX+4NZsi0ftFJBKe85l0g1D2YOB53hVZysm/t2zcSM6W5yiW46EuGQO7JycC0+DhcpIpku5N6MJz9jMLj2qaWSIjgA69g/pcFOvjBr61fxN3qk/3Nb6RJi60GDSClLh+qV93yYqNQ+p0/B4fDn1f6Gj1QWiz1USA1t5WCbNt2As7rbQpgRhCx0zuTj2WX+8rc08ep53xm7EGvXodtW8eVCAIAgKvaOwYa2F0UzbwcWuHeY7RzToVGUVJYZbTdKqW6Jwq3bFmo5uonF9/opbuzM3x0cNQudbU4s9loddG+OG+pUzQqo32iK0lpUitotqKpWUVyReWFbEtDKZ4BvMd+0U+jx7cY0ePir67HFnL1mkjbE7RYlrxVcLZoHBzHDzadWuGhHBbsZJrKPM21SrltkT1krCAIAgCAIAgCAIDm1nx9TUWjT3XBkwmjH5Jhef+beVHDaOqnujCXqsfgRa6S4qDNiK6HuGoyWUVyiWexM25aFdH6sscU7RzuLHn4NVkPmZrapZqi/RtGubUP366vdnd1UY5brbyPeSta99WdjwmOIR+5q1WFqM9DEiwMWESkdH6KqYGprZPYZFF8C8/RdHTo8f4xPLS+p0xbJxAgCAIAgKraSwIa2F0MwvBxa4d5jtHNOhUZRUlhltN0qpbonDLdsaWjm6ioz/ClybK3TwdxC59tTiz2Oh10b4+5UzQqk6DRgY4tKkVNFvRVWSkmVSiXNiWvLQymenG8x37RT6PGr2cHge9XV2OLOZq9JG2J2axLXiq4WTQODmOHmDq1w0I4LdjJNZR5q2qVctsieslYQBAEAQBAEAQGgbTN3LUYQLuvo3Bx4mJ4u+DlTP5jo6Z5q+j/UoLUkVTN+CMME+CyiMkXGzcwFp0x/e0sjPNjmuH1U4/MjUvX8GXs0UloYzV5/8Atke5oWvdyzs+G/JH6FFXNWszuVmKiZi3xHzWEZsfRnUOiuIBlY7V1SQf5Y2D6rp0L4TxPiks2pexvKuOYEAQBAEAQFVtJYMVbC6GYYHFrh3mO0c08QoyipLDLabpVS3ROGW5Y8tHN1FRiT6KXJsrR8ncQufbU4s9joddG+PuVUsSpOg0YWOLSpFTRbUVXkpJlUolxYlsS0MpnpxvMd+0U9+Eg9tnB4+KurscWczV6SNsep2axLXiq4WTQO3mOHmDq1w0I4LdjJNZR5q2qVctsieslYQBAEAQBAEBo23vZrLOdx69vluA/RVWco39J8sl9DTrVlzVDOnFEKmnwWUJIvdnX319nH/9x/yKceUad/8A5z+xGqm/e1//ABh+LQqbuWdXw5/BH6FJXsWrI7dTMdA3FviPmkSVvDOm9GDuxWN1bVOJ/mjYQulR8p4nxNfxU/Y3VXHNCAIAgCAIAgKraSwIa2F0MzbwcWuHeY7RzToVGUVJYZbTdKqW6Jwy27Hmo5uoqMSfRSjuzN+juIXPtqcWey0OujfH3KuaJUm+0YGOLSpFTRa0lXzUkyqUS3sO2ZKGUzwDeY79op8g8e3GNHj4q6uzazm6vRxtidosS14quFk0Dg5jh5g6tcNCOC3YyTWUeZtqlXLbInrJWEAQBAEAQGh9Izv8TZ3J0x/6YH1VVnKN/RfLL7Gg2tPmtdnXiiDTTYLKMSRsuyT766z/ABmP/TVkOUaWoX8Of2/UmWpFdV2kz+JFJ/Wz/wAKq5dWbvh0vgh9yiro8FqyO9UyJRjLxWEW2G/9HEgbVV8ftdVKByLS0/2roUPk8d4rHrF/VHQFsHICAIAgCAIAgCAqtpLAhroXRTNvGbXDvMdo5p0KjKKksMupulVLdE4Zbdjy0cxgqBj+FL6srdMdHcQufbU4s9joddG+K69SqmiVJvtEdry0qRU0WVJV81nJBxLiwLcloZTNAC5jj9/T34PGsjODx8VdXY4s5us0cbY+52yxLXiq4WTQODmOHmDq1w0I4LejJNZR5e2qVctsieslYQBAEAQHM+kSf/3CAX4R0sjruBe8AfAKi19TqaGPwP3Zz21KjNUHVSIsM2CyRaN16PY9+0Kb+HTyv/qLWj5lW1/MjQ1bxVL3aLvaiHdtN4uwqKQEc3QuP0cFi5dSzw6f8P6P9TXqyPBackeirl1K6mbcSFBGzPg2nZep6q0KZ2AbUwOhJ/PGd9g/uW7Q+p5nxOvMH7PJ1FbZ54IAgCAIAgCAIAgKraSwIa2F0Uwwza4YOY4ZOadCoyipLDLqbpVS3ROGW5ZEtHMYKgY/hS3dmZvEHRw1C51tTiz2Oh10b4+5UzRKo32iIHFpUiton01UmSLRc7O7QSUEpmhvdG4/fwaPHtxjR4+KvrtcWc3W6GN0fc7lYlrxVcLZoHBzHDzB1a4aEcFvRkmso8rbVKuW2RPWSsIAgCA4htfaO/XVz9G7kDeHYF5I8ytSx9Wd/R14rivv+JpddUXlVm80Y2SrJDB1Hojg3qqqk/dwxRg83FziPgFfVycrXvFcV6tl90jRbklDU6RymJ50DJ23Xn+YN96zcuGQ8On1lD1WfwNfrqa4uHArTkj0dNmUmUvV3PVXc385iTawubB1rPSUsjZ2cw3vt8xePNXweDlaqCk8PhrB16iqmyxskab2vaHA8nC9b6eVk8lKLjJxfYzrJEIAgCAIAgCAIAgKraWwIa6F0MwwOLXDvMdo5p0KjKKksMupulVLdE4XblkS0cxgqM84pfVmby4O4hc62pxZ7HQ66N8fcqZ4lUb7RCN7SpFbWCVBUrBnGS62Y2lkoJjLF2o3H7+DRw9tnB4+KvqtcWc3XaCN0crk71YtrRVcLJoHBzHjDiDqHDQjgt+Mk1lHkrK5Vy2yJyyVhAQbctFtNTzTOyjY53uGA96xJ4WSyqDsmorufmqorTuje7zy6R/6nm8/NaMmepqikslXJNeVgyzPROve0c7z4BZRGfRHdOh2j3aN8xzqJnPH6W3Mb5dm/wA1tVLpk4OvlmxR9F/k2Ta6yvtVHPF6xZew53Pb2mn3gKc1lYNfT2eXYpGi0NR19PDLkXN3Xjg9nZcD5habWep6SuW1uJArqe43qmSOjVZlYJdmkX44gi5w4g4FTgUaiOUzYejesMYmoZD26Z18d/rQPJLCPDEe5bdT6YPOeIV/ErFw/wBTdVcc4IAgCAIAgCAIAgCAqtpLAiroXRTDDNrh3mO0c06FRlFSWGXU3SqluicKtyx5aOYwVGf4UvqytGvJ3ELnW1OLPY6HXRvj7lTPEqjfaIThulSK+DIx6wSTL3ZPaeWz5usjvdE8/fQ34OHts4OCuqtcWc3X6CN0crk79YtrxVcLJoHBzHjDiDq1w0I4LoRkmso8jbVKuW2ROWSs5V03W8AyKjacXkSTcmNPZB8SPgqLpdjq+HUt5n9l/c4xPMXElap3cdMHhDGCbZkLnEhuLnkRs/U83fVSRVY13P1JYlninp4YW5Rxtb7hj8b1vRWFg8tbNzm5PuTlkgc1jpfs9bVUpwZKftNPw7XpWDwdj5rVlHDaO7RburjP06M+1VNeFU0dCuzBCgjuNygjYm8rJmtFz4nQ1sIJkpuzKwZyQO7w5kYEeCui8dTm21qSdb4fHszpFn1rJ42SxneZI0OaeIK208rKPPTg4ScZcokLJEIAgCAIAgCAIAgCAqdpdn4a6ExTNv1Y4d5jtHNOhUZRUlhl1N8qpbonCrdseajmMFQMfwpR3Zm6EHR12YXOtqcWey0OujfFdepUzxKo3miE4bpUitrB6a9YM5L3ZHaiWz5t+O90Tj99Do4e2zg4fFX1WuLOZr9DG6OVydzO1dN9idWtkBhDN6/W/wBi72r8Llu71tyeX/41nm+Xjr/vU/Olu2m+qmlnl78rr7vZaMGtHgLlpTllnqdNp1CCwVRCgXtHkhZK2dE6I7C6+sa8jsUo3zwMjsGDyxK2Ko5Zydfdtra9en7neltHBCA1PpCsx74mVMIvnpHdY0DN7MpGebbz4hV2RysrsbuitUZ7JcS6fsRIJWTxsmjxZI0OHK/MeIKpaz1OlGTi9r7EKpprjeqnE3K7MrBmpTdzGRHEagqSK7FlYMNg13+zqgQPP+DqHEwPOUEpN5icdGk5c1bCW147HP1VPmx3JfEufdHRFsHICAIAgCAIAgCAIAgCAqdpdn4a6ExTDmx47zHaOadCoyipLDLqL5Uy3ROE27Y8tHMYKgY/hSZNlboR+biFzranFnstDro3wXXqVE0SqN5ohPbcpFTWA16BMydc7dLA9wjc4OdECdxzhk67ipqbxg1p6aMp7jA83qJczA9ZK5H2BuN91/AaknIBTRr2PofpHo62e+xUbGuH3sn3kp/M7JvkLgt6uO1Hl9Zd5tnThdEbQpmqEB8IvQHPI4P9nVhp3YUtW4vp3aRynvReBOI8VrtbXjszsQs86vcvmjz7ou6ilWHElC0rjFunkoYwbW7cj1U0rJo3RSjejeLiNRwI4ELJU8p5XJj2bt59HI2jrX7zHG6lqjk8aRSnR4yB1VkJ4+GRqanTKxO2pfVf3RvivOWEAQBAEAQBAEAQBAEBU7S7PxV0LophzY8d5jtHNKjKKksMuovlTLdE4Pb9jS0cxgqBjnFJd2ZmjUcHcQudbU4M9loddHUQ9ymmjVRvSREcLlIpawfN5ZMZPDnLJFsxnFZKmzovRDsp9on+0yD7mA9gEYPl0PMNz8bls0wy8nF8R1OyO1cv9Duq2jghAEAQFXtJYrKyB8L8Lxex47zHjuvaeIKjKO5YLaLnVNSRrezNpvcXUlV2aqAXHhMz1ZWcb1VH0fJ0LUklZD5X+TLaopr0cTNdmCuc3dzyVfBtp7jFWU0c0bopmh8bswcxzadCn1I4ae6PJDs63ZrNuZUkz0eTKkYyQjRszdWj2lOM3Hng1rtLG7Lh0l6dn9DfqOrZKxr43NexwvDmm8HzV6eeDlyi4vElhmZZIhAEAQBAEAQBAEAQGv7b2fSzUrxWOaxgxEhIBY7RzTx5aqE0mupsaWdkbF5fV+h+fCb97HeDXENku3esaMnbui5s0k+h7fTWTnH4kRpGqJa0YHMWclbieCxZyR2ltsvs/JXVDYIhnjI/SNmpPPgFbXByZoazURqi2z9J2PZkdLDHDE3dZG0Ac+JPEnNb6SSwjydlkrJOUu5NWSAQBAEAQGubYbNmqaySF3V1UOMMv/Y/i0qE4Z45NrTajy3iXWL5RD2bt8VQdHK3qqqLCaE4G/2mcWnioRlno+TYtq8vEovMXwybVwXrEkWVWYKiYFvgqn0N6OJGIVF1+RBzBxB8QsbiTqT5K2KhfA8yWfKIXE3vp33mnk8B6p5hSjLHBVbUprFiz790X9n7exgiOtjdSyZbzu1C4/llH1uV0bV3ObZoJrrX1X5m2wTteA5jg5pyLSCPeFaaLTXRmRDAQBAEAQBAYaqqZG0ukc1jRmXEAe8rDeCUYuTwkaFb/SlCy9lGw1D/AG+7C3nvZu8uCpnelwdLT+F2WP4un6nMratSarfv1UhkIN7WDCJn6W/Vac7XI9HpfD4VLj/fcgPdeqjoYI72oYMLmrJjBnsyzJamVsMDd+R3uaNXOOgCshByZparURqi22fobYvZaOz4BGztPdjLJq93+g0C6EIKKPIanUSunl8djYFM1ggCAIAgCAIDXNqtlhUls0Lupqo/RzDX8kg9ZqhOGeq5NrT6l1/DLrF9iqsjaEveaasb1FW31T3JgPXidkQeCrUuz5NuVSS31vMf0J9ZAoyRbVMpKuAjJUtHRrmnyV0k5Gahk2lBPgOrbxuuAe32XC8fFZ3kXp0yDFTxxnep5JaR38Jx6s+MZ7PwUlZjgqs0jmviSZb0m1FoR5up6oc74nn3YfBWq5nPs8Mg+E1+ZYRdIT2+loZhzjcyQfMFTV69DVl4XLtJfmSB0k0/rQ1Lf8kn5KXnRK/+tu9jzJ0l03qw1LvCIj+65Y86IXhlz9CBUdJrvwqKXxkexnyJUXqEXw8Im+WUFpdIFe+8B0FOPyjrH+92HwVUtSzeq8Fj36mm2lWOlO9NLLUH+I4lvkzJUStbOtToK4diP1pOGQ4DAKtvJuRgo9EfFgkfCEB5LVkwyTYlizVkwhp27zvXee5GOLj9FbXU5M52r10KY8/77Hd9jNkYbPi3WDekd6SU95x4Dg3kuhCCijyOp1U75ZfHobEpmsEAQBAEAQBAEAQFVtBs/BWM3Zm4jFkjezJGdHMcMQoyipcl1N86nmJp9RUVVndmsDqmmHdqmNvfGOEzR/cqWnHng6Vcq7usOkvT1+hPa9kzA+JzZGH1mm/38FFrPBfCTi8S6MrKqmBVTRvV2YKappSMlU4m/C1PkgSlwUOpsJRZGdU8VjJPyzz9tIycR5puMeUvQ8vtF3tn3puY8mPoR5K93tH3puZJVR9CJLUE5k+9YyTUERnvvWDODEWkoYPbY1kwetxDB8kaGi953Rz18AsqLZCdsY8mzbLbB1Fbc94dT0/tOF0sg/I05DmVtV0Z6s4Ot8VUfhj1f+8nZbDsWGkiEUDAxo97jxc7MlbsYqKwjzdts7ZbpMsFkrCAIAgCAIAgCAIAgCA+OaCLjiDmEBqNqbCs3zLRSOpJTidzGJ5/PFl5hVSqXK6G9VrpJbbFuX5lBWVlTT4V1MS3/eKe97DzczNqqlFrlHQqthL/AM5fZnmmnhqBfBKyTkDc4eLVW4+huRt2/MsEWqpCMwQq3E3K7U+GV0tICoOJsxsaIklEo7S1WkWSiWNpNWmF1GsYJeYYjSpgbzyadMDcfW0hOQJWcGHJLk8zRtj9I8N5ZuPgApKDZTPUQiXFi7LVdVd1MPVR/vpsPNrMyr4UNnK1Pi0IdE/wOibNdHdNTESS31Ew9eQdlp/IzILahVGJwdR4hbb04RuStNAIAgCAIAgCAIAgCAIAgCAIAgCAobX2Oo6k70kLQ/SRnYeP5mqDhFmxXqra+ifQo59iamP9mrSW6MnYJB4b4uKrdPozbh4gv5o/gVlRYtoNPbpYJh7UUu6T4NcFB0v0NyHiNf8AU19UV0sMo79BVN5tDXj4FVup+hsx18P60RHkawVY/wAkqPlFy1y9V+Ji3Ae7T1R/ySM/FPKZL/sIruvxMsdlVDz2KCoPN5awfNZVD9CEvFIL+ZE6n2NtB/4NPCOL5C8+5oU1p2a0/GIdm2W9J0aOdcamre4asiaI2/1Ym5WKhdzSs8Wm/lX4mz2NshR0txigbv8A7x3bf/U7FWqEVwaFmqts+Zl6pmuEAQBAEAQBAEAQBAEAQBAEAQBAEAQBAEAQBAfCgCA+oAgCAIAgCAIAgCAIAgCAID//2Q=="/>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AutoShape 168" descr="data:image/jpeg;base64,/9j/4AAQSkZJRgABAQAAAQABAAD/2wCEAAkGBxQSEhIUEhQVFBUUFBgXFBQXFRcVFRUXFBQXFhYVFBQYHSggGBolHBQUIjEhJSkrLi4uFx8zODMsNygtLisBCgoKDg0OGhAQGywlHyQsLCwsLCwsLCwsLSwsLCwsLCwsLC8sLCwsLCwsLCwsLCwsLCwsLCwsLCwsLCwsLCwsLP/AABEIAOEA4AMBEQACEQEDEQH/xAAcAAEAAgMBAQEAAAAAAAAAAAAABAUDBgcCAQj/xABIEAABAwEFBAYHBQYDBwUAAAABAAIDBAURITFBBhJRYQcTIjJxgTNCUpGhscEUI0NicjRTY4KSsiSD0RVUdKKjwuEWJURkc//EABoBAQACAwEAAAAAAAAAAAAAAAACAwEEBQb/xAAyEQACAgEDAgQEBAYDAAAAAAAAAQIDEQQSMSFBBRNRYSIycYGRobHRI0JSweHwFBUz/9oADAMBAAIRAxEAPwDuKAIAgCAIAgCAIAgItfaMUDd6aRkY4ucG/NYbS5JxrlN4ismo1/SjRMvEXWTn+Gzs/wBTrgq3bHsbUdBY/mwikqOlGd3oqRjBxllx9zQo+a/QvWgh3k/siDLt3XvylpouQYX/ABJWPMkTWkqXZv7nxm1Fa7Otb5QNTe/Uz/x6/wCj8yRFb1dpXN84GpufqRdFf9H5k6n2gtIfjUsvIscz5FZUpEHRT6Nfcnw7Y1zMZaJsg4wS3n+lwClvl6Fb0tT+WWPqifSdIdITdN1tM7hNGWi/9YvCyrF3K5aKz+XD+hs1HWxytDonte06tcHD4KaafBrShKLxJYJCyRCAIAgCAIAgCAIAgCAIAgCAIAgNd2l20pKEXSyXv0iZ2pD5aeahKaibFOlst6pdPU5dtD0p1U14hupY+PelI8cmqiVrZ1afD4R56v8AI0KrtMyO3nl0r/blcXnyvyVW43lVhY4+gZWPPrXDgMEyZ2JEiJ/ErJFonwShZINFjBOEyRcSxp5wpZIOJZ08wWclbiWlLNwKzkqcS0ZLvC54a8cHAO+alkqcccEI7LU5dvwGSkk9qBxaL+bMim1djPnTSxLqvcmRWpaNGPvGtr4Rm9lzJwObcnfBZ3SXuVOqizj4X+RsdgbUU1YD1L+2O9E8bkrfFhxVkZqXBrW6edXzLp69i6UigIAgCAIAgCAIAgCAIAgI9oV0cEbpJntYxovLnG4BYbS5JQhKb2xXU41tl0qyTb0dFfFFkZiPvH/oHqjnmtad2eDtabw5R6z6v8v8nNZKgkk3kk5ucb3HxJVDZ1o1JGA81glg+LJFkiFhKyV4LKmoyVkw0WtNZyyVstKezOSzgg5FjDZvJZwQciZFZyzgg5kuKjIyWcEXJE2FrgslbwWNPKpJlUolnTycFJFEkQ7X2bgqrnOBjmHdniO5I08yM/NHFMQunXx1XoyFDb9VZxDLQBnp77mVkbcWj+OwfMJucfmJOmu7rV0fp+xu9LUska18bg9rhe1zTeCORVqeTQlFxeGZUMBAEAQBAEAQBAEBTbU7SwUERkmdngxg7zzwaPqoymorqX0aed0sRPz/ALW7VT18m/MbmA/dwg9hg0v9p3NaU7HJnptNoo0xNeOKrNtIbiwSwfHBZMNHyKIuOAvUiiRbUcLQQHOvd7DAXO9wWcFbsXY3KytnauS7qqJ93tTOEY8bjirVW/Q0rNXBcyX26mx0uxFoHN9LD4NdIforFUzUlrq/d/kWDNhav/fmjwpx9XLPlv1KnrYf0v8AH/Bl/wDRlaO7XMP6qcEfByz5b9TH/Lr7xf4/4MbrBtNmRpJxza6InlqsbJElqKn6r8yNJXzRftNBOwDN8V0zB47uKxxyixNS+WSf5EyzLSpqjCGZjnasJ3XjkWlFh8GJbo/MizNJdmLlnBDee44iEMNpk2FykiqSJe4HAtcA5pFxaReCOYUil9HlGo1NjTWa91RZ4MkBN89GTkNXwcDyVbi49Ym1G2F62W89n+5tdgW3DWRCWB14ycMnMdq17dCrIyUllGpbTKqW2RZKRUEAQBAEAQBAUu1m0kVBAZZcTlGwd57tGj/VRnNRWS/T0SuntR+eLetiasmdNOb3HutHdjbo1oXPnY5M9fpdJGmCSRVvCgjYkfGtWTCR7DVgzgkWfZsk8gjhjdLIfUaMubjkArIxbNS++MFnJ07ZvohJudXS3D9xFgPB0n+i2Y0+pw7vEf6Fn3f7HSrH2fpqVt0ELI+YHaPi44q5RS4ObZdZZ8zLNSKggCAIAgCAprZ2Wpar00LS7R47LxzDxjeouCfJdXqLK/lf27GvS2DXUeNJL9qiH/x58HgcI5dfNQ2yXHU2VdVZ8y2v1XH4EmxdoYahxiIdBO3vU8vZeP0394cwiaYsrlBZ5Xqi76tZK8maPBZIMlMKkVM07aKwpaWU19ngb93+Ip8mTtGZHB44quUWnuiblN0bI+Vbx2fobLs/bUVZC2aE3g5tPeY4ZtcNCFOMlJZRq3VSqltkWSkVBAEAQBARbUtBlPFJNKd1kbS5x8NBzWG8LLJ1wc5KMeWfnbai3pK+czyXhowhj0Yy/wDuOq59tm5nsfD9FGmBTOCpOi0YHtWUVSQasmEZWXXtvvLQ4b4bg4t13TxWYtZ6lV8ZuPwn6L2EhohSsdQBojcMT65dr1hz3l0YbcdDx2qdu/Fn+PsbGpmsEAQBAEAQBAEAQBAU+0OzcFY0CVtz29yVvZkYeLXjHyUZQUi6nUTq449OxrcVqVFnvbFaB62Bx3Yq0DK/JtQPVPNV5cekvxNrZC1bque8f2NtYQQCCCCLwRiCOIVhrGRrkMNGUPWSGDSLdp3WbOa6nbfBIQKyBoy/jsHEaqqXwvcjdqkr4eVPn+V/2N4pKlsrGyMIc17Q5pGRBF4KtTyaMouLaZlWSIQBAEBxbpS2k+1TmmjP3FO77wg4SSj1eYb81p32dkej8J0XTfLv+n+TRnrTPS4MbmIYML2LJBowltyyVtHphQyi/wBktpZbPm6yK90bvTQ6PHtNGjgrarXFnP12hjfHK5P0DYVsxVcLJoHBzHDzadWuGhC6EZJrKPJW1SqltkWCyVhAEAQBAEAQBAEAQGGrpWSsdHI0PY4EOa4Xgg6ELDWSUZOLzHk0QdZY8gY8uks6R1zHm9zqRxODXHMx6A6Kr5OnY3+mpW6PSa5Xr7/U3IOBAIIIIvBGRB1CsNU+dZcsGdp9fc4FrgC1wucDkQcwVkjhrqjU9m5TZ9WaF5P2ecmSjcTgw5ug+oUI/C9ptXLzq/NXK6P9ze1ac8IAgNY6Q9oDR0jnM9NKerhH5nZu8hefJV2S2xNvRUedal2XJwt0e6A3O7Fx1LjmSVzJPLPc01qEcGIhRLT6GrJgxXgm64gE3NeR2XEZtByvCk4NLJrx1EJTcDxJColziRnMuUiprBkjcsEky+2U2kls+brIr3Ru9NDo8e03g4K6q1xZz9doI3xyuTv1h2xFVwsmgcHMcPMHVrhoRwXQjJNZR5C2qVctsiwWSsIAgCAIAgCAIAgCAw1dMyVjo5GhzHghzSLwQdCsNZJRk4vK5NJseR1n1IoZiTBJjRSuN92roHO4jRVL4Xtf2N6eLYebHn+Zf3NmlUipGNsqZMuJV7VWX9qpy1p3ZYz1kD9WyMxF3jksSWUSpn5c8vjhlpsfbYrKWOU4PF7JW6tkZg8EeOPmpwluRRqKvKsce3b6F0pFAQHFOkG1vtNdJdjHSDq2cDI7vu8slo6ifXB6jwfTYipPv1NRkK1D0JhKAlUFA+eSKCL0kzt0H2W+s88gFbXDczR1uoVUG2dxl2LpnULaIt7DG9l2Tw/94D7V+K6Plrbg8atXYrfMX++xxfaCw5aKbqJ8b/RS3XNlb9HDgufbU4M9doNdG+OHyVEsSqN9oiObuqRW1gyxuWCSZsGyu0EtBL1sN7mO9PBo8e0zg8K6q1xZzNfoY3RyuTvVh2xFVwtmgcHMd7wdWuGhC6EZJrKPJW1SrltkT1krCAIAgCAIAgCAIAgKjaqw21lO+Indd3onjNkjcWOHmoyjuRdRb5U89u/0KbZm1nVEBEo3Z4HGKdvB7fW8CMVBPKNmyChLpw+qJUz7isEksnuOZZyQcSmsmT7JabmZQ17d9o0bPGO0P5h8liPSX1JWrzKM94/ob4rjnlbtJaYpaWec/hxkjmbsB77lGTwsltNfmWKPqcDLC1jQ7Fzr3vPFzzvH5rmTeWe60sNsCFKVWbZjiF5AWURk8LJ1LocsW8S1rxjJ93DfpG09pw/UfkuhRDCyeP8AFtS5z2L6v+x01bBxyr2jsGKthdDM28HFrh3mO0c06FRlFSWGW03SqluicJt+xJaKbqZ8b/RS+rK36O4hc62pwZ7LQ66N8cdyomhVR0GiG5u6VIqxglUsqwZfU2LZu3JaGXroBvMd6eDR49tnB4V9Vjizla7RRuj7ncrDtiKrhZNA7eY4eYOrXDQjgt+Mk1lHlbapVy2yJ6yVhAEAQBAEAQBAEAQGjbSxfY6+GqGEVUBT1HJ/4Uh+I9yqksSz6m/RLzKnDvHqvp3J9aLrxwWGTgQ4Z1hMnKJXbXNcabro/SUsjZ2XZ3MPbA8W3pLgU4U9r4fQ3+gqmyxxyNN7XtDgRzF6uTyjmTi4ycX2NK6Wqm+KmpwfTzAuH5Ihvn47vvVV7wsHR8Lr3WOXp/c5nXuvc481zXye0rWIpFVJiVEsPcVK5wDWd6V7YmeLzdf8VbWss0tbaoQP0hZFA2nhihYLmxsa0eQuXUSwsHhLJucnJ9yWskAgKvaOwYa2F0MzbwcWu9ZjtHNOhUZRUlhltN0qpbonCresWWim6ioF9/opfVlb46O4hc62pxZ7LQ6+N8fcqZ4VUb7RCILSpFbWCyo6hERaL/Z+2ZaGXroO0x3p4NJB7bBkHj4q+uxxZy9Zo42xO2WJa8VXCyaB28xw8wdWuGhC3oyTWUeXtqlXLbInrJWEAQBAEAQBAEAQFPtbZIqqSeHVzCWHg9uLHDmCAozWVgu09nl2KX+4NZsi0ftFJBKe85l0g1D2YOB53hVZysm/t2zcSM6W5yiW46EuGQO7JycC0+DhcpIpku5N6MJz9jMLj2qaWSIjgA69g/pcFOvjBr61fxN3qk/3Nb6RJi60GDSClLh+qV93yYqNQ+p0/B4fDn1f6Gj1QWiz1USA1t5WCbNt2As7rbQpgRhCx0zuTj2WX+8rc08ep53xm7EGvXodtW8eVCAIAgKvaOwYa2F0UzbwcWuHeY7RzToVGUVJYZbTdKqW6Jwq3bFmo5uonF9/opbuzM3x0cNQudbU4s9loddG+OG+pUzQqo32iK0lpUitotqKpWUVyReWFbEtDKZ4BvMd+0U+jx7cY0ePir67HFnL1mkjbE7RYlrxVcLZoHBzHDzadWuGhHBbsZJrKPM21SrltkT1krCAIAgCAIAgCAIDm1nx9TUWjT3XBkwmjH5Jhef+beVHDaOqnujCXqsfgRa6S4qDNiK6HuGoyWUVyiWexM25aFdH6sscU7RzuLHn4NVkPmZrapZqi/RtGubUP366vdnd1UY5brbyPeSta99WdjwmOIR+5q1WFqM9DEiwMWESkdH6KqYGprZPYZFF8C8/RdHTo8f4xPLS+p0xbJxAgCAIAgKraSwIa2F0MwvBxa4d5jtHNOhUZRUlhltN0qpbonDLdsaWjm6ioz/ClybK3TwdxC59tTiz2Oh10b4+5UzQqk6DRgY4tKkVNFvRVWSkmVSiXNiWvLQymenG8x37RT6PGr2cHge9XV2OLOZq9JG2J2axLXiq4WTQODmOHmDq1w0I4LdjJNZR5q2qVctsieslYQBAEAQBAEAQGgbTN3LUYQLuvo3Bx4mJ4u+DlTP5jo6Z5q+j/UoLUkVTN+CMME+CyiMkXGzcwFp0x/e0sjPNjmuH1U4/MjUvX8GXs0UloYzV5/8Atke5oWvdyzs+G/JH6FFXNWszuVmKiZi3xHzWEZsfRnUOiuIBlY7V1SQf5Y2D6rp0L4TxPiks2pexvKuOYEAQBAEAQFVtJYMVbC6GYYHFrh3mO0c08QoyipLDLabpVS3ROGW5Y8tHN1FRiT6KXJsrR8ncQufbU4s9joddG+PuVUsSpOg0YWOLSpFTRbUVXkpJlUolxYlsS0MpnpxvMd+0U9+Eg9tnB4+KurscWczV6SNsep2axLXiq4WTQO3mOHmDq1w0I4LdjJNZR5q2qVctsieslYQBAEAQBAEBo23vZrLOdx69vluA/RVWco39J8sl9DTrVlzVDOnFEKmnwWUJIvdnX319nH/9x/yKceUad/8A5z+xGqm/e1//ABh+LQqbuWdXw5/BH6FJXsWrI7dTMdA3FviPmkSVvDOm9GDuxWN1bVOJ/mjYQulR8p4nxNfxU/Y3VXHNCAIAgCAIAgKraSwIa2F0MzbwcWuHeY7RzToVGUVJYZbTdKqW6Jwy27Hmo5uoqMSfRSjuzN+juIXPtqcWey0OujfH3KuaJUm+0YGOLSpFTRa0lXzUkyqUS3sO2ZKGUzwDeY79op8g8e3GNHj4q6uzazm6vRxtidosS14quFk0Dg5jh5g6tcNCOC3YyTWUeZtqlXLbInrJWEAQBAEAQGh9Izv8TZ3J0x/6YH1VVnKN/RfLL7Gg2tPmtdnXiiDTTYLKMSRsuyT766z/ABmP/TVkOUaWoX8Of2/UmWpFdV2kz+JFJ/Wz/wAKq5dWbvh0vgh9yiro8FqyO9UyJRjLxWEW2G/9HEgbVV8ftdVKByLS0/2roUPk8d4rHrF/VHQFsHICAIAgCAIAgCAqtpLAhroXRTNvGbXDvMdo5p0KjKKksMupulVLdE4Zbdjy0cxgqBj+FL6srdMdHcQufbU4s9joddG+K69SqmiVJvtEdry0qRU0WVJV81nJBxLiwLcloZTNAC5jj9/T34PGsjODx8VdXY4s5us0cbY+52yxLXiq4WTQODmOHmDq1w0I4LejJNZR5e2qVctsieslYQBAEAQHM+kSf/3CAX4R0sjruBe8AfAKi19TqaGPwP3Zz21KjNUHVSIsM2CyRaN16PY9+0Kb+HTyv/qLWj5lW1/MjQ1bxVL3aLvaiHdtN4uwqKQEc3QuP0cFi5dSzw6f8P6P9TXqyPBackeirl1K6mbcSFBGzPg2nZep6q0KZ2AbUwOhJ/PGd9g/uW7Q+p5nxOvMH7PJ1FbZ54IAgCAIAgCAIAgKraSwIa2F0Uwwza4YOY4ZOadCoyipLDLqbpVS3ROGW5ZEtHMYKgY/hS3dmZvEHRw1C51tTiz2Oh10b4+5UzRKo32iIHFpUiton01UmSLRc7O7QSUEpmhvdG4/fwaPHtxjR4+KvrtcWc3W6GN0fc7lYlrxVcLZoHBzHDzB1a4aEcFvRkmso8rbVKuW2RPWSsIAgCA4htfaO/XVz9G7kDeHYF5I8ytSx9Wd/R14rivv+JpddUXlVm80Y2SrJDB1Hojg3qqqk/dwxRg83FziPgFfVycrXvFcV6tl90jRbklDU6RymJ50DJ23Xn+YN96zcuGQ8On1lD1WfwNfrqa4uHArTkj0dNmUmUvV3PVXc385iTawubB1rPSUsjZ2cw3vt8xePNXweDlaqCk8PhrB16iqmyxskab2vaHA8nC9b6eVk8lKLjJxfYzrJEIAgCAIAgCAIAgKraWwIa6F0MwwOLXDvMdo5p0KjKKksMupulVLdE4XblkS0cxgqM84pfVmby4O4hc62pxZ7HQ66N8fcqZ4lUb7RCN7SpFbWCVBUrBnGS62Y2lkoJjLF2o3H7+DRw9tnB4+KvqtcWc3XaCN0crk71YtrRVcLJoHBzHjDiDqHDQjgt+Mk1lHkrK5Vy2yJyyVhAQbctFtNTzTOyjY53uGA96xJ4WSyqDsmorufmqorTuje7zy6R/6nm8/NaMmepqikslXJNeVgyzPROve0c7z4BZRGfRHdOh2j3aN8xzqJnPH6W3Mb5dm/wA1tVLpk4OvlmxR9F/k2Ta6yvtVHPF6xZew53Pb2mn3gKc1lYNfT2eXYpGi0NR19PDLkXN3Xjg9nZcD5habWep6SuW1uJArqe43qmSOjVZlYJdmkX44gi5w4g4FTgUaiOUzYejesMYmoZD26Z18d/rQPJLCPDEe5bdT6YPOeIV/ErFw/wBTdVcc4IAgCAIAgCAIAgCAqtpLAiroXRTDDNrh3mO0c06FRlFSWGXU3SqluicKtyx5aOYwVGf4UvqytGvJ3ELnW1OLPY6HXRvj7lTPEqjfaIThulSK+DIx6wSTL3ZPaeWz5usjvdE8/fQ34OHts4OCuqtcWc3X6CN0crk79YtrxVcLJoHBzHjDiDq1w0I4LoRkmso8jbVKuW2ROWSs5V03W8AyKjacXkSTcmNPZB8SPgqLpdjq+HUt5n9l/c4xPMXElap3cdMHhDGCbZkLnEhuLnkRs/U83fVSRVY13P1JYlninp4YW5Rxtb7hj8b1vRWFg8tbNzm5PuTlkgc1jpfs9bVUpwZKftNPw7XpWDwdj5rVlHDaO7RburjP06M+1VNeFU0dCuzBCgjuNygjYm8rJmtFz4nQ1sIJkpuzKwZyQO7w5kYEeCui8dTm21qSdb4fHszpFn1rJ42SxneZI0OaeIK208rKPPTg4ScZcokLJEIAgCAIAgCAIAgCAqdpdn4a6ExTNv1Y4d5jtHNOhUZRUlhl1N8qpbonCrdseajmMFQMfwpR3Zm6EHR12YXOtqcWey0OujfFdepUzxKo3miE4bpUitrB6a9YM5L3ZHaiWz5t+O90Tj99Do4e2zg4fFX1WuLOZr9DG6OVydzO1dN9idWtkBhDN6/W/wBi72r8Llu71tyeX/41nm+Xjr/vU/Olu2m+qmlnl78rr7vZaMGtHgLlpTllnqdNp1CCwVRCgXtHkhZK2dE6I7C6+sa8jsUo3zwMjsGDyxK2Ko5Zydfdtra9en7neltHBCA1PpCsx74mVMIvnpHdY0DN7MpGebbz4hV2RysrsbuitUZ7JcS6fsRIJWTxsmjxZI0OHK/MeIKpaz1OlGTi9r7EKpprjeqnE3K7MrBmpTdzGRHEagqSK7FlYMNg13+zqgQPP+DqHEwPOUEpN5icdGk5c1bCW147HP1VPmx3JfEufdHRFsHICAIAgCAIAgCAIAgCAqdpdn4a6ExTDmx47zHaOadCoyipLDLqL5Uy3ROE27Y8tHMYKgY/hSZNlboR+biFzranFnstDro3wXXqVE0SqN5ohPbcpFTWA16BMydc7dLA9wjc4OdECdxzhk67ipqbxg1p6aMp7jA83qJczA9ZK5H2BuN91/AaknIBTRr2PofpHo62e+xUbGuH3sn3kp/M7JvkLgt6uO1Hl9Zd5tnThdEbQpmqEB8IvQHPI4P9nVhp3YUtW4vp3aRynvReBOI8VrtbXjszsQs86vcvmjz7ou6ilWHElC0rjFunkoYwbW7cj1U0rJo3RSjejeLiNRwI4ELJU8p5XJj2bt59HI2jrX7zHG6lqjk8aRSnR4yB1VkJ4+GRqanTKxO2pfVf3RvivOWEAQBAEAQBAEAQBAEBU7S7PxV0LophzY8d5jtHNKjKKksMuovlTLdE4Pb9jS0cxgqBjnFJd2ZmjUcHcQudbU4M9loddHUQ9ymmjVRvSREcLlIpawfN5ZMZPDnLJFsxnFZKmzovRDsp9on+0yD7mA9gEYPl0PMNz8bls0wy8nF8R1OyO1cv9Duq2jghAEAQFXtJYrKyB8L8Lxex47zHjuvaeIKjKO5YLaLnVNSRrezNpvcXUlV2aqAXHhMz1ZWcb1VH0fJ0LUklZD5X+TLaopr0cTNdmCuc3dzyVfBtp7jFWU0c0bopmh8bswcxzadCn1I4ae6PJDs63ZrNuZUkz0eTKkYyQjRszdWj2lOM3Hng1rtLG7Lh0l6dn9DfqOrZKxr43NexwvDmm8HzV6eeDlyi4vElhmZZIhAEAQBAEAQBAEAQGv7b2fSzUrxWOaxgxEhIBY7RzTx5aqE0mupsaWdkbF5fV+h+fCb97HeDXENku3esaMnbui5s0k+h7fTWTnH4kRpGqJa0YHMWclbieCxZyR2ltsvs/JXVDYIhnjI/SNmpPPgFbXByZoazURqi2z9J2PZkdLDHDE3dZG0Ac+JPEnNb6SSwjydlkrJOUu5NWSAQBAEAQGubYbNmqaySF3V1UOMMv/Y/i0qE4Z45NrTajy3iXWL5RD2bt8VQdHK3qqqLCaE4G/2mcWnioRlno+TYtq8vEovMXwybVwXrEkWVWYKiYFvgqn0N6OJGIVF1+RBzBxB8QsbiTqT5K2KhfA8yWfKIXE3vp33mnk8B6p5hSjLHBVbUprFiz790X9n7exgiOtjdSyZbzu1C4/llH1uV0bV3ObZoJrrX1X5m2wTteA5jg5pyLSCPeFaaLTXRmRDAQBAEAQBAYaqqZG0ukc1jRmXEAe8rDeCUYuTwkaFb/SlCy9lGw1D/AG+7C3nvZu8uCpnelwdLT+F2WP4un6nMratSarfv1UhkIN7WDCJn6W/Vac7XI9HpfD4VLj/fcgPdeqjoYI72oYMLmrJjBnsyzJamVsMDd+R3uaNXOOgCshByZparURqi22fobYvZaOz4BGztPdjLJq93+g0C6EIKKPIanUSunl8djYFM1ggCAIAgCAIDXNqtlhUls0Lupqo/RzDX8kg9ZqhOGeq5NrT6l1/DLrF9iqsjaEveaasb1FW31T3JgPXidkQeCrUuz5NuVSS31vMf0J9ZAoyRbVMpKuAjJUtHRrmnyV0k5Gahk2lBPgOrbxuuAe32XC8fFZ3kXp0yDFTxxnep5JaR38Jx6s+MZ7PwUlZjgqs0jmviSZb0m1FoR5up6oc74nn3YfBWq5nPs8Mg+E1+ZYRdIT2+loZhzjcyQfMFTV69DVl4XLtJfmSB0k0/rQ1Lf8kn5KXnRK/+tu9jzJ0l03qw1LvCIj+65Y86IXhlz9CBUdJrvwqKXxkexnyJUXqEXw8Im+WUFpdIFe+8B0FOPyjrH+92HwVUtSzeq8Fj36mm2lWOlO9NLLUH+I4lvkzJUStbOtToK4diP1pOGQ4DAKtvJuRgo9EfFgkfCEB5LVkwyTYlizVkwhp27zvXee5GOLj9FbXU5M52r10KY8/77Hd9jNkYbPi3WDekd6SU95x4Dg3kuhCCijyOp1U75ZfHobEpmsEAQBAEAQBAEAQFVtBs/BWM3Zm4jFkjezJGdHMcMQoyipcl1N86nmJp9RUVVndmsDqmmHdqmNvfGOEzR/cqWnHng6Vcq7usOkvT1+hPa9kzA+JzZGH1mm/38FFrPBfCTi8S6MrKqmBVTRvV2YKappSMlU4m/C1PkgSlwUOpsJRZGdU8VjJPyzz9tIycR5puMeUvQ8vtF3tn3puY8mPoR5K93tH3puZJVR9CJLUE5k+9YyTUERnvvWDODEWkoYPbY1kwetxDB8kaGi953Rz18AsqLZCdsY8mzbLbB1Fbc94dT0/tOF0sg/I05DmVtV0Z6s4Ot8VUfhj1f+8nZbDsWGkiEUDAxo97jxc7MlbsYqKwjzdts7ZbpMsFkrCAIAgCAIAgCAIAgCA+OaCLjiDmEBqNqbCs3zLRSOpJTidzGJ5/PFl5hVSqXK6G9VrpJbbFuX5lBWVlTT4V1MS3/eKe97DzczNqqlFrlHQqthL/AM5fZnmmnhqBfBKyTkDc4eLVW4+huRt2/MsEWqpCMwQq3E3K7U+GV0tICoOJsxsaIklEo7S1WkWSiWNpNWmF1GsYJeYYjSpgbzyadMDcfW0hOQJWcGHJLk8zRtj9I8N5ZuPgApKDZTPUQiXFi7LVdVd1MPVR/vpsPNrMyr4UNnK1Pi0IdE/wOibNdHdNTESS31Ew9eQdlp/IzILahVGJwdR4hbb04RuStNAIAgCAIAgCAIAgCAIAgCAIAgCAobX2Oo6k70kLQ/SRnYeP5mqDhFmxXqra+ifQo59iamP9mrSW6MnYJB4b4uKrdPozbh4gv5o/gVlRYtoNPbpYJh7UUu6T4NcFB0v0NyHiNf8AU19UV0sMo79BVN5tDXj4FVup+hsx18P60RHkawVY/wAkqPlFy1y9V+Ji3Ae7T1R/ySM/FPKZL/sIruvxMsdlVDz2KCoPN5awfNZVD9CEvFIL+ZE6n2NtB/4NPCOL5C8+5oU1p2a0/GIdm2W9J0aOdcamre4asiaI2/1Ym5WKhdzSs8Wm/lX4mz2NshR0txigbv8A7x3bf/U7FWqEVwaFmqts+Zl6pmuEAQBAEAQBAEAQBAEAQBAEAQBAEAQBAEAQBAfCgCA+oAgCAIAgCAIAgCAIAgCAID//2Q=="/>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Tree>
    <p:extLst>
      <p:ext uri="{BB962C8B-B14F-4D97-AF65-F5344CB8AC3E}">
        <p14:creationId xmlns:p14="http://schemas.microsoft.com/office/powerpoint/2010/main" val="334676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5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7" grpId="0"/>
      <p:bldP spid="10" grpId="0" animBg="1"/>
      <p:bldP spid="8" grpId="0" animBg="1"/>
      <p:bldP spid="3" grpId="0"/>
      <p:bldP spid="13" grpId="0" animBg="1"/>
      <p:bldP spid="14" grpId="0"/>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azcapitoltimes.com/files/2012/12/cann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08104" y="102112"/>
            <a:ext cx="3468426" cy="23042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1560" y="2204864"/>
            <a:ext cx="8136904" cy="2554545"/>
          </a:xfrm>
          <a:prstGeom prst="rect">
            <a:avLst/>
          </a:prstGeom>
          <a:noFill/>
        </p:spPr>
        <p:txBody>
          <a:bodyPr wrap="square" rtlCol="1">
            <a:spAutoFit/>
          </a:bodyPr>
          <a:lstStyle/>
          <a:p>
            <a:pPr marL="457200" indent="-457200" algn="l" rtl="0">
              <a:spcBef>
                <a:spcPts val="600"/>
              </a:spcBef>
              <a:spcAft>
                <a:spcPts val="600"/>
              </a:spcAft>
              <a:buFont typeface="Arial" panose="020B0604020202020204" pitchFamily="34" charset="0"/>
              <a:buChar char="•"/>
            </a:pPr>
            <a:r>
              <a:rPr lang="en-US" sz="2800" dirty="0"/>
              <a:t>Semi-definite Programming is a generalization of Linear Programming</a:t>
            </a:r>
          </a:p>
          <a:p>
            <a:pPr marL="457200" indent="-457200" algn="l" rtl="0">
              <a:spcBef>
                <a:spcPts val="600"/>
              </a:spcBef>
              <a:spcAft>
                <a:spcPts val="600"/>
              </a:spcAft>
              <a:buFont typeface="Arial" panose="020B0604020202020204" pitchFamily="34" charset="0"/>
              <a:buChar char="•"/>
            </a:pPr>
            <a:r>
              <a:rPr lang="en-US" sz="2800" dirty="0"/>
              <a:t>Can be solved efficiently in polynomial time: </a:t>
            </a:r>
            <a:r>
              <a:rPr lang="en-US" sz="2800" dirty="0">
                <a:solidFill>
                  <a:srgbClr val="0070C0"/>
                </a:solidFill>
              </a:rPr>
              <a:t>Ellipsoid</a:t>
            </a:r>
            <a:r>
              <a:rPr lang="en-US" sz="2800" dirty="0"/>
              <a:t> method (up to arbitrary precision)</a:t>
            </a:r>
          </a:p>
          <a:p>
            <a:pPr marL="457200" indent="-457200" algn="l" rtl="0">
              <a:spcBef>
                <a:spcPts val="600"/>
              </a:spcBef>
              <a:spcAft>
                <a:spcPts val="600"/>
              </a:spcAft>
              <a:buFont typeface="Arial" panose="020B0604020202020204" pitchFamily="34" charset="0"/>
              <a:buChar char="•"/>
            </a:pPr>
            <a:r>
              <a:rPr lang="en-US" sz="2800" dirty="0"/>
              <a:t>In practice, solving SDP is </a:t>
            </a:r>
            <a:r>
              <a:rPr lang="en-US" sz="2800" dirty="0">
                <a:solidFill>
                  <a:srgbClr val="FF0000"/>
                </a:solidFill>
              </a:rPr>
              <a:t>heavy</a:t>
            </a:r>
            <a:endParaRPr lang="he-IL" sz="2800" dirty="0">
              <a:solidFill>
                <a:srgbClr val="FF0000"/>
              </a:solidFill>
            </a:endParaRPr>
          </a:p>
        </p:txBody>
      </p:sp>
      <p:sp>
        <p:nvSpPr>
          <p:cNvPr id="6" name="Title 1"/>
          <p:cNvSpPr>
            <a:spLocks noGrp="1"/>
          </p:cNvSpPr>
          <p:nvPr>
            <p:ph type="title"/>
          </p:nvPr>
        </p:nvSpPr>
        <p:spPr>
          <a:xfrm>
            <a:off x="179512" y="332656"/>
            <a:ext cx="7509520" cy="1802388"/>
          </a:xfrm>
        </p:spPr>
        <p:txBody>
          <a:bodyPr/>
          <a:lstStyle/>
          <a:p>
            <a:r>
              <a:rPr lang="en-US" dirty="0"/>
              <a:t>SDP – Quick Facts</a:t>
            </a:r>
            <a:endParaRPr lang="he-IL" dirty="0"/>
          </a:p>
        </p:txBody>
      </p:sp>
      <p:sp>
        <p:nvSpPr>
          <p:cNvPr id="8" name="Rounded Rectangle 7"/>
          <p:cNvSpPr/>
          <p:nvPr/>
        </p:nvSpPr>
        <p:spPr>
          <a:xfrm>
            <a:off x="611560" y="5373216"/>
            <a:ext cx="7488832" cy="720080"/>
          </a:xfrm>
          <a:prstGeom prst="roundRect">
            <a:avLst/>
          </a:prstGeom>
        </p:spPr>
        <p:style>
          <a:lnRef idx="1">
            <a:schemeClr val="dk1"/>
          </a:lnRef>
          <a:fillRef idx="2">
            <a:schemeClr val="dk1"/>
          </a:fillRef>
          <a:effectRef idx="1">
            <a:schemeClr val="dk1"/>
          </a:effectRef>
          <a:fontRef idx="minor">
            <a:schemeClr val="dk1"/>
          </a:fontRef>
        </p:style>
        <p:txBody>
          <a:bodyPr rtlCol="1" anchor="ctr"/>
          <a:lstStyle/>
          <a:p>
            <a:pPr algn="ctr"/>
            <a:r>
              <a:rPr lang="en-US" sz="2800" dirty="0">
                <a:solidFill>
                  <a:schemeClr val="tx1"/>
                </a:solidFill>
              </a:rPr>
              <a:t>Is it justified to use it for solving sparse PCA?</a:t>
            </a:r>
            <a:endParaRPr lang="he-IL" sz="2800" dirty="0">
              <a:solidFill>
                <a:schemeClr val="tx1"/>
              </a:solidFill>
            </a:endParaRPr>
          </a:p>
        </p:txBody>
      </p:sp>
    </p:spTree>
    <p:extLst>
      <p:ext uri="{BB962C8B-B14F-4D97-AF65-F5344CB8AC3E}">
        <p14:creationId xmlns:p14="http://schemas.microsoft.com/office/powerpoint/2010/main" val="982925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SDP Approach Contd.</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lgn="l" rtl="0">
                  <a:spcBef>
                    <a:spcPts val="1200"/>
                  </a:spcBef>
                  <a:buNone/>
                </a:pPr>
                <a:r>
                  <a:rPr lang="en-US" sz="2800" b="1" dirty="0">
                    <a:latin typeface="Courier" pitchFamily="49" charset="0"/>
                  </a:rPr>
                  <a:t>1. Use an SDP-Solver to obtain </a:t>
                </a:r>
                <a14:m>
                  <m:oMath xmlns:m="http://schemas.openxmlformats.org/officeDocument/2006/math">
                    <m:r>
                      <a:rPr lang="en-US" sz="2800" b="1" i="1" smtClean="0">
                        <a:latin typeface="Cambria Math"/>
                      </a:rPr>
                      <m:t>𝑿</m:t>
                    </m:r>
                  </m:oMath>
                </a14:m>
                <a:endParaRPr lang="en-US" sz="2800" b="1" dirty="0">
                  <a:latin typeface="Courier" pitchFamily="49" charset="0"/>
                </a:endParaRPr>
              </a:p>
              <a:p>
                <a:pPr marL="0" indent="0" algn="l" rtl="0">
                  <a:spcBef>
                    <a:spcPts val="1200"/>
                  </a:spcBef>
                  <a:buNone/>
                </a:pPr>
                <a:r>
                  <a:rPr lang="en-US" sz="2800" b="1" dirty="0">
                    <a:latin typeface="Courier" pitchFamily="49" charset="0"/>
                  </a:rPr>
                  <a:t>2. Return its leading e/vector </a:t>
                </a:r>
                <a:r>
                  <a:rPr lang="en-US" b="1" i="1" dirty="0">
                    <a:latin typeface="Courier" pitchFamily="49" charset="0"/>
                  </a:rPr>
                  <a:t>w</a:t>
                </a:r>
                <a:r>
                  <a:rPr lang="en-US" b="1" baseline="-25000" dirty="0">
                    <a:latin typeface="Courier" pitchFamily="49" charset="0"/>
                  </a:rPr>
                  <a:t>1</a:t>
                </a:r>
              </a:p>
              <a:p>
                <a:pPr marL="0" indent="0" algn="l" rtl="0">
                  <a:spcBef>
                    <a:spcPts val="1200"/>
                  </a:spcBef>
                  <a:buNone/>
                </a:pPr>
                <a:endParaRPr lang="he-IL"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481" t="-2156"/>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539552" y="3068960"/>
                <a:ext cx="7666727" cy="2160240"/>
              </a:xfrm>
              <a:prstGeom prst="roundRect">
                <a:avLst/>
              </a:prstGeom>
            </p:spPr>
            <p:style>
              <a:lnRef idx="1">
                <a:schemeClr val="dk1"/>
              </a:lnRef>
              <a:fillRef idx="1001">
                <a:schemeClr val="lt2"/>
              </a:fillRef>
              <a:effectRef idx="1">
                <a:schemeClr val="dk1"/>
              </a:effectRef>
              <a:fontRef idx="minor">
                <a:schemeClr val="dk1"/>
              </a:fontRef>
            </p:style>
            <p:txBody>
              <a:bodyPr rtlCol="1" anchor="ctr"/>
              <a:lstStyle/>
              <a:p>
                <a:pPr algn="l" rtl="0">
                  <a:spcBef>
                    <a:spcPts val="600"/>
                  </a:spcBef>
                  <a:spcAft>
                    <a:spcPts val="600"/>
                  </a:spcAft>
                </a:pPr>
                <a:r>
                  <a:rPr lang="en-US" sz="2800" dirty="0"/>
                  <a:t>Theorem [</a:t>
                </a:r>
                <a:r>
                  <a:rPr lang="en-US" sz="2800" dirty="0" err="1"/>
                  <a:t>Amini</a:t>
                </a:r>
                <a:r>
                  <a:rPr lang="en-US" sz="2800" dirty="0"/>
                  <a:t> &amp; Wainwright, Annals of Stat 09] </a:t>
                </a:r>
              </a:p>
              <a:p>
                <a:pPr algn="l" rtl="0">
                  <a:spcBef>
                    <a:spcPts val="600"/>
                  </a:spcBef>
                  <a:spcAft>
                    <a:spcPts val="600"/>
                  </a:spcAft>
                </a:pPr>
                <a:r>
                  <a:rPr lang="en-US" sz="2800" dirty="0">
                    <a:solidFill>
                      <a:schemeClr val="tx1"/>
                    </a:solidFill>
                  </a:rPr>
                  <a:t>Up to </a:t>
                </a:r>
                <a14:m>
                  <m:oMath xmlns:m="http://schemas.openxmlformats.org/officeDocument/2006/math">
                    <m:r>
                      <a:rPr lang="en-US" sz="2800" b="0" i="1" smtClean="0">
                        <a:solidFill>
                          <a:schemeClr val="tx1"/>
                        </a:solidFill>
                        <a:latin typeface="Cambria Math"/>
                      </a:rPr>
                      <m:t>𝑘</m:t>
                    </m:r>
                    <m:r>
                      <a:rPr lang="en-US" sz="2800" b="0" i="1" smtClean="0">
                        <a:solidFill>
                          <a:schemeClr val="tx1"/>
                        </a:solidFill>
                        <a:latin typeface="Cambria Math"/>
                      </a:rPr>
                      <m:t>=</m:t>
                    </m:r>
                    <m:rad>
                      <m:radPr>
                        <m:degHide m:val="on"/>
                        <m:ctrlPr>
                          <a:rPr lang="en-US" sz="2800" b="0" i="1" smtClean="0">
                            <a:solidFill>
                              <a:schemeClr val="tx1"/>
                            </a:solidFill>
                            <a:latin typeface="Cambria Math" panose="02040503050406030204" pitchFamily="18" charset="0"/>
                          </a:rPr>
                        </m:ctrlPr>
                      </m:radPr>
                      <m:deg/>
                      <m:e>
                        <m:r>
                          <a:rPr lang="en-US" sz="2800" b="0" i="1" smtClean="0">
                            <a:solidFill>
                              <a:schemeClr val="tx1"/>
                            </a:solidFill>
                            <a:latin typeface="Cambria Math"/>
                          </a:rPr>
                          <m:t>𝑛</m:t>
                        </m:r>
                        <m:r>
                          <a:rPr lang="en-US" sz="2800" b="0" i="1" smtClean="0">
                            <a:solidFill>
                              <a:schemeClr val="tx1"/>
                            </a:solidFill>
                            <a:latin typeface="Cambria Math"/>
                          </a:rPr>
                          <m:t>/</m:t>
                        </m:r>
                        <m:func>
                          <m:funcPr>
                            <m:ctrlPr>
                              <a:rPr lang="en-US" sz="2800" b="0" i="1" smtClean="0">
                                <a:solidFill>
                                  <a:schemeClr val="tx1"/>
                                </a:solidFill>
                                <a:latin typeface="Cambria Math" panose="02040503050406030204" pitchFamily="18" charset="0"/>
                              </a:rPr>
                            </m:ctrlPr>
                          </m:funcPr>
                          <m:fName>
                            <m:r>
                              <m:rPr>
                                <m:sty m:val="p"/>
                              </m:rPr>
                              <a:rPr lang="en-US" sz="2800" b="0" i="0" smtClean="0">
                                <a:solidFill>
                                  <a:schemeClr val="tx1"/>
                                </a:solidFill>
                                <a:latin typeface="Cambria Math"/>
                              </a:rPr>
                              <m:t>log</m:t>
                            </m:r>
                          </m:fName>
                          <m:e>
                            <m:r>
                              <a:rPr lang="en-US" sz="2800" b="0" i="1" smtClean="0">
                                <a:solidFill>
                                  <a:schemeClr val="tx1"/>
                                </a:solidFill>
                                <a:latin typeface="Cambria Math"/>
                              </a:rPr>
                              <m:t>𝑝</m:t>
                            </m:r>
                          </m:e>
                        </m:func>
                      </m:e>
                    </m:rad>
                  </m:oMath>
                </a14:m>
                <a:r>
                  <a:rPr lang="en-US" sz="2800" dirty="0">
                    <a:solidFill>
                      <a:schemeClr val="tx1"/>
                    </a:solidFill>
                  </a:rPr>
                  <a:t>  , </a:t>
                </a:r>
                <a:r>
                  <a:rPr lang="en-US" sz="2800" i="1" dirty="0" err="1">
                    <a:solidFill>
                      <a:schemeClr val="tx1"/>
                    </a:solidFill>
                    <a:latin typeface="+mj-lt"/>
                  </a:rPr>
                  <a:t>whp</a:t>
                </a:r>
                <a:r>
                  <a:rPr lang="en-US" sz="2800" dirty="0">
                    <a:solidFill>
                      <a:schemeClr val="tx1"/>
                    </a:solidFill>
                    <a:latin typeface="cmmi10" pitchFamily="34" charset="0"/>
                  </a:rPr>
                  <a:t> </a:t>
                </a:r>
                <a14:m>
                  <m:oMath xmlns:m="http://schemas.openxmlformats.org/officeDocument/2006/math">
                    <m:r>
                      <a:rPr lang="en-US" sz="2800" b="0" i="1" smtClean="0">
                        <a:solidFill>
                          <a:schemeClr val="tx1"/>
                        </a:solidFill>
                        <a:latin typeface="Cambria Math"/>
                      </a:rPr>
                      <m:t>𝑋</m:t>
                    </m:r>
                  </m:oMath>
                </a14:m>
                <a:r>
                  <a:rPr lang="en-US" sz="2800" dirty="0">
                    <a:solidFill>
                      <a:schemeClr val="tx1"/>
                    </a:solidFill>
                  </a:rPr>
                  <a:t> has rank one, i.e., </a:t>
                </a:r>
                <a14:m>
                  <m:oMath xmlns:m="http://schemas.openxmlformats.org/officeDocument/2006/math">
                    <m:r>
                      <a:rPr lang="en-US" sz="2800" i="1">
                        <a:solidFill>
                          <a:schemeClr val="tx1"/>
                        </a:solidFill>
                        <a:latin typeface="Cambria Math"/>
                      </a:rPr>
                      <m:t>𝑋</m:t>
                    </m:r>
                    <m:r>
                      <a:rPr lang="en-US" sz="2800" b="0" i="1" smtClean="0">
                        <a:solidFill>
                          <a:schemeClr val="tx1"/>
                        </a:solidFill>
                        <a:latin typeface="Cambria Math"/>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a:rPr>
                          <m:t>𝑤</m:t>
                        </m:r>
                      </m:e>
                      <m:sub>
                        <m:r>
                          <a:rPr lang="en-US" sz="2800" b="0" i="1" smtClean="0">
                            <a:solidFill>
                              <a:schemeClr val="tx1"/>
                            </a:solidFill>
                            <a:latin typeface="Cambria Math"/>
                          </a:rPr>
                          <m:t>1</m:t>
                        </m:r>
                      </m:sub>
                    </m:sSub>
                    <m:sSup>
                      <m:sSupPr>
                        <m:ctrlPr>
                          <a:rPr lang="en-US" sz="2800" b="0" i="1" smtClean="0">
                            <a:solidFill>
                              <a:schemeClr val="tx1"/>
                            </a:solidFill>
                            <a:latin typeface="Cambria Math" panose="02040503050406030204" pitchFamily="18" charset="0"/>
                          </a:rPr>
                        </m:ctrlPr>
                      </m:sSupPr>
                      <m:e>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a:rPr>
                              <m:t>𝑤</m:t>
                            </m:r>
                          </m:e>
                          <m:sub>
                            <m:r>
                              <a:rPr lang="en-US" sz="2800" b="0" i="1" smtClean="0">
                                <a:solidFill>
                                  <a:schemeClr val="tx1"/>
                                </a:solidFill>
                                <a:latin typeface="Cambria Math"/>
                              </a:rPr>
                              <m:t>1</m:t>
                            </m:r>
                          </m:sub>
                        </m:sSub>
                      </m:e>
                      <m:sup>
                        <m:r>
                          <a:rPr lang="en-US" sz="2800" b="0" i="1" smtClean="0">
                            <a:solidFill>
                              <a:schemeClr val="tx1"/>
                            </a:solidFill>
                            <a:latin typeface="Cambria Math"/>
                          </a:rPr>
                          <m:t>𝑡</m:t>
                        </m:r>
                      </m:sup>
                    </m:sSup>
                  </m:oMath>
                </a14:m>
                <a:r>
                  <a:rPr lang="en-US" sz="2800" dirty="0">
                    <a:solidFill>
                      <a:schemeClr val="tx1"/>
                    </a:solidFill>
                  </a:rPr>
                  <a:t> and </a:t>
                </a:r>
                <a14:m>
                  <m:oMath xmlns:m="http://schemas.openxmlformats.org/officeDocument/2006/math">
                    <m:r>
                      <a:rPr lang="en-US" sz="2800" b="0" i="1" smtClean="0">
                        <a:solidFill>
                          <a:schemeClr val="tx1"/>
                        </a:solidFill>
                        <a:latin typeface="Cambria Math"/>
                      </a:rPr>
                      <m:t>𝑠𝑢𝑝𝑝𝑜𝑟𝑡</m:t>
                    </m:r>
                    <m:d>
                      <m:dPr>
                        <m:ctrlPr>
                          <a:rPr lang="en-US" sz="2800" b="0" i="1" smtClean="0">
                            <a:solidFill>
                              <a:schemeClr val="tx1"/>
                            </a:solidFill>
                            <a:latin typeface="Cambria Math" panose="02040503050406030204" pitchFamily="18" charset="0"/>
                          </a:rPr>
                        </m:ctrlPr>
                      </m:dPr>
                      <m:e>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a:rPr>
                              <m:t>𝑤</m:t>
                            </m:r>
                          </m:e>
                          <m:sub>
                            <m:r>
                              <a:rPr lang="en-US" sz="2800" i="1">
                                <a:solidFill>
                                  <a:schemeClr val="tx1"/>
                                </a:solidFill>
                                <a:latin typeface="Cambria Math"/>
                              </a:rPr>
                              <m:t>1</m:t>
                            </m:r>
                          </m:sub>
                        </m:sSub>
                      </m:e>
                    </m:d>
                    <m:r>
                      <a:rPr lang="en-US" sz="2800" b="0" i="1" smtClean="0">
                        <a:solidFill>
                          <a:schemeClr val="tx1"/>
                        </a:solidFill>
                        <a:latin typeface="Cambria Math"/>
                      </a:rPr>
                      <m:t>=</m:t>
                    </m:r>
                    <m:r>
                      <a:rPr lang="en-US" sz="2800" b="0" i="1" smtClean="0">
                        <a:solidFill>
                          <a:schemeClr val="tx1"/>
                        </a:solidFill>
                        <a:latin typeface="Cambria Math"/>
                      </a:rPr>
                      <m:t>𝑠𝑢𝑝𝑝𝑜𝑟𝑡</m:t>
                    </m:r>
                    <m:r>
                      <a:rPr lang="en-US" sz="2800" b="0" i="1" smtClean="0">
                        <a:solidFill>
                          <a:schemeClr val="tx1"/>
                        </a:solidFill>
                        <a:latin typeface="Cambria Math"/>
                      </a:rPr>
                      <m:t>(</m:t>
                    </m:r>
                    <m:r>
                      <a:rPr lang="en-US" sz="2800" b="0" i="1" smtClean="0">
                        <a:solidFill>
                          <a:schemeClr val="tx1"/>
                        </a:solidFill>
                        <a:latin typeface="Cambria Math"/>
                      </a:rPr>
                      <m:t>𝑧</m:t>
                    </m:r>
                    <m:r>
                      <a:rPr lang="en-US" sz="2800" b="0" i="1" smtClean="0">
                        <a:solidFill>
                          <a:schemeClr val="tx1"/>
                        </a:solidFill>
                        <a:latin typeface="Cambria Math"/>
                      </a:rPr>
                      <m:t>)</m:t>
                    </m:r>
                  </m:oMath>
                </a14:m>
                <a:endParaRPr lang="en-US" sz="2800" dirty="0">
                  <a:solidFill>
                    <a:schemeClr val="tx1"/>
                  </a:solidFill>
                  <a:latin typeface="cmmi10" pitchFamily="34" charset="0"/>
                </a:endParaRPr>
              </a:p>
            </p:txBody>
          </p:sp>
        </mc:Choice>
        <mc:Fallback xmlns="">
          <p:sp>
            <p:nvSpPr>
              <p:cNvPr id="5" name="Rounded Rectangle 4"/>
              <p:cNvSpPr>
                <a:spLocks noRot="1" noChangeAspect="1" noMove="1" noResize="1" noEditPoints="1" noAdjustHandles="1" noChangeArrowheads="1" noChangeShapeType="1" noTextEdit="1"/>
              </p:cNvSpPr>
              <p:nvPr/>
            </p:nvSpPr>
            <p:spPr>
              <a:xfrm>
                <a:off x="539552" y="3068960"/>
                <a:ext cx="7666727" cy="2160240"/>
              </a:xfrm>
              <a:prstGeom prst="roundRect">
                <a:avLst/>
              </a:prstGeom>
              <a:blipFill rotWithShape="1">
                <a:blip r:embed="rId3"/>
                <a:stretch>
                  <a:fillRect/>
                </a:stretch>
              </a:blipFill>
            </p:spPr>
            <p:txBody>
              <a:bodyPr/>
              <a:lstStyle/>
              <a:p>
                <a:r>
                  <a:rPr lang="en-US">
                    <a:noFill/>
                  </a:rPr>
                  <a:t> </a:t>
                </a:r>
              </a:p>
            </p:txBody>
          </p:sp>
        </mc:Fallback>
      </mc:AlternateContent>
      <p:pic>
        <p:nvPicPr>
          <p:cNvPr id="9" name="Picture 2" descr="http://azcapitoltimes.com/files/2012/12/cann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6296" y="16955"/>
            <a:ext cx="1884250" cy="125180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p:cNvSpPr/>
              <p:nvPr/>
            </p:nvSpPr>
            <p:spPr>
              <a:xfrm>
                <a:off x="683569" y="5661248"/>
                <a:ext cx="7848871" cy="523220"/>
              </a:xfrm>
              <a:prstGeom prst="rect">
                <a:avLst/>
              </a:prstGeom>
            </p:spPr>
            <p:txBody>
              <a:bodyPr wrap="square">
                <a:spAutoFit/>
              </a:bodyPr>
              <a:lstStyle/>
              <a:p>
                <a:pPr algn="l" rtl="0"/>
                <a:r>
                  <a:rPr lang="en-US" sz="2800" dirty="0"/>
                  <a:t>Recall that the information limit is </a:t>
                </a:r>
                <a14:m>
                  <m:oMath xmlns:m="http://schemas.openxmlformats.org/officeDocument/2006/math">
                    <m:r>
                      <a:rPr lang="en-US" sz="2800" i="1">
                        <a:latin typeface="Cambria Math"/>
                      </a:rPr>
                      <m:t>𝑘</m:t>
                    </m:r>
                    <m:r>
                      <a:rPr lang="en-US" sz="2800" i="1">
                        <a:latin typeface="Cambria Math"/>
                        <a:ea typeface="Cambria Math"/>
                      </a:rPr>
                      <m:t>≥</m:t>
                    </m:r>
                    <m:r>
                      <a:rPr lang="en-US" sz="2800" i="1">
                        <a:latin typeface="Cambria Math"/>
                        <a:ea typeface="Cambria Math"/>
                      </a:rPr>
                      <m:t>𝑛</m:t>
                    </m:r>
                    <m:r>
                      <a:rPr lang="en-US" sz="2800" i="1">
                        <a:latin typeface="Cambria Math"/>
                        <a:ea typeface="Cambria Math"/>
                      </a:rPr>
                      <m:t>/</m:t>
                    </m:r>
                    <m:func>
                      <m:funcPr>
                        <m:ctrlPr>
                          <a:rPr lang="en-US" sz="2800" i="1">
                            <a:latin typeface="Cambria Math" panose="02040503050406030204" pitchFamily="18" charset="0"/>
                            <a:ea typeface="Cambria Math"/>
                          </a:rPr>
                        </m:ctrlPr>
                      </m:funcPr>
                      <m:fName>
                        <m:r>
                          <m:rPr>
                            <m:sty m:val="p"/>
                          </m:rPr>
                          <a:rPr lang="en-US" sz="2800">
                            <a:latin typeface="Cambria Math"/>
                            <a:ea typeface="Cambria Math"/>
                          </a:rPr>
                          <m:t>log</m:t>
                        </m:r>
                      </m:fName>
                      <m:e>
                        <m:r>
                          <a:rPr lang="en-US" sz="2800" i="1">
                            <a:latin typeface="Cambria Math"/>
                            <a:ea typeface="Cambria Math"/>
                          </a:rPr>
                          <m:t>𝑝</m:t>
                        </m:r>
                      </m:e>
                    </m:func>
                  </m:oMath>
                </a14:m>
                <a:endParaRPr lang="he-IL" sz="2800" dirty="0"/>
              </a:p>
            </p:txBody>
          </p:sp>
        </mc:Choice>
        <mc:Fallback xmlns="">
          <p:sp>
            <p:nvSpPr>
              <p:cNvPr id="4" name="Rectangle 3"/>
              <p:cNvSpPr>
                <a:spLocks noRot="1" noChangeAspect="1" noMove="1" noResize="1" noEditPoints="1" noAdjustHandles="1" noChangeArrowheads="1" noChangeShapeType="1" noTextEdit="1"/>
              </p:cNvSpPr>
              <p:nvPr/>
            </p:nvSpPr>
            <p:spPr>
              <a:xfrm>
                <a:off x="683569" y="5661248"/>
                <a:ext cx="7848871" cy="523220"/>
              </a:xfrm>
              <a:prstGeom prst="rect">
                <a:avLst/>
              </a:prstGeom>
              <a:blipFill rotWithShape="1">
                <a:blip r:embed="rId5"/>
                <a:stretch>
                  <a:fillRect l="-1553" t="-10465" b="-32558"/>
                </a:stretch>
              </a:blipFill>
            </p:spPr>
            <p:txBody>
              <a:bodyPr/>
              <a:lstStyle/>
              <a:p>
                <a:r>
                  <a:rPr lang="he-IL">
                    <a:noFill/>
                  </a:rPr>
                  <a:t> </a:t>
                </a:r>
              </a:p>
            </p:txBody>
          </p:sp>
        </mc:Fallback>
      </mc:AlternateContent>
    </p:spTree>
    <p:extLst>
      <p:ext uri="{BB962C8B-B14F-4D97-AF65-F5344CB8AC3E}">
        <p14:creationId xmlns:p14="http://schemas.microsoft.com/office/powerpoint/2010/main" val="146356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Results</a:t>
            </a:r>
            <a:endParaRPr lang="he-IL" dirty="0"/>
          </a:p>
        </p:txBody>
      </p:sp>
      <mc:AlternateContent xmlns:mc="http://schemas.openxmlformats.org/markup-compatibility/2006" xmlns:a14="http://schemas.microsoft.com/office/drawing/2010/main">
        <mc:Choice Requires="a14">
          <p:sp>
            <p:nvSpPr>
              <p:cNvPr id="5" name="Rounded Rectangle 4"/>
              <p:cNvSpPr/>
              <p:nvPr/>
            </p:nvSpPr>
            <p:spPr>
              <a:xfrm>
                <a:off x="323528" y="1340768"/>
                <a:ext cx="8568952" cy="4320480"/>
              </a:xfrm>
              <a:prstGeom prst="roundRect">
                <a:avLst/>
              </a:prstGeom>
            </p:spPr>
            <p:style>
              <a:lnRef idx="1">
                <a:schemeClr val="accent5"/>
              </a:lnRef>
              <a:fillRef idx="2">
                <a:schemeClr val="accent5"/>
              </a:fillRef>
              <a:effectRef idx="1">
                <a:schemeClr val="accent5"/>
              </a:effectRef>
              <a:fontRef idx="minor">
                <a:schemeClr val="dk1"/>
              </a:fontRef>
            </p:style>
            <p:txBody>
              <a:bodyPr rtlCol="1" anchor="ctr"/>
              <a:lstStyle/>
              <a:p>
                <a:pPr algn="l">
                  <a:spcBef>
                    <a:spcPts val="600"/>
                  </a:spcBef>
                  <a:spcAft>
                    <a:spcPts val="600"/>
                  </a:spcAft>
                </a:pPr>
                <a:r>
                  <a:rPr lang="en-US" sz="2800" dirty="0"/>
                  <a:t>Theorem 1 [Nadler, Krauthgamer, V. 2013] </a:t>
                </a:r>
              </a:p>
              <a:p>
                <a:pPr algn="l" rtl="0">
                  <a:spcBef>
                    <a:spcPts val="600"/>
                  </a:spcBef>
                  <a:spcAft>
                    <a:spcPts val="600"/>
                  </a:spcAft>
                </a:pPr>
                <a:r>
                  <a:rPr lang="en-US" sz="2800" dirty="0"/>
                  <a:t>If </a:t>
                </a:r>
                <a14:m>
                  <m:oMath xmlns:m="http://schemas.openxmlformats.org/officeDocument/2006/math">
                    <m:r>
                      <a:rPr lang="en-US" sz="2800" b="0" i="1" smtClean="0">
                        <a:latin typeface="Cambria Math"/>
                      </a:rPr>
                      <m:t>𝑝</m:t>
                    </m:r>
                    <m:r>
                      <a:rPr lang="en-US" sz="2800" b="0" i="1" smtClean="0">
                        <a:latin typeface="Cambria Math"/>
                      </a:rPr>
                      <m:t>=</m:t>
                    </m:r>
                    <m:r>
                      <a:rPr lang="en-US" sz="2800" b="0" i="1" smtClean="0">
                        <a:latin typeface="Cambria Math"/>
                      </a:rPr>
                      <m:t>𝑐𝑛</m:t>
                    </m:r>
                  </m:oMath>
                </a14:m>
                <a:r>
                  <a:rPr lang="en-US" sz="2800" dirty="0"/>
                  <a:t>, </a:t>
                </a:r>
                <a14:m>
                  <m:oMath xmlns:m="http://schemas.openxmlformats.org/officeDocument/2006/math">
                    <m:r>
                      <a:rPr lang="en-US" sz="2800" b="0" i="1" smtClean="0">
                        <a:latin typeface="Cambria Math"/>
                      </a:rPr>
                      <m:t>𝑘</m:t>
                    </m:r>
                    <m:r>
                      <a:rPr lang="en-US" sz="2800" b="0" i="1" smtClean="0">
                        <a:latin typeface="Cambria Math"/>
                        <a:ea typeface="Cambria Math"/>
                      </a:rPr>
                      <m:t>≥</m:t>
                    </m:r>
                    <m:f>
                      <m:fPr>
                        <m:ctrlPr>
                          <a:rPr lang="en-US" sz="2800" b="0" i="1" smtClean="0">
                            <a:latin typeface="Cambria Math" panose="02040503050406030204" pitchFamily="18" charset="0"/>
                            <a:ea typeface="Cambria Math"/>
                          </a:rPr>
                        </m:ctrlPr>
                      </m:fPr>
                      <m:num>
                        <m:r>
                          <a:rPr lang="en-US" sz="2800" b="0" i="1" smtClean="0">
                            <a:latin typeface="Cambria Math"/>
                            <a:ea typeface="Cambria Math"/>
                          </a:rPr>
                          <m:t>𝑝</m:t>
                        </m:r>
                      </m:num>
                      <m:den>
                        <m:rad>
                          <m:radPr>
                            <m:degHide m:val="on"/>
                            <m:ctrlPr>
                              <a:rPr lang="en-US" sz="2800" b="0" i="1" smtClean="0">
                                <a:latin typeface="Cambria Math" panose="02040503050406030204" pitchFamily="18" charset="0"/>
                                <a:ea typeface="Cambria Math"/>
                              </a:rPr>
                            </m:ctrlPr>
                          </m:radPr>
                          <m:deg/>
                          <m:e>
                            <m:r>
                              <a:rPr lang="en-US" sz="2800" b="0" i="1" smtClean="0">
                                <a:latin typeface="Cambria Math"/>
                                <a:ea typeface="Cambria Math"/>
                              </a:rPr>
                              <m:t>𝑛</m:t>
                            </m:r>
                          </m:e>
                        </m:rad>
                      </m:den>
                    </m:f>
                  </m:oMath>
                </a14:m>
                <a:r>
                  <a:rPr lang="en-US" sz="2800" dirty="0"/>
                  <a:t>  and </a:t>
                </a:r>
                <a14:m>
                  <m:oMath xmlns:m="http://schemas.openxmlformats.org/officeDocument/2006/math">
                    <m:r>
                      <a:rPr lang="en-US" sz="2800" i="1" smtClean="0">
                        <a:latin typeface="Cambria Math"/>
                        <a:ea typeface="Cambria Math"/>
                      </a:rPr>
                      <m:t>𝛽</m:t>
                    </m:r>
                    <m:r>
                      <a:rPr lang="en-US" sz="2800" i="1" smtClean="0">
                        <a:latin typeface="Cambria Math"/>
                        <a:ea typeface="Cambria Math"/>
                      </a:rPr>
                      <m:t>≤</m:t>
                    </m:r>
                    <m:rad>
                      <m:radPr>
                        <m:degHide m:val="on"/>
                        <m:ctrlPr>
                          <a:rPr lang="en-US" sz="2800" i="1" smtClean="0">
                            <a:latin typeface="Cambria Math" panose="02040503050406030204" pitchFamily="18" charset="0"/>
                            <a:ea typeface="Cambria Math"/>
                          </a:rPr>
                        </m:ctrlPr>
                      </m:radPr>
                      <m:deg/>
                      <m:e>
                        <m:r>
                          <a:rPr lang="en-US" sz="2800" b="0" i="1" smtClean="0">
                            <a:latin typeface="Cambria Math"/>
                            <a:ea typeface="Cambria Math"/>
                          </a:rPr>
                          <m:t>𝑐</m:t>
                        </m:r>
                        <m:r>
                          <a:rPr lang="en-US" sz="2800" b="0" i="1" smtClean="0">
                            <a:latin typeface="Cambria Math"/>
                            <a:ea typeface="Cambria Math"/>
                          </a:rPr>
                          <m:t> </m:t>
                        </m:r>
                      </m:e>
                    </m:rad>
                    <m:r>
                      <a:rPr lang="en-US" sz="2800" b="0" i="0" smtClean="0">
                        <a:latin typeface="Cambria Math"/>
                        <a:ea typeface="Cambria Math"/>
                      </a:rPr>
                      <m:t>, </m:t>
                    </m:r>
                  </m:oMath>
                </a14:m>
                <a:r>
                  <a:rPr lang="en-US" sz="2800" dirty="0">
                    <a:ea typeface="Cambria Math"/>
                  </a:rPr>
                  <a:t>then </a:t>
                </a:r>
                <a:r>
                  <a:rPr lang="en-US" sz="2800" i="1" dirty="0" err="1">
                    <a:ea typeface="Cambria Math"/>
                  </a:rPr>
                  <a:t>whp</a:t>
                </a:r>
                <a:endParaRPr lang="en-US" sz="2800" i="1" dirty="0">
                  <a:ea typeface="Cambria Math"/>
                </a:endParaRPr>
              </a:p>
              <a:p>
                <a:pPr algn="l" rtl="0">
                  <a:spcBef>
                    <a:spcPts val="600"/>
                  </a:spcBef>
                  <a:spcAft>
                    <a:spcPts val="600"/>
                  </a:spcAft>
                </a:pPr>
                <a:endParaRPr lang="he-IL" sz="2800" i="1" dirty="0">
                  <a:ea typeface="Cambria Math"/>
                </a:endParaRPr>
              </a:p>
              <a:p>
                <a:pPr algn="l">
                  <a:spcBef>
                    <a:spcPts val="600"/>
                  </a:spcBef>
                  <a:spcAft>
                    <a:spcPts val="600"/>
                  </a:spcAft>
                </a:pPr>
                <a:endParaRPr lang="en-US" sz="2800" dirty="0"/>
              </a:p>
              <a:p>
                <a:pPr algn="l">
                  <a:spcBef>
                    <a:spcPts val="600"/>
                  </a:spcBef>
                  <a:spcAft>
                    <a:spcPts val="600"/>
                  </a:spcAft>
                </a:pPr>
                <a:r>
                  <a:rPr lang="en-US" sz="2800" dirty="0"/>
                  <a:t>and every rank-one feasible solution </a:t>
                </a:r>
                <a:r>
                  <a:rPr lang="en-US" sz="2800" dirty="0">
                    <a:latin typeface="cmmi10" pitchFamily="34" charset="0"/>
                  </a:rPr>
                  <a:t>X</a:t>
                </a:r>
                <a:r>
                  <a:rPr lang="en-US" sz="2800" dirty="0"/>
                  <a:t> satisfies </a:t>
                </a:r>
              </a:p>
              <a:p>
                <a:pPr algn="l">
                  <a:spcBef>
                    <a:spcPts val="600"/>
                  </a:spcBef>
                  <a:spcAft>
                    <a:spcPts val="600"/>
                  </a:spcAft>
                </a:pPr>
                <a:r>
                  <a:rPr lang="en-US" sz="2800" dirty="0"/>
                  <a:t> </a:t>
                </a:r>
                <a:endParaRPr lang="he-IL" sz="2800" dirty="0"/>
              </a:p>
            </p:txBody>
          </p:sp>
        </mc:Choice>
        <mc:Fallback xmlns="">
          <p:sp>
            <p:nvSpPr>
              <p:cNvPr id="5" name="Rounded Rectangle 4"/>
              <p:cNvSpPr>
                <a:spLocks noRot="1" noChangeAspect="1" noMove="1" noResize="1" noEditPoints="1" noAdjustHandles="1" noChangeArrowheads="1" noChangeShapeType="1" noTextEdit="1"/>
              </p:cNvSpPr>
              <p:nvPr/>
            </p:nvSpPr>
            <p:spPr>
              <a:xfrm>
                <a:off x="323528" y="1340768"/>
                <a:ext cx="8568952" cy="4320480"/>
              </a:xfrm>
              <a:prstGeom prst="roundRect">
                <a:avLst/>
              </a:prstGeom>
              <a:blipFill rotWithShape="1">
                <a:blip r:embed="rId3"/>
                <a:stretch>
                  <a:fillRect/>
                </a:stretch>
              </a:blipFill>
            </p:spPr>
            <p:txBody>
              <a:bodyPr/>
              <a:lstStyle/>
              <a:p>
                <a:r>
                  <a:rPr lang="he-IL">
                    <a:noFill/>
                  </a:rPr>
                  <a:t> </a:t>
                </a:r>
              </a:p>
            </p:txBody>
          </p:sp>
        </mc:Fallback>
      </mc:AlternateContent>
      <p:graphicFrame>
        <p:nvGraphicFramePr>
          <p:cNvPr id="8" name="Content Placeholder 7"/>
          <p:cNvGraphicFramePr>
            <a:graphicFrameLocks noGrp="1" noChangeAspect="1"/>
          </p:cNvGraphicFramePr>
          <p:nvPr>
            <p:ph idx="1"/>
            <p:extLst>
              <p:ext uri="{D42A27DB-BD31-4B8C-83A1-F6EECF244321}">
                <p14:modId xmlns:p14="http://schemas.microsoft.com/office/powerpoint/2010/main" val="2853149960"/>
              </p:ext>
            </p:extLst>
          </p:nvPr>
        </p:nvGraphicFramePr>
        <p:xfrm>
          <a:off x="3364533" y="3068960"/>
          <a:ext cx="2287587" cy="885825"/>
        </p:xfrm>
        <a:graphic>
          <a:graphicData uri="http://schemas.openxmlformats.org/presentationml/2006/ole">
            <mc:AlternateContent xmlns:mc="http://schemas.openxmlformats.org/markup-compatibility/2006">
              <mc:Choice xmlns:v="urn:schemas-microsoft-com:vml" Requires="v">
                <p:oleObj name="משוואה" r:id="rId4" imgW="1015920" imgH="393480" progId="Equation.3">
                  <p:embed/>
                </p:oleObj>
              </mc:Choice>
              <mc:Fallback>
                <p:oleObj name="משוואה" r:id="rId4" imgW="1015920" imgH="393480" progId="Equation.3">
                  <p:embed/>
                  <p:pic>
                    <p:nvPicPr>
                      <p:cNvPr id="8" name="Content Placeholder 7"/>
                      <p:cNvPicPr/>
                      <p:nvPr/>
                    </p:nvPicPr>
                    <p:blipFill>
                      <a:blip r:embed="rId5"/>
                      <a:stretch>
                        <a:fillRect/>
                      </a:stretch>
                    </p:blipFill>
                    <p:spPr>
                      <a:xfrm>
                        <a:off x="3364533" y="3068960"/>
                        <a:ext cx="2287587" cy="885825"/>
                      </a:xfrm>
                      <a:prstGeom prst="rect">
                        <a:avLst/>
                      </a:prstGeom>
                    </p:spPr>
                  </p:pic>
                </p:oleObj>
              </mc:Fallback>
            </mc:AlternateContent>
          </a:graphicData>
        </a:graphic>
      </p:graphicFrame>
      <p:graphicFrame>
        <p:nvGraphicFramePr>
          <p:cNvPr id="9" name="Object 8"/>
          <p:cNvGraphicFramePr>
            <a:graphicFrameLocks noGrp="1" noChangeAspect="1"/>
          </p:cNvGraphicFramePr>
          <p:nvPr>
            <p:extLst>
              <p:ext uri="{D42A27DB-BD31-4B8C-83A1-F6EECF244321}">
                <p14:modId xmlns:p14="http://schemas.microsoft.com/office/powerpoint/2010/main" val="1284633721"/>
              </p:ext>
            </p:extLst>
          </p:nvPr>
        </p:nvGraphicFramePr>
        <p:xfrm>
          <a:off x="3347864" y="4724779"/>
          <a:ext cx="2232248" cy="864461"/>
        </p:xfrm>
        <a:graphic>
          <a:graphicData uri="http://schemas.openxmlformats.org/presentationml/2006/ole">
            <mc:AlternateContent xmlns:mc="http://schemas.openxmlformats.org/markup-compatibility/2006">
              <mc:Choice xmlns:v="urn:schemas-microsoft-com:vml" Requires="v">
                <p:oleObj name="משוואה" r:id="rId6" imgW="1015920" imgH="393480" progId="Equation.3">
                  <p:embed/>
                </p:oleObj>
              </mc:Choice>
              <mc:Fallback>
                <p:oleObj name="משוואה" r:id="rId6" imgW="1015920" imgH="393480" progId="Equation.3">
                  <p:embed/>
                  <p:pic>
                    <p:nvPicPr>
                      <p:cNvPr id="9" name="Object 8"/>
                      <p:cNvPicPr>
                        <a:picLocks noGrp="1" noChangeAspect="1" noChangeArrowheads="1"/>
                      </p:cNvPicPr>
                      <p:nvPr/>
                    </p:nvPicPr>
                    <p:blipFill>
                      <a:blip r:embed="rId7"/>
                      <a:srcRect/>
                      <a:stretch>
                        <a:fillRect/>
                      </a:stretch>
                    </p:blipFill>
                    <p:spPr bwMode="auto">
                      <a:xfrm>
                        <a:off x="3347864" y="4724779"/>
                        <a:ext cx="2232248" cy="864461"/>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2320073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Results</a:t>
            </a:r>
            <a:endParaRPr lang="he-IL" dirty="0"/>
          </a:p>
        </p:txBody>
      </p:sp>
      <mc:AlternateContent xmlns:mc="http://schemas.openxmlformats.org/markup-compatibility/2006" xmlns:a14="http://schemas.microsoft.com/office/drawing/2010/main">
        <mc:Choice Requires="a14">
          <p:sp>
            <p:nvSpPr>
              <p:cNvPr id="4" name="Rounded Rectangle 3"/>
              <p:cNvSpPr/>
              <p:nvPr/>
            </p:nvSpPr>
            <p:spPr>
              <a:xfrm>
                <a:off x="323528" y="1556792"/>
                <a:ext cx="8568952" cy="3204356"/>
              </a:xfrm>
              <a:prstGeom prst="roundRect">
                <a:avLst/>
              </a:prstGeom>
            </p:spPr>
            <p:style>
              <a:lnRef idx="1">
                <a:schemeClr val="accent5"/>
              </a:lnRef>
              <a:fillRef idx="2">
                <a:schemeClr val="accent5"/>
              </a:fillRef>
              <a:effectRef idx="1">
                <a:schemeClr val="accent5"/>
              </a:effectRef>
              <a:fontRef idx="minor">
                <a:schemeClr val="dk1"/>
              </a:fontRef>
            </p:style>
            <p:txBody>
              <a:bodyPr rtlCol="1" anchor="ctr"/>
              <a:lstStyle/>
              <a:p>
                <a:pPr algn="l"/>
                <a:endParaRPr lang="he-IL" sz="2800" dirty="0"/>
              </a:p>
              <a:p>
                <a:pPr algn="l"/>
                <a:r>
                  <a:rPr lang="en-US" sz="2800" dirty="0"/>
                  <a:t>Theorem 2 [Nadler, Krauthgamer, V. 2013] </a:t>
                </a:r>
              </a:p>
              <a:p>
                <a:pPr algn="l" rtl="0">
                  <a:lnSpc>
                    <a:spcPct val="150000"/>
                  </a:lnSpc>
                  <a:spcAft>
                    <a:spcPts val="600"/>
                  </a:spcAft>
                </a:pPr>
                <a:r>
                  <a:rPr lang="en-US" sz="2800" dirty="0"/>
                  <a:t>Let </a:t>
                </a:r>
                <a:r>
                  <a:rPr lang="en-US" sz="2800" dirty="0" err="1">
                    <a:latin typeface="cmmi10" pitchFamily="34" charset="0"/>
                  </a:rPr>
                  <a:t>X</a:t>
                </a:r>
                <a:r>
                  <a:rPr lang="en-US" sz="2800" baseline="-25000" dirty="0" err="1">
                    <a:latin typeface="cmmi10" pitchFamily="34" charset="0"/>
                  </a:rPr>
                  <a:t>opt</a:t>
                </a:r>
                <a:r>
                  <a:rPr lang="en-US" sz="2800" dirty="0"/>
                  <a:t> be the optimal solution to the SDP,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a:rPr>
                          <m:t>𝑤</m:t>
                        </m:r>
                      </m:e>
                      <m:sub>
                        <m:r>
                          <a:rPr lang="en-US" sz="2800" b="0" i="1" smtClean="0">
                            <a:latin typeface="Cambria Math"/>
                          </a:rPr>
                          <m:t>1</m:t>
                        </m:r>
                      </m:sub>
                    </m:sSub>
                  </m:oMath>
                </a14:m>
                <a:r>
                  <a:rPr lang="en-US" sz="2800" dirty="0"/>
                  <a:t> its leading eigenvector with eigenvalue </a:t>
                </a:r>
                <a:r>
                  <a:rPr lang="en-US" sz="2800" dirty="0">
                    <a:sym typeface="Symbol"/>
                  </a:rPr>
                  <a:t></a:t>
                </a:r>
                <a:r>
                  <a:rPr lang="en-US" sz="2800" baseline="-25000" dirty="0">
                    <a:latin typeface="cmr10" pitchFamily="34" charset="0"/>
                    <a:sym typeface="Symbol"/>
                  </a:rPr>
                  <a:t>1.  </a:t>
                </a:r>
                <a:r>
                  <a:rPr lang="en-US" sz="2800" dirty="0">
                    <a:sym typeface="Symbol"/>
                  </a:rPr>
                  <a:t>Then </a:t>
                </a:r>
                <a:r>
                  <a:rPr lang="en-US" sz="2800" i="1" dirty="0" err="1">
                    <a:latin typeface="+mj-lt"/>
                    <a:sym typeface="Symbol"/>
                  </a:rPr>
                  <a:t>whp</a:t>
                </a:r>
                <a:endParaRPr lang="en-US" sz="2800" i="1" dirty="0">
                  <a:latin typeface="+mj-lt"/>
                  <a:sym typeface="Symbol"/>
                </a:endParaRPr>
              </a:p>
              <a:p>
                <a:pPr algn="l"/>
                <a:endParaRPr lang="he-IL" sz="2800" dirty="0"/>
              </a:p>
              <a:p>
                <a:pPr algn="l"/>
                <a:endParaRPr lang="en-US" sz="2800" dirty="0"/>
              </a:p>
              <a:p>
                <a:pPr algn="l"/>
                <a:endParaRPr lang="en-US" sz="2800" dirty="0"/>
              </a:p>
            </p:txBody>
          </p:sp>
        </mc:Choice>
        <mc:Fallback xmlns="">
          <p:sp>
            <p:nvSpPr>
              <p:cNvPr id="4" name="Rounded Rectangle 3"/>
              <p:cNvSpPr>
                <a:spLocks noRot="1" noChangeAspect="1" noMove="1" noResize="1" noEditPoints="1" noAdjustHandles="1" noChangeArrowheads="1" noChangeShapeType="1" noTextEdit="1"/>
              </p:cNvSpPr>
              <p:nvPr/>
            </p:nvSpPr>
            <p:spPr>
              <a:xfrm>
                <a:off x="323528" y="1556792"/>
                <a:ext cx="8568952" cy="3204356"/>
              </a:xfrm>
              <a:prstGeom prst="roundRect">
                <a:avLst/>
              </a:prstGeom>
              <a:blipFill rotWithShape="1">
                <a:blip r:embed="rId3"/>
                <a:stretch>
                  <a:fillRect/>
                </a:stretch>
              </a:blipFill>
            </p:spPr>
            <p:txBody>
              <a:bodyPr/>
              <a:lstStyle/>
              <a:p>
                <a:r>
                  <a:rPr lang="he-IL">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2921834384"/>
              </p:ext>
            </p:extLst>
          </p:nvPr>
        </p:nvGraphicFramePr>
        <p:xfrm>
          <a:off x="3204195" y="3634531"/>
          <a:ext cx="2447925" cy="1090613"/>
        </p:xfrm>
        <a:graphic>
          <a:graphicData uri="http://schemas.openxmlformats.org/presentationml/2006/ole">
            <mc:AlternateContent xmlns:mc="http://schemas.openxmlformats.org/markup-compatibility/2006">
              <mc:Choice xmlns:v="urn:schemas-microsoft-com:vml" Requires="v">
                <p:oleObj name="משוואה" r:id="rId4" imgW="1054080" imgH="469800" progId="Equation.3">
                  <p:embed/>
                </p:oleObj>
              </mc:Choice>
              <mc:Fallback>
                <p:oleObj name="משוואה" r:id="rId4" imgW="1054080" imgH="469800" progId="Equation.3">
                  <p:embed/>
                  <p:pic>
                    <p:nvPicPr>
                      <p:cNvPr id="5" name="Object 4"/>
                      <p:cNvPicPr>
                        <a:picLocks noChangeAspect="1" noChangeArrowheads="1"/>
                      </p:cNvPicPr>
                      <p:nvPr/>
                    </p:nvPicPr>
                    <p:blipFill>
                      <a:blip r:embed="rId5"/>
                      <a:srcRect/>
                      <a:stretch>
                        <a:fillRect/>
                      </a:stretch>
                    </p:blipFill>
                    <p:spPr bwMode="auto">
                      <a:xfrm>
                        <a:off x="3204195" y="3634531"/>
                        <a:ext cx="2447925" cy="1090613"/>
                      </a:xfrm>
                      <a:prstGeom prst="rect">
                        <a:avLst/>
                      </a:prstGeom>
                      <a:noFill/>
                      <a:ln>
                        <a:noFill/>
                      </a:ln>
                    </p:spPr>
                  </p:pic>
                </p:oleObj>
              </mc:Fallback>
            </mc:AlternateContent>
          </a:graphicData>
        </a:graphic>
      </p:graphicFrame>
      <p:sp>
        <p:nvSpPr>
          <p:cNvPr id="6" name="TextBox 5"/>
          <p:cNvSpPr txBox="1"/>
          <p:nvPr/>
        </p:nvSpPr>
        <p:spPr>
          <a:xfrm>
            <a:off x="611560" y="5354052"/>
            <a:ext cx="8064896" cy="523220"/>
          </a:xfrm>
          <a:prstGeom prst="rect">
            <a:avLst/>
          </a:prstGeom>
          <a:noFill/>
        </p:spPr>
        <p:txBody>
          <a:bodyPr wrap="square" rtlCol="1">
            <a:spAutoFit/>
          </a:bodyPr>
          <a:lstStyle/>
          <a:p>
            <a:pPr algn="l" rtl="0"/>
            <a:r>
              <a:rPr lang="en-US" sz="2800" dirty="0"/>
              <a:t>In other words, low-rank solutions are not informative</a:t>
            </a:r>
            <a:endParaRPr lang="he-IL" sz="2800" dirty="0"/>
          </a:p>
        </p:txBody>
      </p:sp>
    </p:spTree>
    <p:extLst>
      <p:ext uri="{BB962C8B-B14F-4D97-AF65-F5344CB8AC3E}">
        <p14:creationId xmlns:p14="http://schemas.microsoft.com/office/powerpoint/2010/main" val="348574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548680"/>
            <a:ext cx="7716067"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Straight Connector 2"/>
          <p:cNvCxnSpPr/>
          <p:nvPr/>
        </p:nvCxnSpPr>
        <p:spPr>
          <a:xfrm>
            <a:off x="3275856" y="3933056"/>
            <a:ext cx="36004" cy="2664296"/>
          </a:xfrm>
          <a:prstGeom prst="line">
            <a:avLst/>
          </a:prstGeom>
        </p:spPr>
        <p:style>
          <a:lnRef idx="2">
            <a:schemeClr val="accent2"/>
          </a:lnRef>
          <a:fillRef idx="0">
            <a:schemeClr val="accent2"/>
          </a:fillRef>
          <a:effectRef idx="1">
            <a:schemeClr val="accent2"/>
          </a:effectRef>
          <a:fontRef idx="minor">
            <a:schemeClr val="tx1"/>
          </a:fontRef>
        </p:style>
      </p:cxnSp>
      <p:sp>
        <p:nvSpPr>
          <p:cNvPr id="4" name="TextBox 3"/>
          <p:cNvSpPr txBox="1"/>
          <p:nvPr/>
        </p:nvSpPr>
        <p:spPr>
          <a:xfrm>
            <a:off x="2843808" y="260648"/>
            <a:ext cx="4536504" cy="492443"/>
          </a:xfrm>
          <a:prstGeom prst="rect">
            <a:avLst/>
          </a:prstGeom>
          <a:noFill/>
        </p:spPr>
        <p:txBody>
          <a:bodyPr wrap="square" rtlCol="1">
            <a:spAutoFit/>
          </a:bodyPr>
          <a:lstStyle/>
          <a:p>
            <a:pPr algn="l" rtl="0"/>
            <a:r>
              <a:rPr lang="en-US" sz="2600" dirty="0"/>
              <a:t>Diagonal Thresholding vs. SDP</a:t>
            </a:r>
            <a:endParaRPr lang="he-IL" sz="2600" dirty="0"/>
          </a:p>
        </p:txBody>
      </p:sp>
    </p:spTree>
    <p:extLst>
      <p:ext uri="{BB962C8B-B14F-4D97-AF65-F5344CB8AC3E}">
        <p14:creationId xmlns:p14="http://schemas.microsoft.com/office/powerpoint/2010/main" val="353327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414338"/>
            <a:ext cx="7239000" cy="602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3" descr="C:\Users\vilenchi\Desktop\man_question_mar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3126" y="1980307"/>
            <a:ext cx="1096746" cy="1376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266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lstStyle/>
          <a:p>
            <a:r>
              <a:rPr lang="en-US" dirty="0"/>
              <a:t>Proof Ideas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67544" y="1556792"/>
                <a:ext cx="8229600" cy="4525963"/>
              </a:xfrm>
            </p:spPr>
            <p:txBody>
              <a:bodyPr>
                <a:normAutofit/>
              </a:bodyPr>
              <a:lstStyle/>
              <a:p>
                <a:endParaRPr lang="en-US" sz="2600" dirty="0"/>
              </a:p>
              <a:p>
                <a:endParaRPr lang="en-US" sz="2600" dirty="0"/>
              </a:p>
              <a:p>
                <a:pPr algn="l" rtl="0">
                  <a:spcAft>
                    <a:spcPts val="600"/>
                  </a:spcAft>
                </a:pPr>
                <a:r>
                  <a:rPr lang="en-US" sz="2600" dirty="0"/>
                  <a:t>“Guess” a solution </a:t>
                </a:r>
                <a:r>
                  <a:rPr lang="en-US" sz="2600" dirty="0">
                    <a:latin typeface="cmmi10" pitchFamily="34" charset="0"/>
                  </a:rPr>
                  <a:t>X</a:t>
                </a:r>
                <a:r>
                  <a:rPr lang="en-US" sz="2600" dirty="0"/>
                  <a:t> to the </a:t>
                </a:r>
                <a:r>
                  <a:rPr lang="en-US" sz="2600" dirty="0">
                    <a:latin typeface="cmmi10" pitchFamily="34" charset="0"/>
                  </a:rPr>
                  <a:t>SDP</a:t>
                </a:r>
              </a:p>
              <a:p>
                <a:pPr lvl="1" algn="l" rtl="0">
                  <a:spcAft>
                    <a:spcPts val="600"/>
                  </a:spcAft>
                </a:pPr>
                <a:r>
                  <a:rPr lang="en-US" sz="2600" dirty="0"/>
                  <a:t>Show that </a:t>
                </a:r>
                <a:r>
                  <a:rPr lang="en-US" sz="2600" dirty="0">
                    <a:latin typeface="cmmi10" pitchFamily="34" charset="0"/>
                  </a:rPr>
                  <a:t>X</a:t>
                </a:r>
                <a:r>
                  <a:rPr lang="en-US" sz="2600" dirty="0"/>
                  <a:t> is feasible (</a:t>
                </a:r>
                <a14:m>
                  <m:oMath xmlns:m="http://schemas.openxmlformats.org/officeDocument/2006/math">
                    <m:sSub>
                      <m:sSubPr>
                        <m:ctrlPr>
                          <a:rPr lang="en-US" sz="2600" i="1" smtClean="0">
                            <a:latin typeface="Cambria Math" panose="02040503050406030204" pitchFamily="18" charset="0"/>
                          </a:rPr>
                        </m:ctrlPr>
                      </m:sSubPr>
                      <m:e>
                        <m:d>
                          <m:dPr>
                            <m:begChr m:val="‖"/>
                            <m:endChr m:val="‖"/>
                            <m:ctrlPr>
                              <a:rPr lang="en-US" sz="2600" i="1" smtClean="0">
                                <a:latin typeface="Cambria Math" panose="02040503050406030204" pitchFamily="18" charset="0"/>
                              </a:rPr>
                            </m:ctrlPr>
                          </m:dPr>
                          <m:e>
                            <m:r>
                              <a:rPr lang="en-US" sz="2600" b="0" i="1" smtClean="0">
                                <a:latin typeface="Cambria Math"/>
                              </a:rPr>
                              <m:t>𝑋</m:t>
                            </m:r>
                          </m:e>
                        </m:d>
                      </m:e>
                      <m:sub>
                        <m:r>
                          <a:rPr lang="en-US" sz="2600" b="0" i="1" smtClean="0">
                            <a:latin typeface="Cambria Math"/>
                          </a:rPr>
                          <m:t>1</m:t>
                        </m:r>
                      </m:sub>
                    </m:sSub>
                    <m:r>
                      <a:rPr lang="en-US" sz="2600" i="1" smtClean="0">
                        <a:latin typeface="Cambria Math"/>
                        <a:ea typeface="Cambria Math"/>
                      </a:rPr>
                      <m:t>≤</m:t>
                    </m:r>
                    <m:r>
                      <a:rPr lang="en-US" sz="2600" b="0" i="1" smtClean="0">
                        <a:latin typeface="Cambria Math"/>
                        <a:ea typeface="Cambria Math"/>
                      </a:rPr>
                      <m:t>𝑘</m:t>
                    </m:r>
                  </m:oMath>
                </a14:m>
                <a:r>
                  <a:rPr lang="en-US" sz="2600" dirty="0"/>
                  <a:t>)</a:t>
                </a:r>
              </a:p>
              <a:p>
                <a:pPr lvl="1" algn="l" rtl="0">
                  <a:spcAft>
                    <a:spcPts val="600"/>
                  </a:spcAft>
                </a:pPr>
                <a:r>
                  <a:rPr lang="en-US" sz="2600" dirty="0"/>
                  <a:t>Compute its value</a:t>
                </a:r>
              </a:p>
              <a:p>
                <a:pPr algn="l" rtl="0"/>
                <a:endParaRPr lang="he-IL"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67544" y="1556792"/>
                <a:ext cx="8229600" cy="4525963"/>
              </a:xfrm>
              <a:blipFill rotWithShape="1">
                <a:blip r:embed="rId3"/>
                <a:stretch>
                  <a:fillRect l="-1185"/>
                </a:stretch>
              </a:blipFill>
            </p:spPr>
            <p:txBody>
              <a:bodyPr/>
              <a:lstStyle/>
              <a:p>
                <a:r>
                  <a:rPr lang="he-IL">
                    <a:noFill/>
                  </a:rPr>
                  <a:t> </a:t>
                </a:r>
              </a:p>
            </p:txBody>
          </p:sp>
        </mc:Fallback>
      </mc:AlternateContent>
      <p:sp>
        <p:nvSpPr>
          <p:cNvPr id="6" name="Double Bracket 5"/>
          <p:cNvSpPr/>
          <p:nvPr/>
        </p:nvSpPr>
        <p:spPr>
          <a:xfrm>
            <a:off x="3257612" y="4437112"/>
            <a:ext cx="2376264" cy="1512168"/>
          </a:xfrm>
          <a:prstGeom prst="bracketPair">
            <a:avLst/>
          </a:prstGeom>
          <a:ln w="28575"/>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8" name="Straight Connector 7"/>
          <p:cNvCxnSpPr/>
          <p:nvPr/>
        </p:nvCxnSpPr>
        <p:spPr>
          <a:xfrm>
            <a:off x="3923928" y="4437112"/>
            <a:ext cx="0" cy="15121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3347864" y="4941168"/>
            <a:ext cx="216024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ular Callout 13"/>
          <p:cNvSpPr/>
          <p:nvPr/>
        </p:nvSpPr>
        <p:spPr>
          <a:xfrm>
            <a:off x="1043608" y="4293096"/>
            <a:ext cx="1620180" cy="648072"/>
          </a:xfrm>
          <a:prstGeom prst="wedgeRectCallout">
            <a:avLst>
              <a:gd name="adj1" fmla="val 111006"/>
              <a:gd name="adj2" fmla="val 11162"/>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rPr>
              <a:t>Signal part</a:t>
            </a:r>
            <a:endParaRPr lang="he-IL" dirty="0">
              <a:solidFill>
                <a:schemeClr val="tx1"/>
              </a:solidFill>
            </a:endParaRPr>
          </a:p>
        </p:txBody>
      </p:sp>
      <p:sp>
        <p:nvSpPr>
          <p:cNvPr id="16" name="Rectangular Callout 15"/>
          <p:cNvSpPr/>
          <p:nvPr/>
        </p:nvSpPr>
        <p:spPr>
          <a:xfrm>
            <a:off x="6228184" y="5301208"/>
            <a:ext cx="1673646" cy="648072"/>
          </a:xfrm>
          <a:prstGeom prst="wedgeRectCallout">
            <a:avLst>
              <a:gd name="adj1" fmla="val -142983"/>
              <a:gd name="adj2" fmla="val -3638"/>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rPr>
              <a:t>Noise</a:t>
            </a:r>
            <a:endParaRPr lang="he-IL" dirty="0">
              <a:solidFill>
                <a:schemeClr val="tx1"/>
              </a:solidFill>
            </a:endParaRPr>
          </a:p>
        </p:txBody>
      </p:sp>
      <p:sp>
        <p:nvSpPr>
          <p:cNvPr id="17" name="Rectangular Callout 16"/>
          <p:cNvSpPr/>
          <p:nvPr/>
        </p:nvSpPr>
        <p:spPr>
          <a:xfrm>
            <a:off x="1043608" y="5161700"/>
            <a:ext cx="1673646" cy="648072"/>
          </a:xfrm>
          <a:prstGeom prst="wedgeRectCallout">
            <a:avLst>
              <a:gd name="adj1" fmla="val 92631"/>
              <a:gd name="adj2" fmla="val 24287"/>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solidFill>
                  <a:schemeClr val="tx1"/>
                </a:solidFill>
              </a:rPr>
              <a:t>Mixed Signal-Noise</a:t>
            </a:r>
            <a:endParaRPr lang="he-IL" dirty="0">
              <a:solidFill>
                <a:schemeClr val="tx1"/>
              </a:solidFill>
            </a:endParaRPr>
          </a:p>
        </p:txBody>
      </p:sp>
      <p:sp>
        <p:nvSpPr>
          <p:cNvPr id="15" name="TextBox 14"/>
          <p:cNvSpPr txBox="1"/>
          <p:nvPr/>
        </p:nvSpPr>
        <p:spPr>
          <a:xfrm>
            <a:off x="4202435" y="5157192"/>
            <a:ext cx="657597" cy="461665"/>
          </a:xfrm>
          <a:prstGeom prst="rect">
            <a:avLst/>
          </a:prstGeom>
          <a:noFill/>
        </p:spPr>
        <p:txBody>
          <a:bodyPr wrap="square" rtlCol="1">
            <a:spAutoFit/>
          </a:bodyPr>
          <a:lstStyle/>
          <a:p>
            <a:r>
              <a:rPr lang="en-US" sz="2400" dirty="0">
                <a:latin typeface="cmmi10" pitchFamily="34" charset="0"/>
              </a:rPr>
              <a:t>X</a:t>
            </a:r>
            <a:endParaRPr lang="he-IL" sz="2400" dirty="0"/>
          </a:p>
        </p:txBody>
      </p:sp>
      <p:sp>
        <p:nvSpPr>
          <p:cNvPr id="18" name="Rounded Rectangle 17"/>
          <p:cNvSpPr/>
          <p:nvPr/>
        </p:nvSpPr>
        <p:spPr>
          <a:xfrm>
            <a:off x="3203848" y="1268760"/>
            <a:ext cx="2736304" cy="1080120"/>
          </a:xfrm>
          <a:prstGeom prst="roundRect">
            <a:avLst/>
          </a:prstGeom>
        </p:spPr>
        <p:style>
          <a:lnRef idx="1">
            <a:schemeClr val="accent5"/>
          </a:lnRef>
          <a:fillRef idx="2">
            <a:schemeClr val="accent5"/>
          </a:fillRef>
          <a:effectRef idx="1">
            <a:schemeClr val="accent5"/>
          </a:effectRef>
          <a:fontRef idx="minor">
            <a:schemeClr val="dk1"/>
          </a:fontRef>
        </p:style>
        <p:txBody>
          <a:bodyPr rtlCol="1" anchor="ctr"/>
          <a:lstStyle/>
          <a:p>
            <a:pPr algn="ctr"/>
            <a:endParaRPr lang="he-IL"/>
          </a:p>
        </p:txBody>
      </p:sp>
      <p:graphicFrame>
        <p:nvGraphicFramePr>
          <p:cNvPr id="19" name="Object 18"/>
          <p:cNvGraphicFramePr>
            <a:graphicFrameLocks noGrp="1" noChangeAspect="1"/>
          </p:cNvGraphicFramePr>
          <p:nvPr>
            <p:extLst>
              <p:ext uri="{D42A27DB-BD31-4B8C-83A1-F6EECF244321}">
                <p14:modId xmlns:p14="http://schemas.microsoft.com/office/powerpoint/2010/main" val="3576098204"/>
              </p:ext>
            </p:extLst>
          </p:nvPr>
        </p:nvGraphicFramePr>
        <p:xfrm>
          <a:off x="3567732" y="1366664"/>
          <a:ext cx="2084388" cy="838200"/>
        </p:xfrm>
        <a:graphic>
          <a:graphicData uri="http://schemas.openxmlformats.org/presentationml/2006/ole">
            <mc:AlternateContent xmlns:mc="http://schemas.openxmlformats.org/markup-compatibility/2006">
              <mc:Choice xmlns:v="urn:schemas-microsoft-com:vml" Requires="v">
                <p:oleObj name="משוואה" r:id="rId4" imgW="977760" imgH="393480" progId="Equation.3">
                  <p:embed/>
                </p:oleObj>
              </mc:Choice>
              <mc:Fallback>
                <p:oleObj name="משוואה" r:id="rId4" imgW="977760" imgH="393480" progId="Equation.3">
                  <p:embed/>
                  <p:pic>
                    <p:nvPicPr>
                      <p:cNvPr id="19" name="Object 18"/>
                      <p:cNvPicPr>
                        <a:picLocks noGrp="1" noChangeAspect="1" noChangeArrowheads="1"/>
                      </p:cNvPicPr>
                      <p:nvPr/>
                    </p:nvPicPr>
                    <p:blipFill>
                      <a:blip r:embed="rId5"/>
                      <a:srcRect/>
                      <a:stretch>
                        <a:fillRect/>
                      </a:stretch>
                    </p:blipFill>
                    <p:spPr bwMode="auto">
                      <a:xfrm>
                        <a:off x="3567732" y="1366664"/>
                        <a:ext cx="208438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p:nvPr/>
        </p:nvSpPr>
        <p:spPr>
          <a:xfrm>
            <a:off x="4013845" y="4432466"/>
            <a:ext cx="1296144" cy="369332"/>
          </a:xfrm>
          <a:prstGeom prst="rect">
            <a:avLst/>
          </a:prstGeom>
          <a:noFill/>
        </p:spPr>
        <p:txBody>
          <a:bodyPr wrap="square" rtlCol="1">
            <a:spAutoFit/>
          </a:bodyPr>
          <a:lstStyle/>
          <a:p>
            <a:r>
              <a:rPr lang="en-US" dirty="0"/>
              <a:t> 0 0 0 0 0 0 </a:t>
            </a:r>
            <a:endParaRPr lang="he-IL" dirty="0"/>
          </a:p>
        </p:txBody>
      </p:sp>
      <p:sp>
        <p:nvSpPr>
          <p:cNvPr id="20" name="TextBox 19"/>
          <p:cNvSpPr txBox="1"/>
          <p:nvPr/>
        </p:nvSpPr>
        <p:spPr>
          <a:xfrm>
            <a:off x="3378169" y="4437112"/>
            <a:ext cx="401743" cy="1477328"/>
          </a:xfrm>
          <a:prstGeom prst="rect">
            <a:avLst/>
          </a:prstGeom>
          <a:noFill/>
        </p:spPr>
        <p:txBody>
          <a:bodyPr wrap="square" rtlCol="1">
            <a:spAutoFit/>
          </a:bodyPr>
          <a:lstStyle/>
          <a:p>
            <a:r>
              <a:rPr lang="en-US" dirty="0"/>
              <a:t> 0 </a:t>
            </a:r>
            <a:endParaRPr lang="he-IL" dirty="0"/>
          </a:p>
          <a:p>
            <a:endParaRPr lang="he-IL" dirty="0"/>
          </a:p>
          <a:p>
            <a:r>
              <a:rPr lang="en-US" dirty="0"/>
              <a:t>0 0 0</a:t>
            </a:r>
            <a:endParaRPr lang="he-IL" dirty="0"/>
          </a:p>
        </p:txBody>
      </p:sp>
      <mc:AlternateContent xmlns:mc="http://schemas.openxmlformats.org/markup-compatibility/2006" xmlns:a14="http://schemas.microsoft.com/office/drawing/2010/main">
        <mc:Choice Requires="a14">
          <p:sp>
            <p:nvSpPr>
              <p:cNvPr id="4" name="Rectangular Callout 3"/>
              <p:cNvSpPr/>
              <p:nvPr/>
            </p:nvSpPr>
            <p:spPr>
              <a:xfrm>
                <a:off x="6326446" y="3618223"/>
                <a:ext cx="2448272" cy="1008112"/>
              </a:xfrm>
              <a:prstGeom prst="wedgeRectCallout">
                <a:avLst>
                  <a:gd name="adj1" fmla="val -109862"/>
                  <a:gd name="adj2" fmla="val -49298"/>
                </a:avLst>
              </a:prstGeom>
            </p:spPr>
            <p:style>
              <a:lnRef idx="1">
                <a:schemeClr val="accent3"/>
              </a:lnRef>
              <a:fillRef idx="2">
                <a:schemeClr val="accent3"/>
              </a:fillRef>
              <a:effectRef idx="1">
                <a:schemeClr val="accent3"/>
              </a:effectRef>
              <a:fontRef idx="minor">
                <a:schemeClr val="dk1"/>
              </a:fontRef>
            </p:style>
            <p:txBody>
              <a:bodyPr rtlCol="1" anchor="ctr"/>
              <a:lstStyle/>
              <a:p>
                <a:pPr algn="ctr" rtl="0"/>
                <a14:m>
                  <m:oMathPara xmlns:m="http://schemas.openxmlformats.org/officeDocument/2006/math">
                    <m:oMathParaPr>
                      <m:jc m:val="center"/>
                    </m:oMathParaPr>
                    <m:oMath xmlns:m="http://schemas.openxmlformats.org/officeDocument/2006/math">
                      <m:sSub>
                        <m:sSubPr>
                          <m:ctrlPr>
                            <a:rPr lang="en-US" sz="2600" i="1" smtClean="0">
                              <a:latin typeface="Cambria Math" panose="02040503050406030204" pitchFamily="18" charset="0"/>
                            </a:rPr>
                          </m:ctrlPr>
                        </m:sSubPr>
                        <m:e>
                          <m:d>
                            <m:dPr>
                              <m:begChr m:val="‖"/>
                              <m:endChr m:val="‖"/>
                              <m:ctrlPr>
                                <a:rPr lang="en-US" sz="2600" i="1">
                                  <a:latin typeface="Cambria Math" panose="02040503050406030204" pitchFamily="18" charset="0"/>
                                </a:rPr>
                              </m:ctrlPr>
                            </m:dPr>
                            <m:e>
                              <m:r>
                                <a:rPr lang="en-US" sz="2600" i="1">
                                  <a:latin typeface="Cambria Math"/>
                                </a:rPr>
                                <m:t>𝑋</m:t>
                              </m:r>
                            </m:e>
                          </m:d>
                        </m:e>
                        <m:sub>
                          <m:r>
                            <a:rPr lang="en-US" sz="2600" i="1">
                              <a:latin typeface="Cambria Math"/>
                            </a:rPr>
                            <m:t>1</m:t>
                          </m:r>
                        </m:sub>
                      </m:sSub>
                      <m:r>
                        <a:rPr lang="en-US" sz="2600" i="1">
                          <a:latin typeface="Cambria Math"/>
                          <a:ea typeface="Cambria Math"/>
                        </a:rPr>
                        <m:t>=</m:t>
                      </m:r>
                      <m:f>
                        <m:fPr>
                          <m:ctrlPr>
                            <a:rPr lang="en-US" sz="2600" i="1" smtClean="0">
                              <a:latin typeface="Cambria Math" panose="02040503050406030204" pitchFamily="18" charset="0"/>
                              <a:ea typeface="Cambria Math"/>
                            </a:rPr>
                          </m:ctrlPr>
                        </m:fPr>
                        <m:num>
                          <m:r>
                            <a:rPr lang="en-US" sz="2600" b="0" i="1" smtClean="0">
                              <a:latin typeface="Cambria Math"/>
                              <a:ea typeface="Cambria Math"/>
                            </a:rPr>
                            <m:t>𝑝</m:t>
                          </m:r>
                        </m:num>
                        <m:den>
                          <m:rad>
                            <m:radPr>
                              <m:degHide m:val="on"/>
                              <m:ctrlPr>
                                <a:rPr lang="en-US" sz="2600" i="1" smtClean="0">
                                  <a:latin typeface="Cambria Math" panose="02040503050406030204" pitchFamily="18" charset="0"/>
                                  <a:ea typeface="Cambria Math"/>
                                </a:rPr>
                              </m:ctrlPr>
                            </m:radPr>
                            <m:deg/>
                            <m:e>
                              <m:r>
                                <a:rPr lang="en-US" sz="2600" b="0" i="1" smtClean="0">
                                  <a:latin typeface="Cambria Math"/>
                                  <a:ea typeface="Cambria Math"/>
                                </a:rPr>
                                <m:t>𝑛</m:t>
                              </m:r>
                            </m:e>
                          </m:rad>
                        </m:den>
                      </m:f>
                    </m:oMath>
                  </m:oMathPara>
                </a14:m>
                <a:endParaRPr lang="he-IL" sz="2600" dirty="0"/>
              </a:p>
            </p:txBody>
          </p:sp>
        </mc:Choice>
        <mc:Fallback xmlns="">
          <p:sp>
            <p:nvSpPr>
              <p:cNvPr id="4" name="Rectangular Callout 3"/>
              <p:cNvSpPr>
                <a:spLocks noRot="1" noChangeAspect="1" noMove="1" noResize="1" noEditPoints="1" noAdjustHandles="1" noChangeArrowheads="1" noChangeShapeType="1" noTextEdit="1"/>
              </p:cNvSpPr>
              <p:nvPr/>
            </p:nvSpPr>
            <p:spPr>
              <a:xfrm>
                <a:off x="6326446" y="3618223"/>
                <a:ext cx="2448272" cy="1008112"/>
              </a:xfrm>
              <a:prstGeom prst="wedgeRectCallout">
                <a:avLst>
                  <a:gd name="adj1" fmla="val -109862"/>
                  <a:gd name="adj2" fmla="val -49298"/>
                </a:avLst>
              </a:prstGeom>
              <a:blipFill rotWithShape="1">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647055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xit"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17"/>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4" grpId="1" animBg="1"/>
      <p:bldP spid="16" grpId="0" animBg="1"/>
      <p:bldP spid="16" grpId="1" animBg="1"/>
      <p:bldP spid="17" grpId="0" animBg="1"/>
      <p:bldP spid="17" grpId="1" animBg="1"/>
      <p:bldP spid="15" grpId="0"/>
      <p:bldP spid="7" grpId="0"/>
      <p:bldP spid="20" grpId="0"/>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26170"/>
          </a:xfrm>
        </p:spPr>
        <p:txBody>
          <a:bodyPr>
            <a:normAutofit/>
          </a:bodyPr>
          <a:lstStyle/>
          <a:p>
            <a:r>
              <a:rPr lang="en-US" dirty="0"/>
              <a:t>Covariance </a:t>
            </a:r>
            <a:r>
              <a:rPr lang="en-US" dirty="0" err="1"/>
              <a:t>Thresholding</a:t>
            </a:r>
            <a:endParaRPr lang="he-IL" dirty="0">
              <a:solidFill>
                <a:schemeClr val="bg2">
                  <a:lumMod val="25000"/>
                </a:schemeClr>
              </a:solidFill>
            </a:endParaRPr>
          </a:p>
        </p:txBody>
      </p:sp>
      <p:sp>
        <p:nvSpPr>
          <p:cNvPr id="3" name="Content Placeholder 2"/>
          <p:cNvSpPr>
            <a:spLocks noGrp="1"/>
          </p:cNvSpPr>
          <p:nvPr>
            <p:ph idx="1"/>
          </p:nvPr>
        </p:nvSpPr>
        <p:spPr>
          <a:xfrm>
            <a:off x="457200" y="1600200"/>
            <a:ext cx="8229600" cy="4925144"/>
          </a:xfrm>
        </p:spPr>
        <p:txBody>
          <a:bodyPr>
            <a:normAutofit/>
          </a:bodyPr>
          <a:lstStyle/>
          <a:p>
            <a:pPr algn="l" rtl="0">
              <a:spcAft>
                <a:spcPts val="600"/>
              </a:spcAft>
            </a:pPr>
            <a:r>
              <a:rPr lang="en-US" sz="2600" dirty="0"/>
              <a:t>Compute the sample covariance matrix</a:t>
            </a:r>
          </a:p>
          <a:p>
            <a:pPr algn="l" rtl="0">
              <a:spcAft>
                <a:spcPts val="600"/>
              </a:spcAft>
            </a:pPr>
            <a:endParaRPr lang="en-US" sz="2600" dirty="0"/>
          </a:p>
          <a:p>
            <a:pPr algn="l" rtl="0">
              <a:spcAft>
                <a:spcPts val="600"/>
              </a:spcAft>
            </a:pPr>
            <a:endParaRPr lang="en-US" sz="2600" dirty="0"/>
          </a:p>
          <a:p>
            <a:pPr algn="l" rtl="0">
              <a:spcAft>
                <a:spcPts val="600"/>
              </a:spcAft>
            </a:pPr>
            <a:r>
              <a:rPr lang="en-US" sz="2600" dirty="0"/>
              <a:t>Zero off-diagonal entries with value &lt; </a:t>
            </a:r>
            <a:r>
              <a:rPr lang="en-US" sz="2600" dirty="0">
                <a:solidFill>
                  <a:srgbClr val="FF0000"/>
                </a:solidFill>
                <a:latin typeface="cmmi10" pitchFamily="34" charset="0"/>
              </a:rPr>
              <a:t>t</a:t>
            </a:r>
          </a:p>
          <a:p>
            <a:pPr algn="l" rtl="0">
              <a:spcAft>
                <a:spcPts val="600"/>
              </a:spcAft>
            </a:pPr>
            <a:r>
              <a:rPr lang="en-US" sz="2600" dirty="0">
                <a:latin typeface="+mj-lt"/>
              </a:rPr>
              <a:t>Return leading eigenvector </a:t>
            </a:r>
            <a:r>
              <a:rPr lang="en-US" sz="2600" dirty="0">
                <a:latin typeface="cmmi10" pitchFamily="34" charset="0"/>
              </a:rPr>
              <a:t>w</a:t>
            </a:r>
            <a:r>
              <a:rPr lang="en-US" sz="2600" baseline="-25000" dirty="0">
                <a:latin typeface="cmr10" pitchFamily="34" charset="0"/>
              </a:rPr>
              <a:t>1 </a:t>
            </a:r>
            <a:r>
              <a:rPr lang="en-US" sz="2600" dirty="0"/>
              <a:t>of the </a:t>
            </a:r>
            <a:r>
              <a:rPr lang="en-US" sz="2600" dirty="0" err="1"/>
              <a:t>thresholded</a:t>
            </a:r>
            <a:r>
              <a:rPr lang="en-US" sz="2600" dirty="0"/>
              <a:t> matrix</a:t>
            </a:r>
            <a:endParaRPr lang="en-US" sz="2600" baseline="-25000" dirty="0">
              <a:latin typeface="cmr10" pitchFamily="34" charset="0"/>
            </a:endParaRPr>
          </a:p>
          <a:p>
            <a:pPr algn="l" rtl="0">
              <a:spcAft>
                <a:spcPts val="600"/>
              </a:spcAft>
            </a:pPr>
            <a:r>
              <a:rPr lang="en-US" sz="2600" dirty="0">
                <a:solidFill>
                  <a:schemeClr val="accent6">
                    <a:lumMod val="50000"/>
                  </a:schemeClr>
                </a:solidFill>
                <a:latin typeface="+mj-lt"/>
              </a:rPr>
              <a:t>How to choose </a:t>
            </a:r>
            <a:r>
              <a:rPr lang="en-US" sz="2600" dirty="0">
                <a:solidFill>
                  <a:schemeClr val="accent6">
                    <a:lumMod val="50000"/>
                  </a:schemeClr>
                </a:solidFill>
                <a:latin typeface="cmmi10" pitchFamily="34" charset="0"/>
              </a:rPr>
              <a:t>t</a:t>
            </a:r>
            <a:r>
              <a:rPr lang="en-US" sz="2600" dirty="0">
                <a:solidFill>
                  <a:schemeClr val="accent6">
                    <a:lumMod val="50000"/>
                  </a:schemeClr>
                </a:solidFill>
                <a:latin typeface="+mj-lt"/>
              </a:rPr>
              <a:t>?</a:t>
            </a:r>
          </a:p>
          <a:p>
            <a:pPr lvl="1" algn="l" rtl="0">
              <a:spcAft>
                <a:spcPts val="600"/>
              </a:spcAft>
            </a:pPr>
            <a:r>
              <a:rPr lang="en-US" sz="2400" dirty="0">
                <a:latin typeface="+mj-lt"/>
              </a:rPr>
              <a:t>Expected gap between noise and signal part is β</a:t>
            </a:r>
            <a:r>
              <a:rPr lang="en-US" sz="2400" dirty="0">
                <a:latin typeface="cmr10" pitchFamily="34" charset="0"/>
              </a:rPr>
              <a:t>/</a:t>
            </a:r>
            <a:r>
              <a:rPr lang="en-US" sz="2400" dirty="0">
                <a:latin typeface="cmmi10" pitchFamily="34" charset="0"/>
              </a:rPr>
              <a:t>k  </a:t>
            </a:r>
          </a:p>
          <a:p>
            <a:pPr lvl="1" algn="l" rtl="0">
              <a:spcAft>
                <a:spcPts val="600"/>
              </a:spcAft>
            </a:pPr>
            <a:endParaRPr lang="en-US" sz="2200" dirty="0">
              <a:latin typeface="+mj-l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466037504"/>
              </p:ext>
            </p:extLst>
          </p:nvPr>
        </p:nvGraphicFramePr>
        <p:xfrm>
          <a:off x="2666001" y="5589240"/>
          <a:ext cx="1689975" cy="936104"/>
        </p:xfrm>
        <a:graphic>
          <a:graphicData uri="http://schemas.openxmlformats.org/presentationml/2006/ole">
            <mc:AlternateContent xmlns:mc="http://schemas.openxmlformats.org/markup-compatibility/2006">
              <mc:Choice xmlns:v="urn:schemas-microsoft-com:vml" Requires="v">
                <p:oleObj name="משוואה" r:id="rId2" imgW="799920" imgH="444240" progId="Equation.3">
                  <p:embed/>
                </p:oleObj>
              </mc:Choice>
              <mc:Fallback>
                <p:oleObj name="משוואה" r:id="rId2" imgW="799920" imgH="444240" progId="Equation.3">
                  <p:embed/>
                  <p:pic>
                    <p:nvPicPr>
                      <p:cNvPr id="4" name="Object 3"/>
                      <p:cNvPicPr>
                        <a:picLocks noChangeAspect="1" noChangeArrowheads="1"/>
                      </p:cNvPicPr>
                      <p:nvPr/>
                    </p:nvPicPr>
                    <p:blipFill>
                      <a:blip r:embed="rId3"/>
                      <a:srcRect/>
                      <a:stretch>
                        <a:fillRect/>
                      </a:stretch>
                    </p:blipFill>
                    <p:spPr bwMode="auto">
                      <a:xfrm>
                        <a:off x="2666001" y="5589240"/>
                        <a:ext cx="1689975" cy="936104"/>
                      </a:xfrm>
                      <a:prstGeom prst="rect">
                        <a:avLst/>
                      </a:prstGeom>
                      <a:noFill/>
                      <a:ln>
                        <a:noFill/>
                      </a:ln>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80363891"/>
              </p:ext>
            </p:extLst>
          </p:nvPr>
        </p:nvGraphicFramePr>
        <p:xfrm>
          <a:off x="5532462" y="5766395"/>
          <a:ext cx="1847850" cy="542925"/>
        </p:xfrm>
        <a:graphic>
          <a:graphicData uri="http://schemas.openxmlformats.org/presentationml/2006/ole">
            <mc:AlternateContent xmlns:mc="http://schemas.openxmlformats.org/markup-compatibility/2006">
              <mc:Choice xmlns:v="urn:schemas-microsoft-com:vml" Requires="v">
                <p:oleObj name="משוואה" r:id="rId4" imgW="774360" imgH="228600" progId="Equation.3">
                  <p:embed/>
                </p:oleObj>
              </mc:Choice>
              <mc:Fallback>
                <p:oleObj name="משוואה" r:id="rId4" imgW="774360" imgH="228600" progId="Equation.3">
                  <p:embed/>
                  <p:pic>
                    <p:nvPicPr>
                      <p:cNvPr id="8" name="Object 7"/>
                      <p:cNvPicPr>
                        <a:picLocks noChangeAspect="1" noChangeArrowheads="1"/>
                      </p:cNvPicPr>
                      <p:nvPr/>
                    </p:nvPicPr>
                    <p:blipFill>
                      <a:blip r:embed="rId5"/>
                      <a:srcRect/>
                      <a:stretch>
                        <a:fillRect/>
                      </a:stretch>
                    </p:blipFill>
                    <p:spPr bwMode="auto">
                      <a:xfrm>
                        <a:off x="5532462" y="5766395"/>
                        <a:ext cx="1847850" cy="542925"/>
                      </a:xfrm>
                      <a:prstGeom prst="rect">
                        <a:avLst/>
                      </a:prstGeom>
                      <a:noFill/>
                      <a:ln>
                        <a:noFill/>
                      </a:ln>
                    </p:spPr>
                  </p:pic>
                </p:oleObj>
              </mc:Fallback>
            </mc:AlternateContent>
          </a:graphicData>
        </a:graphic>
      </p:graphicFrame>
      <p:sp>
        <p:nvSpPr>
          <p:cNvPr id="9" name="Right Arrow 8"/>
          <p:cNvSpPr/>
          <p:nvPr/>
        </p:nvSpPr>
        <p:spPr>
          <a:xfrm>
            <a:off x="4642148" y="5877619"/>
            <a:ext cx="720080" cy="360040"/>
          </a:xfrm>
          <a:prstGeom prst="rightArrow">
            <a:avLst/>
          </a:prstGeom>
        </p:spPr>
        <p:style>
          <a:lnRef idx="1">
            <a:schemeClr val="accent2"/>
          </a:lnRef>
          <a:fillRef idx="2">
            <a:schemeClr val="accent2"/>
          </a:fillRef>
          <a:effectRef idx="1">
            <a:schemeClr val="accent2"/>
          </a:effectRef>
          <a:fontRef idx="minor">
            <a:schemeClr val="dk1"/>
          </a:fontRef>
        </p:style>
        <p:txBody>
          <a:bodyPr rtlCol="1" anchor="ctr"/>
          <a:lstStyle/>
          <a:p>
            <a:pPr algn="ctr"/>
            <a:endParaRPr lang="he-IL"/>
          </a:p>
        </p:txBody>
      </p:sp>
      <p:graphicFrame>
        <p:nvGraphicFramePr>
          <p:cNvPr id="7" name="Object 6"/>
          <p:cNvGraphicFramePr>
            <a:graphicFrameLocks noChangeAspect="1"/>
          </p:cNvGraphicFramePr>
          <p:nvPr>
            <p:extLst>
              <p:ext uri="{D42A27DB-BD31-4B8C-83A1-F6EECF244321}">
                <p14:modId xmlns:p14="http://schemas.microsoft.com/office/powerpoint/2010/main" val="528728580"/>
              </p:ext>
            </p:extLst>
          </p:nvPr>
        </p:nvGraphicFramePr>
        <p:xfrm>
          <a:off x="2876153" y="2204864"/>
          <a:ext cx="2847975" cy="936625"/>
        </p:xfrm>
        <a:graphic>
          <a:graphicData uri="http://schemas.openxmlformats.org/presentationml/2006/ole">
            <mc:AlternateContent xmlns:mc="http://schemas.openxmlformats.org/markup-compatibility/2006">
              <mc:Choice xmlns:v="urn:schemas-microsoft-com:vml" Requires="v">
                <p:oleObj name="משוואה" r:id="rId6" imgW="1307880" imgH="431640" progId="Equation.3">
                  <p:embed/>
                </p:oleObj>
              </mc:Choice>
              <mc:Fallback>
                <p:oleObj name="משוואה" r:id="rId6" imgW="1307880" imgH="431640" progId="Equation.3">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76153" y="2204864"/>
                        <a:ext cx="284797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301528959"/>
              </p:ext>
            </p:extLst>
          </p:nvPr>
        </p:nvGraphicFramePr>
        <p:xfrm>
          <a:off x="6156176" y="3140968"/>
          <a:ext cx="648072" cy="712879"/>
        </p:xfrm>
        <a:graphic>
          <a:graphicData uri="http://schemas.openxmlformats.org/presentationml/2006/ole">
            <mc:AlternateContent xmlns:mc="http://schemas.openxmlformats.org/markup-compatibility/2006">
              <mc:Choice xmlns:v="urn:schemas-microsoft-com:vml" Requires="v">
                <p:oleObj name="משוואה" r:id="rId8" imgW="380880" imgH="419040" progId="Equation.3">
                  <p:embed/>
                </p:oleObj>
              </mc:Choice>
              <mc:Fallback>
                <p:oleObj name="משוואה" r:id="rId8" imgW="380880" imgH="419040" progId="Equation.3">
                  <p:embed/>
                  <p:pic>
                    <p:nvPicPr>
                      <p:cNvPr id="5" name="Object 4"/>
                      <p:cNvPicPr/>
                      <p:nvPr/>
                    </p:nvPicPr>
                    <p:blipFill>
                      <a:blip r:embed="rId9"/>
                      <a:stretch>
                        <a:fillRect/>
                      </a:stretch>
                    </p:blipFill>
                    <p:spPr>
                      <a:xfrm>
                        <a:off x="6156176" y="3140968"/>
                        <a:ext cx="648072" cy="712879"/>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176819435"/>
              </p:ext>
            </p:extLst>
          </p:nvPr>
        </p:nvGraphicFramePr>
        <p:xfrm>
          <a:off x="7575550" y="4797425"/>
          <a:ext cx="690563" cy="712788"/>
        </p:xfrm>
        <a:graphic>
          <a:graphicData uri="http://schemas.openxmlformats.org/presentationml/2006/ole">
            <mc:AlternateContent xmlns:mc="http://schemas.openxmlformats.org/markup-compatibility/2006">
              <mc:Choice xmlns:v="urn:schemas-microsoft-com:vml" Requires="v">
                <p:oleObj name="משוואה" r:id="rId10" imgW="406080" imgH="419040" progId="Equation.3">
                  <p:embed/>
                </p:oleObj>
              </mc:Choice>
              <mc:Fallback>
                <p:oleObj name="משוואה" r:id="rId10" imgW="406080" imgH="419040" progId="Equation.3">
                  <p:embed/>
                  <p:pic>
                    <p:nvPicPr>
                      <p:cNvPr id="10" name="Object 9"/>
                      <p:cNvPicPr>
                        <a:picLocks noChangeAspect="1" noChangeArrowheads="1"/>
                      </p:cNvPicPr>
                      <p:nvPr/>
                    </p:nvPicPr>
                    <p:blipFill>
                      <a:blip r:embed="rId11"/>
                      <a:srcRect/>
                      <a:stretch>
                        <a:fillRect/>
                      </a:stretch>
                    </p:blipFill>
                    <p:spPr bwMode="auto">
                      <a:xfrm>
                        <a:off x="7575550" y="4797425"/>
                        <a:ext cx="690563"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250268202"/>
              </p:ext>
            </p:extLst>
          </p:nvPr>
        </p:nvGraphicFramePr>
        <p:xfrm>
          <a:off x="1115616" y="2060848"/>
          <a:ext cx="6486525" cy="2582863"/>
        </p:xfrm>
        <a:graphic>
          <a:graphicData uri="http://schemas.openxmlformats.org/presentationml/2006/ole">
            <mc:AlternateContent xmlns:mc="http://schemas.openxmlformats.org/markup-compatibility/2006">
              <mc:Choice xmlns:v="urn:schemas-microsoft-com:vml" Requires="v">
                <p:oleObj name="Equation" r:id="rId12" imgW="2869920" imgH="1143000" progId="Equation.3">
                  <p:embed/>
                </p:oleObj>
              </mc:Choice>
              <mc:Fallback>
                <p:oleObj name="Equation" r:id="rId12" imgW="2869920" imgH="1143000" progId="Equation.3">
                  <p:embed/>
                  <p:pic>
                    <p:nvPicPr>
                      <p:cNvPr id="12" name="Object 11"/>
                      <p:cNvPicPr/>
                      <p:nvPr/>
                    </p:nvPicPr>
                    <p:blipFill>
                      <a:blip r:embed="rId13"/>
                      <a:stretch>
                        <a:fillRect/>
                      </a:stretch>
                    </p:blipFill>
                    <p:spPr>
                      <a:xfrm>
                        <a:off x="1115616" y="2060848"/>
                        <a:ext cx="6486525" cy="2582863"/>
                      </a:xfrm>
                      <a:prstGeom prst="rect">
                        <a:avLst/>
                      </a:prstGeom>
                    </p:spPr>
                  </p:pic>
                </p:oleObj>
              </mc:Fallback>
            </mc:AlternateContent>
          </a:graphicData>
        </a:graphic>
      </p:graphicFrame>
      <p:sp>
        <p:nvSpPr>
          <p:cNvPr id="13" name="Oval 12"/>
          <p:cNvSpPr/>
          <p:nvPr/>
        </p:nvSpPr>
        <p:spPr>
          <a:xfrm>
            <a:off x="1979712" y="2060848"/>
            <a:ext cx="648072"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Oval 13"/>
          <p:cNvSpPr/>
          <p:nvPr/>
        </p:nvSpPr>
        <p:spPr>
          <a:xfrm>
            <a:off x="6588224" y="4077072"/>
            <a:ext cx="720080" cy="50405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522441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3" grpId="1" animBg="1"/>
      <p:bldP spid="14" grpId="0" animBg="1"/>
      <p:bldP spid="1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a:t>
            </a:r>
            <a:endParaRPr lang="he-IL" dirty="0"/>
          </a:p>
        </p:txBody>
      </p:sp>
      <p:graphicFrame>
        <p:nvGraphicFramePr>
          <p:cNvPr id="4" name="Object 3"/>
          <p:cNvGraphicFramePr>
            <a:graphicFrameLocks noChangeAspect="1"/>
          </p:cNvGraphicFramePr>
          <p:nvPr>
            <p:extLst>
              <p:ext uri="{D42A27DB-BD31-4B8C-83A1-F6EECF244321}">
                <p14:modId xmlns:p14="http://schemas.microsoft.com/office/powerpoint/2010/main" val="2151486891"/>
              </p:ext>
            </p:extLst>
          </p:nvPr>
        </p:nvGraphicFramePr>
        <p:xfrm>
          <a:off x="1187624" y="1340768"/>
          <a:ext cx="6899052" cy="5186638"/>
        </p:xfrm>
        <a:graphic>
          <a:graphicData uri="http://schemas.openxmlformats.org/presentationml/2006/ole">
            <mc:AlternateContent xmlns:mc="http://schemas.openxmlformats.org/markup-compatibility/2006">
              <mc:Choice xmlns:v="urn:schemas-microsoft-com:vml" Requires="v">
                <p:oleObj name="Acrobat Document" r:id="rId2" imgW="3990944" imgH="3000240" progId="AcroExch.Document.11">
                  <p:embed/>
                </p:oleObj>
              </mc:Choice>
              <mc:Fallback>
                <p:oleObj name="Acrobat Document" r:id="rId2" imgW="3990944" imgH="3000240" progId="AcroExch.Document.11">
                  <p:embed/>
                  <p:pic>
                    <p:nvPicPr>
                      <p:cNvPr id="4" name="Object 3"/>
                      <p:cNvPicPr/>
                      <p:nvPr/>
                    </p:nvPicPr>
                    <p:blipFill>
                      <a:blip r:embed="rId3"/>
                      <a:stretch>
                        <a:fillRect/>
                      </a:stretch>
                    </p:blipFill>
                    <p:spPr>
                      <a:xfrm>
                        <a:off x="1187624" y="1340768"/>
                        <a:ext cx="6899052" cy="5186638"/>
                      </a:xfrm>
                      <a:prstGeom prst="rect">
                        <a:avLst/>
                      </a:prstGeom>
                    </p:spPr>
                  </p:pic>
                </p:oleObj>
              </mc:Fallback>
            </mc:AlternateContent>
          </a:graphicData>
        </a:graphic>
      </p:graphicFrame>
    </p:spTree>
    <p:extLst>
      <p:ext uri="{BB962C8B-B14F-4D97-AF65-F5344CB8AC3E}">
        <p14:creationId xmlns:p14="http://schemas.microsoft.com/office/powerpoint/2010/main" val="882257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a:t>
            </a:r>
            <a:endParaRPr lang="he-IL" dirty="0"/>
          </a:p>
        </p:txBody>
      </p:sp>
      <p:graphicFrame>
        <p:nvGraphicFramePr>
          <p:cNvPr id="3" name="Object 2"/>
          <p:cNvGraphicFramePr>
            <a:graphicFrameLocks noChangeAspect="1"/>
          </p:cNvGraphicFramePr>
          <p:nvPr>
            <p:extLst>
              <p:ext uri="{D42A27DB-BD31-4B8C-83A1-F6EECF244321}">
                <p14:modId xmlns:p14="http://schemas.microsoft.com/office/powerpoint/2010/main" val="842564361"/>
              </p:ext>
            </p:extLst>
          </p:nvPr>
        </p:nvGraphicFramePr>
        <p:xfrm>
          <a:off x="1331640" y="1484784"/>
          <a:ext cx="6608963" cy="4968552"/>
        </p:xfrm>
        <a:graphic>
          <a:graphicData uri="http://schemas.openxmlformats.org/presentationml/2006/ole">
            <mc:AlternateContent xmlns:mc="http://schemas.openxmlformats.org/markup-compatibility/2006">
              <mc:Choice xmlns:v="urn:schemas-microsoft-com:vml" Requires="v">
                <p:oleObj name="Acrobat Document" r:id="rId2" imgW="3990944" imgH="3000240" progId="AcroExch.Document.11">
                  <p:embed/>
                </p:oleObj>
              </mc:Choice>
              <mc:Fallback>
                <p:oleObj name="Acrobat Document" r:id="rId2" imgW="3990944" imgH="3000240" progId="AcroExch.Document.11">
                  <p:embed/>
                  <p:pic>
                    <p:nvPicPr>
                      <p:cNvPr id="3" name="Object 2"/>
                      <p:cNvPicPr/>
                      <p:nvPr/>
                    </p:nvPicPr>
                    <p:blipFill>
                      <a:blip r:embed="rId3"/>
                      <a:stretch>
                        <a:fillRect/>
                      </a:stretch>
                    </p:blipFill>
                    <p:spPr>
                      <a:xfrm>
                        <a:off x="1331640" y="1484784"/>
                        <a:ext cx="6608963" cy="4968552"/>
                      </a:xfrm>
                      <a:prstGeom prst="rect">
                        <a:avLst/>
                      </a:prstGeom>
                    </p:spPr>
                  </p:pic>
                </p:oleObj>
              </mc:Fallback>
            </mc:AlternateContent>
          </a:graphicData>
        </a:graphic>
      </p:graphicFrame>
    </p:spTree>
    <p:extLst>
      <p:ext uri="{BB962C8B-B14F-4D97-AF65-F5344CB8AC3E}">
        <p14:creationId xmlns:p14="http://schemas.microsoft.com/office/powerpoint/2010/main" val="18962316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500" y="414338"/>
            <a:ext cx="7239000" cy="602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3" descr="C:\Users\vilenchi\Desktop\man_question_mar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3126" y="1980307"/>
            <a:ext cx="1096746" cy="1376685"/>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
          <p:cNvSpPr/>
          <p:nvPr/>
        </p:nvSpPr>
        <p:spPr>
          <a:xfrm>
            <a:off x="2323126" y="3645024"/>
            <a:ext cx="1024738" cy="648072"/>
          </a:xfrm>
          <a:prstGeom prst="roundRect">
            <a:avLst/>
          </a:prstGeom>
        </p:spPr>
        <p:style>
          <a:lnRef idx="1">
            <a:schemeClr val="accent3"/>
          </a:lnRef>
          <a:fillRef idx="2">
            <a:schemeClr val="accent3"/>
          </a:fillRef>
          <a:effectRef idx="1">
            <a:schemeClr val="accent3"/>
          </a:effectRef>
          <a:fontRef idx="minor">
            <a:schemeClr val="dk1"/>
          </a:fontRef>
        </p:style>
        <p:txBody>
          <a:bodyPr rtlCol="1" anchor="ctr"/>
          <a:lstStyle/>
          <a:p>
            <a:pPr algn="ctr"/>
            <a:r>
              <a:rPr lang="en-US" sz="2000" dirty="0"/>
              <a:t>CT works</a:t>
            </a:r>
            <a:endParaRPr lang="he-IL" sz="2000" dirty="0"/>
          </a:p>
        </p:txBody>
      </p:sp>
    </p:spTree>
    <p:extLst>
      <p:ext uri="{BB962C8B-B14F-4D97-AF65-F5344CB8AC3E}">
        <p14:creationId xmlns:p14="http://schemas.microsoft.com/office/powerpoint/2010/main" val="314219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274638"/>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r>
              <a:rPr lang="en-US" dirty="0"/>
              <a:t>The Planted Clique</a:t>
            </a:r>
            <a:endParaRPr lang="he-IL" dirty="0"/>
          </a:p>
        </p:txBody>
      </p:sp>
      <p:pic>
        <p:nvPicPr>
          <p:cNvPr id="60418" name="Picture 2" descr="http://www.cs.purdue.edu/homes/dgleich/demos/matlab/random_graphs/g-200-gia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417638"/>
            <a:ext cx="6851104" cy="513832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9" descr="complete_graph_k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243" y="1196752"/>
            <a:ext cx="896938" cy="8969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1916832"/>
            <a:ext cx="152400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TextBox 2"/>
              <p:cNvSpPr txBox="1"/>
              <p:nvPr/>
            </p:nvSpPr>
            <p:spPr>
              <a:xfrm>
                <a:off x="251520" y="1340768"/>
                <a:ext cx="1152128" cy="610936"/>
              </a:xfrm>
              <a:prstGeom prst="rect">
                <a:avLst/>
              </a:prstGeom>
              <a:noFill/>
            </p:spPr>
            <p:txBody>
              <a:bodyPr wrap="square" rtlCol="1">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𝑝</m:t>
                      </m:r>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oMath>
                  </m:oMathPara>
                </a14:m>
                <a:endParaRPr lang="he-IL" dirty="0"/>
              </a:p>
            </p:txBody>
          </p:sp>
        </mc:Choice>
        <mc:Fallback xmlns="">
          <p:sp>
            <p:nvSpPr>
              <p:cNvPr id="3" name="TextBox 2"/>
              <p:cNvSpPr txBox="1">
                <a:spLocks noRot="1" noChangeAspect="1" noMove="1" noResize="1" noEditPoints="1" noAdjustHandles="1" noChangeArrowheads="1" noChangeShapeType="1" noTextEdit="1"/>
              </p:cNvSpPr>
              <p:nvPr/>
            </p:nvSpPr>
            <p:spPr>
              <a:xfrm>
                <a:off x="251520" y="1340768"/>
                <a:ext cx="1152128" cy="610936"/>
              </a:xfrm>
              <a:prstGeom prst="rect">
                <a:avLst/>
              </a:prstGeom>
              <a:blipFill rotWithShape="1">
                <a:blip r:embed="rId5"/>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1200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94444E-6 -4.81481E-6 L -0.35556 0.31274 " pathEditMode="relative" rAng="0" ptsTypes="AA">
                                      <p:cBhvr>
                                        <p:cTn id="6" dur="1000" fill="hold"/>
                                        <p:tgtEl>
                                          <p:spTgt spid="4"/>
                                        </p:tgtEl>
                                        <p:attrNameLst>
                                          <p:attrName>ppt_x</p:attrName>
                                          <p:attrName>ppt_y</p:attrName>
                                        </p:attrNameLst>
                                      </p:cBhvr>
                                      <p:rCtr x="-17778" y="156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 with Planted Clique</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395536" y="1484784"/>
                <a:ext cx="8496944" cy="5229200"/>
              </a:xfrm>
            </p:spPr>
            <p:txBody>
              <a:bodyPr>
                <a:normAutofit/>
              </a:bodyPr>
              <a:lstStyle/>
              <a:p>
                <a:pPr algn="l" rtl="0">
                  <a:spcAft>
                    <a:spcPts val="600"/>
                  </a:spcAft>
                </a:pPr>
                <a:r>
                  <a:rPr lang="en-US" sz="2800" dirty="0"/>
                  <a:t>Similar flavor: plant data inside noise</a:t>
                </a:r>
              </a:p>
              <a:p>
                <a:pPr lvl="1" algn="l" rtl="0">
                  <a:spcAft>
                    <a:spcPts val="600"/>
                  </a:spcAft>
                </a:pPr>
                <a:r>
                  <a:rPr lang="en-US" sz="2600" dirty="0"/>
                  <a:t>Information limit </a:t>
                </a:r>
                <a:r>
                  <a:rPr lang="en-US" sz="2600" dirty="0" err="1"/>
                  <a:t>vs</a:t>
                </a:r>
                <a:r>
                  <a:rPr lang="en-US" sz="2600" dirty="0"/>
                  <a:t> computational limit?</a:t>
                </a:r>
              </a:p>
              <a:p>
                <a:pPr algn="l" rtl="0">
                  <a:spcAft>
                    <a:spcPts val="600"/>
                  </a:spcAft>
                </a:pPr>
                <a:r>
                  <a:rPr lang="en-US" sz="2800" dirty="0">
                    <a:solidFill>
                      <a:srgbClr val="FF0000"/>
                    </a:solidFill>
                  </a:rPr>
                  <a:t>Sparse PCA </a:t>
                </a:r>
                <a:r>
                  <a:rPr lang="en-US" sz="2800" dirty="0"/>
                  <a:t>is efficiently solvable up to </a:t>
                </a:r>
                <a:r>
                  <a:rPr lang="en-US" sz="2800" dirty="0" err="1"/>
                  <a:t>sparsity</a:t>
                </a:r>
                <a:r>
                  <a:rPr lang="en-US" sz="2800" dirty="0"/>
                  <a:t> level </a:t>
                </a:r>
                <a14:m>
                  <m:oMath xmlns:m="http://schemas.openxmlformats.org/officeDocument/2006/math">
                    <m:rad>
                      <m:radPr>
                        <m:degHide m:val="on"/>
                        <m:ctrlPr>
                          <a:rPr lang="en-US" sz="2800" i="1" smtClean="0">
                            <a:latin typeface="Cambria Math" panose="02040503050406030204" pitchFamily="18" charset="0"/>
                          </a:rPr>
                        </m:ctrlPr>
                      </m:radPr>
                      <m:deg/>
                      <m:e>
                        <m:r>
                          <a:rPr lang="en-US" sz="2800" b="0" i="1" smtClean="0">
                            <a:latin typeface="Cambria Math"/>
                          </a:rPr>
                          <m:t>𝑛</m:t>
                        </m:r>
                      </m:e>
                    </m:rad>
                  </m:oMath>
                </a14:m>
                <a:r>
                  <a:rPr lang="en-US" sz="2800" dirty="0"/>
                  <a:t> and no approach succeeds above it</a:t>
                </a:r>
              </a:p>
              <a:p>
                <a:pPr lvl="1" algn="l" rtl="0">
                  <a:spcAft>
                    <a:spcPts val="600"/>
                  </a:spcAft>
                </a:pPr>
                <a14:m>
                  <m:oMath xmlns:m="http://schemas.openxmlformats.org/officeDocument/2006/math">
                    <m:rad>
                      <m:radPr>
                        <m:degHide m:val="on"/>
                        <m:ctrlPr>
                          <a:rPr lang="en-US" i="1">
                            <a:latin typeface="Cambria Math" panose="02040503050406030204" pitchFamily="18" charset="0"/>
                          </a:rPr>
                        </m:ctrlPr>
                      </m:radPr>
                      <m:deg/>
                      <m:e>
                        <m:r>
                          <a:rPr lang="en-US" i="1">
                            <a:latin typeface="Cambria Math"/>
                          </a:rPr>
                          <m:t>𝑛</m:t>
                        </m:r>
                      </m:e>
                    </m:rad>
                  </m:oMath>
                </a14:m>
                <a:r>
                  <a:rPr lang="en-US" dirty="0"/>
                  <a:t>  is also the threshold for </a:t>
                </a:r>
                <a:r>
                  <a:rPr lang="en-US" dirty="0">
                    <a:solidFill>
                      <a:srgbClr val="FF0000"/>
                    </a:solidFill>
                  </a:rPr>
                  <a:t>Planted clique </a:t>
                </a:r>
                <a:r>
                  <a:rPr lang="en-US" dirty="0"/>
                  <a:t>(at least knowledge threshold)</a:t>
                </a:r>
              </a:p>
              <a:p>
                <a:pPr lvl="1" algn="l" rtl="0">
                  <a:spcAft>
                    <a:spcPts val="600"/>
                  </a:spcAft>
                </a:pPr>
                <a:r>
                  <a:rPr lang="en-US" dirty="0"/>
                  <a:t>Recent result of </a:t>
                </a:r>
                <a:r>
                  <a:rPr lang="en-US" dirty="0" err="1"/>
                  <a:t>Berthet</a:t>
                </a:r>
                <a:r>
                  <a:rPr lang="en-US" dirty="0"/>
                  <a:t> and </a:t>
                </a:r>
                <a:r>
                  <a:rPr lang="en-US" dirty="0" err="1"/>
                  <a:t>Rigollet</a:t>
                </a:r>
                <a:r>
                  <a:rPr lang="en-US" dirty="0"/>
                  <a:t> shows a reduction from planted clique to Sparse PCA (detection version)</a:t>
                </a:r>
              </a:p>
              <a:p>
                <a:pPr marL="0" indent="0" algn="l" rtl="0">
                  <a:spcAft>
                    <a:spcPts val="600"/>
                  </a:spcAft>
                  <a:buNone/>
                </a:pPr>
                <a:endParaRPr lang="he-IL" sz="2400"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395536" y="1484784"/>
                <a:ext cx="8496944" cy="5229200"/>
              </a:xfrm>
              <a:blipFill rotWithShape="1">
                <a:blip r:embed="rId2"/>
                <a:stretch>
                  <a:fillRect l="-1291" t="-1050"/>
                </a:stretch>
              </a:blipFill>
            </p:spPr>
            <p:txBody>
              <a:bodyPr/>
              <a:lstStyle/>
              <a:p>
                <a:r>
                  <a:rPr lang="he-IL">
                    <a:noFill/>
                  </a:rPr>
                  <a:t> </a:t>
                </a:r>
              </a:p>
            </p:txBody>
          </p:sp>
        </mc:Fallback>
      </mc:AlternateContent>
    </p:spTree>
    <p:extLst>
      <p:ext uri="{BB962C8B-B14F-4D97-AF65-F5344CB8AC3E}">
        <p14:creationId xmlns:p14="http://schemas.microsoft.com/office/powerpoint/2010/main" val="2759383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Research</a:t>
            </a:r>
            <a:endParaRPr lang="he-IL" dirty="0"/>
          </a:p>
        </p:txBody>
      </p:sp>
      <p:sp>
        <p:nvSpPr>
          <p:cNvPr id="3" name="Content Placeholder 2"/>
          <p:cNvSpPr>
            <a:spLocks noGrp="1"/>
          </p:cNvSpPr>
          <p:nvPr>
            <p:ph idx="1"/>
          </p:nvPr>
        </p:nvSpPr>
        <p:spPr>
          <a:xfrm>
            <a:off x="457200" y="1555576"/>
            <a:ext cx="8579296" cy="5257800"/>
          </a:xfrm>
        </p:spPr>
        <p:txBody>
          <a:bodyPr>
            <a:normAutofit/>
          </a:bodyPr>
          <a:lstStyle/>
          <a:p>
            <a:pPr marL="0" indent="0" algn="l" rtl="0">
              <a:spcAft>
                <a:spcPts val="600"/>
              </a:spcAft>
              <a:buNone/>
            </a:pPr>
            <a:r>
              <a:rPr lang="en-US" sz="2800" dirty="0"/>
              <a:t>Which </a:t>
            </a:r>
            <a:r>
              <a:rPr lang="en-US" sz="2800" dirty="0">
                <a:solidFill>
                  <a:srgbClr val="FF0000"/>
                </a:solidFill>
              </a:rPr>
              <a:t>structural</a:t>
            </a:r>
            <a:r>
              <a:rPr lang="en-US" sz="2800" dirty="0"/>
              <a:t> properties of the input make hard problems </a:t>
            </a:r>
            <a:r>
              <a:rPr lang="en-US" sz="2800" dirty="0">
                <a:solidFill>
                  <a:srgbClr val="FF0000"/>
                </a:solidFill>
              </a:rPr>
              <a:t>tractable</a:t>
            </a:r>
            <a:r>
              <a:rPr lang="en-US" sz="2800" dirty="0"/>
              <a:t>?</a:t>
            </a:r>
          </a:p>
          <a:p>
            <a:pPr marL="0" indent="0" algn="l" rtl="0">
              <a:spcAft>
                <a:spcPts val="600"/>
              </a:spcAft>
              <a:buNone/>
            </a:pPr>
            <a:r>
              <a:rPr lang="en-US" sz="2800" dirty="0"/>
              <a:t>Which </a:t>
            </a:r>
            <a:r>
              <a:rPr lang="en-US" sz="2800" dirty="0">
                <a:solidFill>
                  <a:srgbClr val="FF0000"/>
                </a:solidFill>
              </a:rPr>
              <a:t>efficient</a:t>
            </a:r>
            <a:r>
              <a:rPr lang="en-US" sz="2800" dirty="0"/>
              <a:t> methods </a:t>
            </a:r>
            <a:r>
              <a:rPr lang="en-US" sz="2800" dirty="0">
                <a:solidFill>
                  <a:srgbClr val="FF0000"/>
                </a:solidFill>
              </a:rPr>
              <a:t>work</a:t>
            </a:r>
            <a:r>
              <a:rPr lang="en-US" sz="2800" dirty="0"/>
              <a:t> in this case?</a:t>
            </a:r>
          </a:p>
          <a:p>
            <a:pPr algn="l" rtl="0">
              <a:spcAft>
                <a:spcPts val="600"/>
              </a:spcAft>
            </a:pPr>
            <a:r>
              <a:rPr lang="en-US" sz="2800" dirty="0"/>
              <a:t>Under what assumptions do SDP have optimal integral solutions</a:t>
            </a:r>
          </a:p>
          <a:p>
            <a:pPr lvl="1" algn="l" rtl="0">
              <a:spcAft>
                <a:spcPts val="600"/>
              </a:spcAft>
            </a:pPr>
            <a:r>
              <a:rPr lang="en-US" dirty="0"/>
              <a:t>Using SDP to solve graph colorings (clustering) </a:t>
            </a:r>
          </a:p>
          <a:p>
            <a:pPr lvl="1" algn="l" rtl="0">
              <a:spcAft>
                <a:spcPts val="600"/>
              </a:spcAft>
            </a:pPr>
            <a:r>
              <a:rPr lang="en-US" dirty="0"/>
              <a:t>Relate integrality of a certain SDP to rigidity of geometrical bodies</a:t>
            </a:r>
          </a:p>
        </p:txBody>
      </p:sp>
    </p:spTree>
    <p:extLst>
      <p:ext uri="{BB962C8B-B14F-4D97-AF65-F5344CB8AC3E}">
        <p14:creationId xmlns:p14="http://schemas.microsoft.com/office/powerpoint/2010/main" val="155867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14489</TotalTime>
  <Words>1083</Words>
  <Application>Microsoft Macintosh PowerPoint</Application>
  <PresentationFormat>On-screen Show (4:3)</PresentationFormat>
  <Paragraphs>202</Paragraphs>
  <Slides>35</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35</vt:i4>
      </vt:variant>
    </vt:vector>
  </HeadingPairs>
  <TitlesOfParts>
    <vt:vector size="46" baseType="lpstr">
      <vt:lpstr>Arial</vt:lpstr>
      <vt:lpstr>Calibri</vt:lpstr>
      <vt:lpstr>Cambria Math</vt:lpstr>
      <vt:lpstr>cmmi10</vt:lpstr>
      <vt:lpstr>cmr10</vt:lpstr>
      <vt:lpstr>Courier</vt:lpstr>
      <vt:lpstr>Wingdings</vt:lpstr>
      <vt:lpstr>Office Theme</vt:lpstr>
      <vt:lpstr>משוואה</vt:lpstr>
      <vt:lpstr>Equation</vt:lpstr>
      <vt:lpstr>Acrobat Document</vt:lpstr>
      <vt:lpstr>Sparse PCA: Dealing with High Dimensional Data</vt:lpstr>
      <vt:lpstr>Data Analytics</vt:lpstr>
      <vt:lpstr>The Classical Setting</vt:lpstr>
      <vt:lpstr>High Dimensional Setting</vt:lpstr>
      <vt:lpstr>Examples</vt:lpstr>
      <vt:lpstr>The Curse of Dimensionality</vt:lpstr>
      <vt:lpstr>PowerPoint Presentation</vt:lpstr>
      <vt:lpstr>The Computational Lens</vt:lpstr>
      <vt:lpstr>Today</vt:lpstr>
      <vt:lpstr>Principal Component Analysis (PCA)</vt:lpstr>
      <vt:lpstr>Four Types of Lung Cancer</vt:lpstr>
      <vt:lpstr>PCA – Formal Description</vt:lpstr>
      <vt:lpstr>The Algorithmic Task</vt:lpstr>
      <vt:lpstr>Sparse PCA</vt:lpstr>
      <vt:lpstr>The Single Spike Model [Johnstone 2001]</vt:lpstr>
      <vt:lpstr>Covariance Matrix</vt:lpstr>
      <vt:lpstr>Questions of interest</vt:lpstr>
      <vt:lpstr>Naïve Approach </vt:lpstr>
      <vt:lpstr>Greedy Approach</vt:lpstr>
      <vt:lpstr>A heavier cannon?</vt:lpstr>
      <vt:lpstr>Semi-definite Programming Approach</vt:lpstr>
      <vt:lpstr>SDP – Quick Facts</vt:lpstr>
      <vt:lpstr>SDP Approach Contd.</vt:lpstr>
      <vt:lpstr>Our Results</vt:lpstr>
      <vt:lpstr>Our Results</vt:lpstr>
      <vt:lpstr>PowerPoint Presentation</vt:lpstr>
      <vt:lpstr>PowerPoint Presentation</vt:lpstr>
      <vt:lpstr>Proof Ideas</vt:lpstr>
      <vt:lpstr>Covariance Thresholding</vt:lpstr>
      <vt:lpstr>Experimental Results</vt:lpstr>
      <vt:lpstr>Experimental Results</vt:lpstr>
      <vt:lpstr>PowerPoint Presentation</vt:lpstr>
      <vt:lpstr>PowerPoint Presentation</vt:lpstr>
      <vt:lpstr>Connection with Planted Clique</vt:lpstr>
      <vt:lpstr>Future Research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look at the graph product and two new applications</dc:title>
  <dc:creator>Dan Vilenchik</dc:creator>
  <cp:lastModifiedBy>דן וילנצ'יק</cp:lastModifiedBy>
  <cp:revision>444</cp:revision>
  <dcterms:created xsi:type="dcterms:W3CDTF">2012-11-26T08:37:28Z</dcterms:created>
  <dcterms:modified xsi:type="dcterms:W3CDTF">2022-09-15T06:05:24Z</dcterms:modified>
</cp:coreProperties>
</file>