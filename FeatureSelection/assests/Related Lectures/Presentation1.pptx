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oleObject"/>
  <Default Extension="jpeg" ContentType="image/jpeg"/>
  <Default Extension="tiff" ContentType="image/tiff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78" r:id="rId12"/>
    <p:sldId id="271" r:id="rId13"/>
    <p:sldId id="279" r:id="rId14"/>
    <p:sldId id="280" r:id="rId15"/>
    <p:sldId id="277" r:id="rId16"/>
    <p:sldId id="276" r:id="rId17"/>
    <p:sldId id="281" r:id="rId18"/>
    <p:sldId id="264" r:id="rId19"/>
    <p:sldId id="268" r:id="rId20"/>
    <p:sldId id="274" r:id="rId21"/>
    <p:sldId id="269" r:id="rId22"/>
    <p:sldId id="273" r:id="rId23"/>
    <p:sldId id="282" r:id="rId24"/>
    <p:sldId id="283" r:id="rId25"/>
    <p:sldId id="284" r:id="rId26"/>
    <p:sldId id="285" r:id="rId27"/>
    <p:sldId id="287" r:id="rId28"/>
    <p:sldId id="289" r:id="rId29"/>
    <p:sldId id="295" r:id="rId30"/>
    <p:sldId id="294" r:id="rId31"/>
    <p:sldId id="288" r:id="rId32"/>
    <p:sldId id="296" r:id="rId33"/>
    <p:sldId id="290" r:id="rId34"/>
    <p:sldId id="291" r:id="rId35"/>
    <p:sldId id="292" r:id="rId36"/>
    <p:sldId id="293" r:id="rId37"/>
    <p:sldId id="297" r:id="rId38"/>
    <p:sldId id="272" r:id="rId39"/>
    <p:sldId id="275" r:id="rId40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908" autoAdjust="0"/>
    <p:restoredTop sz="94488" autoAdjust="0"/>
  </p:normalViewPr>
  <p:slideViewPr>
    <p:cSldViewPr>
      <p:cViewPr varScale="1">
        <p:scale>
          <a:sx n="82" d="100"/>
          <a:sy n="82" d="100"/>
        </p:scale>
        <p:origin x="176" y="6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75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6F54EB2-2B22-496F-BF13-67E9ED69153A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65DF42F-52D4-44CF-800E-1AF614E6786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395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DF42F-52D4-44CF-800E-1AF614E67867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7555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DF42F-52D4-44CF-800E-1AF614E67867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0604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DF42F-52D4-44CF-800E-1AF614E67867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898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270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287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531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63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12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167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8899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791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201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784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29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4002B-C2E0-4E04-B7E1-FA644A697B93}" type="datetimeFigureOut">
              <a:rPr lang="he-IL" smtClean="0"/>
              <a:t>כ'.תמוז.תשע"ו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057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9" Type="http://schemas.openxmlformats.org/officeDocument/2006/relationships/image" Target="../media/image26.png"/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3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230.png"/><Relationship Id="rId6" Type="http://schemas.openxmlformats.org/officeDocument/2006/relationships/image" Target="../media/image24.png"/><Relationship Id="rId7" Type="http://schemas.openxmlformats.org/officeDocument/2006/relationships/image" Target="../media/image250.png"/><Relationship Id="rId8" Type="http://schemas.openxmlformats.org/officeDocument/2006/relationships/image" Target="../media/image260.png"/><Relationship Id="rId9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4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21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4" Type="http://schemas.openxmlformats.org/officeDocument/2006/relationships/image" Target="../media/image450.png"/><Relationship Id="rId5" Type="http://schemas.openxmlformats.org/officeDocument/2006/relationships/image" Target="../media/image34.png"/><Relationship Id="rId6" Type="http://schemas.openxmlformats.org/officeDocument/2006/relationships/image" Target="../media/image42.png"/><Relationship Id="rId7" Type="http://schemas.openxmlformats.org/officeDocument/2006/relationships/image" Target="../media/image47.png"/><Relationship Id="rId8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592" y="2391023"/>
            <a:ext cx="7772400" cy="1470025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Denoising</a:t>
            </a:r>
            <a:r>
              <a:rPr lang="en-US" dirty="0" smtClean="0"/>
              <a:t> Problem in the mirror of CS and Statistics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4365104"/>
            <a:ext cx="8424936" cy="1752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Dan Vilenchik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Ben-Gurion University</a:t>
            </a:r>
            <a:endParaRPr lang="he-IL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58080"/>
            <a:ext cx="4392488" cy="105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0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7236296" y="5168737"/>
            <a:ext cx="1656184" cy="348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403648" y="5229200"/>
            <a:ext cx="2736304" cy="348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Rectangle 12"/>
          <p:cNvSpPr/>
          <p:nvPr/>
        </p:nvSpPr>
        <p:spPr>
          <a:xfrm>
            <a:off x="6516216" y="4293096"/>
            <a:ext cx="1152128" cy="4320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/>
          <p:cNvSpPr/>
          <p:nvPr/>
        </p:nvSpPr>
        <p:spPr>
          <a:xfrm>
            <a:off x="1403648" y="4293096"/>
            <a:ext cx="2088232" cy="3600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3995936" y="3789040"/>
            <a:ext cx="1728192" cy="3600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864" y="53752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The water and oil problem</a:t>
            </a:r>
            <a:endParaRPr lang="he-IL" sz="4000" dirty="0"/>
          </a:p>
        </p:txBody>
      </p:sp>
      <p:pic>
        <p:nvPicPr>
          <p:cNvPr id="1026" name="Picture 2" descr="pi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6" y="1268760"/>
            <a:ext cx="1143000" cy="17145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03648" y="1268760"/>
            <a:ext cx="748883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 smtClean="0"/>
              <a:t>Michael Jordan, Prof. of Statistics at UC Berkeley</a:t>
            </a:r>
            <a:endParaRPr lang="he-IL" sz="2400" dirty="0"/>
          </a:p>
        </p:txBody>
      </p:sp>
      <p:sp>
        <p:nvSpPr>
          <p:cNvPr id="6" name="Rectangle 5"/>
          <p:cNvSpPr/>
          <p:nvPr/>
        </p:nvSpPr>
        <p:spPr>
          <a:xfrm>
            <a:off x="1403648" y="1916832"/>
            <a:ext cx="77190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 smtClean="0"/>
              <a:t>Presented </a:t>
            </a:r>
            <a:r>
              <a:rPr lang="en-US" sz="2400" dirty="0"/>
              <a:t>at the National Science Foundation (NSF</a:t>
            </a:r>
            <a:r>
              <a:rPr lang="en-US" sz="2400" dirty="0" smtClean="0"/>
              <a:t>) in </a:t>
            </a:r>
            <a:r>
              <a:rPr lang="en-US" sz="2400" dirty="0"/>
              <a:t>late January for the NSF Data Science Seminar Series </a:t>
            </a:r>
            <a:endParaRPr lang="he-IL" sz="2400" dirty="0"/>
          </a:p>
        </p:txBody>
      </p:sp>
      <p:sp>
        <p:nvSpPr>
          <p:cNvPr id="7" name="Rectangle 6"/>
          <p:cNvSpPr/>
          <p:nvPr/>
        </p:nvSpPr>
        <p:spPr>
          <a:xfrm>
            <a:off x="431032" y="3356992"/>
            <a:ext cx="87129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smtClean="0"/>
              <a:t>The core theories in computer science and statistics developed separately and there is an oil and water problem</a:t>
            </a:r>
          </a:p>
          <a:p>
            <a:pPr marL="28575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smtClean="0"/>
              <a:t>Core statistical theory doesn’t have a place for runtime and other computational resources </a:t>
            </a:r>
          </a:p>
          <a:p>
            <a:pPr marL="285750" indent="-28575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smtClean="0"/>
              <a:t>Core computational theory doesn’t have a place for statistical risk</a:t>
            </a:r>
            <a:endParaRPr lang="he-IL" sz="2400" dirty="0"/>
          </a:p>
        </p:txBody>
      </p:sp>
      <p:sp>
        <p:nvSpPr>
          <p:cNvPr id="8" name="Rectangle 7"/>
          <p:cNvSpPr/>
          <p:nvPr/>
        </p:nvSpPr>
        <p:spPr>
          <a:xfrm>
            <a:off x="215516" y="6165304"/>
            <a:ext cx="8100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http://magazine.amstat.org/blog/2016/03/01/jordan16/</a:t>
            </a:r>
            <a:endParaRPr lang="he-IL" dirty="0"/>
          </a:p>
        </p:txBody>
      </p:sp>
      <p:sp>
        <p:nvSpPr>
          <p:cNvPr id="9" name="AutoShape 4" descr="data:image/jpeg;base64,/9j/4AAQSkZJRgABAQAAAQABAAD/2wCEAAkGBxISEhUSEhMVFRUXFRUVFRUVFxUVFRcVFRcXFxUVFxUYHSggGB0lGxUVITEhJSkrLi4uFx8zODMtNygtLisBCgoKDg0OFxAQGCsdHR0tLS0tLS0tLS0tLS0tLS0uLS0tLS0tLS0tLS0tLS0tLS0tLS0tLS0tLS0tKy0tLS0tLf/AABEIAQMAwgMBIgACEQEDEQH/xAAbAAACAwEBAQAAAAAAAAAAAAAAAQIDBAYFB//EAD4QAAIBAgMEBggDBwQDAAAAAAABAgMRBBIhBTFBUWFxgZGhsQYTIjJSwdHwFEKSIzNicoKi4RWywvFDVNL/xAAaAQEBAQEBAQEAAAAAAAAAAAAAAQIDBAUG/8QAKxEBAAIBAgUDBAEFAAAAAAAAAAECEQMSEyExQVEEkaEFIlLh8BQjMmFi/9oADAMBAAIRAxEAPwAyhlLsgZTCKcoZS7IPKBSohlLcgsoFWUMpeoiygU5QyluUaiFU5Qyl2UWUYFOUMpdlFlCKcoZS7KGUCnKLKX5QyAUZAyF+UMoVncAyGjIDiEZsgZC9wF6sKo9WBflADW0CRZlDKVFeUMpZlHlApyjUS2wWIKsospbYdgKcoZS7KLIBVYMpbkDKBVlDIW5QylFOQMhdlHlAoyg4l2UMgFGULF2QWUCrKGUtsGUCrKGUtyBlApygXZBAaLBYlYLARsLKTsOwFdh5ScrLW/azJisbGmszdl03ba/hitX4IDRlDKeatoVan7qi7fFVeVfpjqzZhViFrOcOqEGv7m7jK4X+rfJ9zI6c0utxXmyjG4KNb95eXRdrxWr7ymjsTDxd1Rh1uKb72Q5NEsVTW+pBf1L5FT2nQX/mp97+hbHBU1uhFdUUS9TH4V3A5M09r4eNr1qavzbXmiynj6EtVWpv+r6lqox+FdyF+Fh8K7kVEoVYPdOD6pxfzLFD7WvkZ5bMoy30ofpXnYzT9HMO3dRlB84TnHydgPQcftjsebLZVeK/ZYuquioo1V1aq/iV/icZT/e0qdWPxUW4ytzcHv7APVsGUx4Ta1OporqXGEllqLn7P5uw3QkpK6d19N6AhlBItyg4gVZQylqiGUoqygXZQAFEeUYAKwWJWADn9o4yUsXHDrcqfrLcJSvpfmklex6NDZ0Y+0/am98nq+zkZ9ubNzuNWN1OG6UfeXStH2qzTRowWLk4+2r/AMcNU+uOrT6s3Yc46zlezTFFnAUGnqncmkbRW0NIk0FgIWFYsYrAQUQsTSFYocYk4ocUSiiIjlFlLLEGiqx43Z1OqvbjrwktJLqZ4uNqzwn7STzRTipP44Npe0vjjdWfE6SrVjFOUmklvbaSXazn9pp4qUKcdKeZSbembk7Ph5vlYxbpyWHQK3ALEoxsSsbRXlBxLLBYCuwizKACSCw7DSCIgkSHYCue9GWts+LeaLcJc48etbmaa/DrLIsyry2q8d8I1emLyT7np4lkdoRXvKcOicXb9S0PRsLKMLlip42EtzjL+WUfJ2L/AFn8MuyLf+25HEbPpT96nCXXFeZXHZdNe6pR/llJeFzExbtb+fByTeIj0rrTXmhfi6fxx70VzwDW6pV/VfzM/wDp0+GIrf2P/iT+55j2/a8m14qn8cP1R+oo4qn8cf1Ix/gKn/sVO6n/APJbDBTW+tUfcvJF+/zHt+05NccTDg79Sk/JB+KXCM3/AEyX+6xWsK+NSfeUPZFJu8s0n/FOb+YxfzHt+zk3UcQpXXsx6JSTfdC9jNi8Wo6RzzfKnDzlLRdxooYWEVZRSXLgWNG0ePKjVnrJKn2+sqdjekexGqFBQyRW9yu23duyvq+xGlrUjJftYrlGT8kFabAiYjTKNukdh2HYCNgJABXYLDsABYjlJDsBTiF7Pd5kqbJVlo+plcXoYnqq24kRAZFs0RiNsSZJkKaK2Wza+Jd5TKpH4kTdCkWJFXrI80WQmua7xujyJNEbkpETWROISCAmyZCprUqpa1pPlFeLL4FGAXt1H0pdyLEo2WCxILG0KwW6R5QsArdIEgAoGkIdwGgENAKUTOtyNVzJLRdRiywbqW1ehmr4+MeHyMdbEX1e7gjzK9dt3l2Ll0Hxtf6hbM10/d6K6Ud3tQ2rJp5ZKPUte88rEbYk/ieu9u31I29hvouefOHsQfNy8LfU8Ua+pefutLrsiOzXLHy3K3a39TFV2jUvolbqf1LmjNUuzUXnJEQbxtR8bdj+puw+Lfxa9UvqeTFM1JktM9pXEPcoSm05esenJNk6ONq77prp/wAlPo5VvNx5xfmhZbV5w4e1uXRc88ep1qWmN08ua7KzHRso7a1tKNur6M9HD4uFTWLT6OPcc5J3uuT8vIVKMk733O6a3rlc9+j9RvHK/NytpR2dYVbK1jJ85yMuDxuaDzb48uPSa9kx/ZR6bvxPt6d4tiYeeYw2XCwWBHZgDEmMBajF97xlGcAAyC4rjuIKaMOJnpNcV89Tac7tyu4Vbp70u1cvA4eottpMtUjMo4tWTjbW69rl0Iw1KehopyzpuLT4tcV2ctd46kdNx+Y1JxZ7axyaZwvRa5o82pD2YLkvp9DbWrpQt0GCCb6uBz04mIzLUpTRmqQNtSPb4FEl0LxOsWZZpwW8siiydrapeI4UyzYadkNRqxlfn5G26eKlO9lrv/lSPMlSa3EI1XGV3f70OVqbpmc9sLDTnWv80vkaMCva61fu1+pgoSvdPnc1KrZ3XAu3ngluUfZnbitO1q/zPdwUbQiv4UcmsXe0U9L69P1OxjGyS6LH6P0U5q8ep1NMaBCZ7nM0wYkADt0AHYMDOkFguKxEDAAsFI5r0xS9l9DXc/8AJ0p5u29n+uptL3lrH5o56tc0mGqziXAQxajxa6/+n5myl6ROGjSmuuz738zzcbRcW01ZrRp7zz6iPj8Gl+sPZmXTvb9Kesk4dmnZluaqWPoO1prqvHyvfwOHmxZ3axJ9FSekzCbn0WlXpPe33St5DqV6K/NHtdj5xGTvdIs/ETX5prqkznP06M/5HEd3VxNL4o9jX1FLE0efddnAPFVPjn+p/UTrze9t9bbNx9O/6Te7SvjYrc326eZmltSPFrvv5XORcxKZ3r6CuOrM6jrXtdL3V2u31KHj5S3tLx8Ec7Bmuga/o6wb3W7CtKpHW+qPoRxfobs6V1VkrR/L0vmdnE9+hTbXDhecylYCKY0zswYLqFcEBO7ALiKMSmP1hldQXrTORsUwTRjVUarEyNeYRTGuibloJlWHbOxKeIWvszW6S325NcUcbtT0Ur07uK9ZHnHV/p3n0FSJZjhfRrac9JbrqTV8ZrRa0at4GeR9jxuAo1tKlOM+tarqe9Hi4n0Mwsvdzw6pXX9yZjg2j/bfEiXzQUkd1iPQOP5K1v5oJ+KfyMNT0FrcKlJ9eZfJjbaOxujy4+w0dXH0ExHGpSXbJ/8AE1UPQGX5q8V/LBvzaOmJnsbocY0RSZ9Iw/oNQj71SpP9MV5N+J6uD9H8LS92jG/OXtvvlcsVt4Zm0Pm2y9jV6z/Z021z3RXXJ6Ha7G9D4U7SrtTl8Kvl7XxOozW0W4Uma2eWd0p4dK9uC5GpGfCrVmhvpNwwEFxNhqyiVuoaEusCiV10gIYHhSb4Fbueh6khKiYwrC2yLmzXLDMqnQa4EFHrWThimRlAqkiZV6eclnLM9kgclyEIhKduBF1BVpmfMXJhpTBy+7lVOQVpFyLMwZzKqg8yJkarkkymNRElULkTzApEoS6CasQX4R72WykVQ3aEmmWANk0QUGWxiWERRJIdiWUoMoE/VAUeeoXLFDkUqqTjWRkaKdMtjRvvRVDExLoYqPMKtjs6D3ohLYcXrY0UsZHmaXj423oxOBzVWn7biraO1vvUpem9NdzMe3M067cHZ2TunYhDEYhK0qnY0peLPHM6sT9uJh0xHdslZ8e8r/qXl8jHjtpVpRtlpvT3lGSlp1ysuw8Z4+pF6rsu/ky11dXH3U+UxHl0Sp/xEnQvxOZ/1eS/L4y+pGe3JLh3N/NG+Nf8J+Da6b8O/wDIOicVifSape0bq3N3v4IgvSSppv8A1L6aDi2/FdjuIx6UWp9Jw0du1pbr97NEMfXWt1LovL/A4t/xJph2eZcxZ9/A5anjK71vBdSb0/qub6Lqy95trr07txi1tae0R8kRV1uDheKfP5mhQKaOiiuSRavA9dejEp5B5V0EECNolcLiSGioln+9AK7gUeNcMw8gshhTzDuRysRBO5CdWXNiYjMxlVbld3fIhVkTnC55+Nc4rdf78TzxOzlLXVGvVit7RgrV49fc/mYa8/tmaUjruNqeKnd6K3ZYx12XNlNQmVeVUftMIslWXtMjFIOkPXwdWKirm+lK/E51M3YKba1btyWl+sk2xGYZtD3cNNPdqdFsqlm6lqzw9h7OnP3Y2jzd+/pO3wWBUIpd/Wbjm5Laa0LFFlkV0gdYhELjiwsDZUDAEtR5ShZfvUCeoFHnKmuQZC92HlXFGRkyfaF6o2adA7DAweoD8Nob8o2iYV5v4dlc8O+R6yiPLoZmmTLl8ZsaM+Fuk8fE7Bmr21PoKpLoE6Meg58Hw1ufMpbNqLfG3Wn8imeAnuSXfFebR9T/AA8OSIPB0/hXcTh28rufH8RsirmbcVrykn5Nk6Wwaz/L3Js+vLBwW6K7iyNNcixp27yvEfNMH6HVpe9p16HT7M9EqVOzl7T8Dp8o2zcacMzaZVU6airJeBOz4jQ0zpEMllG0K4WKgsArEoriUAOOg3ITYDUV9oCOdgEUILiYRsncKkgSCwSYDSBK4n97h3IJCEmC+/8AsCQ0QT4juBNtApEGwAm2JsL6fULjAaGlqKT7xASC4ITABsEJlDQNCuO5QRQA2GYCWUBJsAMtyUURv92HmAYEEx36SCQKRBLeNLUCTkF+ArdI7agMLkUhoCSBMSGgJPQV7BuFnAkgV7izMSfWBNjI8dENFD7gFm6Bu4Db6QRFIaXQAJDZHUGwiV+kCOcAM5KKACKVt4uDYAURbJsAICPMk0AACHYAKQGSa3dQgIIphEAAlEIsAKJveCe8AAafmKQAEKW/sJTW4YBStp3iQAIEWIACP//Z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56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259632" y="2348880"/>
            <a:ext cx="2952328" cy="265943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US" sz="2800" dirty="0" smtClean="0">
                <a:solidFill>
                  <a:schemeClr val="tx1"/>
                </a:solidFill>
              </a:rPr>
              <a:t>Physics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The plan for this talk</a:t>
            </a:r>
            <a:endParaRPr lang="he-IL" sz="4000" dirty="0"/>
          </a:p>
        </p:txBody>
      </p:sp>
      <p:sp>
        <p:nvSpPr>
          <p:cNvPr id="6" name="Oval 5"/>
          <p:cNvSpPr/>
          <p:nvPr/>
        </p:nvSpPr>
        <p:spPr>
          <a:xfrm>
            <a:off x="3419872" y="2420888"/>
            <a:ext cx="3024336" cy="258742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US" sz="2800" dirty="0" smtClean="0"/>
              <a:t>Statistics</a:t>
            </a:r>
            <a:endParaRPr lang="en-US" sz="2800" dirty="0"/>
          </a:p>
        </p:txBody>
      </p:sp>
      <p:sp>
        <p:nvSpPr>
          <p:cNvPr id="8" name="Oval 7"/>
          <p:cNvSpPr/>
          <p:nvPr/>
        </p:nvSpPr>
        <p:spPr>
          <a:xfrm>
            <a:off x="5806512" y="2348880"/>
            <a:ext cx="2941952" cy="2614596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Computer Science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419872" y="2708920"/>
            <a:ext cx="648072" cy="1872207"/>
          </a:xfrm>
          <a:prstGeom prst="ellipse">
            <a:avLst/>
          </a:prstGeom>
          <a:solidFill>
            <a:schemeClr val="bg2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793410" y="2749044"/>
            <a:ext cx="648072" cy="1872207"/>
          </a:xfrm>
          <a:prstGeom prst="ellipse">
            <a:avLst/>
          </a:prstGeom>
          <a:solidFill>
            <a:schemeClr val="bg2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51920" y="4437112"/>
            <a:ext cx="792088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4968044" y="4495919"/>
            <a:ext cx="360040" cy="3600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Rectangle 4"/>
          <p:cNvSpPr/>
          <p:nvPr/>
        </p:nvSpPr>
        <p:spPr>
          <a:xfrm>
            <a:off x="5148064" y="1556792"/>
            <a:ext cx="360040" cy="3600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Rectangle 3"/>
          <p:cNvSpPr/>
          <p:nvPr/>
        </p:nvSpPr>
        <p:spPr>
          <a:xfrm>
            <a:off x="4427984" y="1556792"/>
            <a:ext cx="360040" cy="360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0066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204" y="0"/>
            <a:ext cx="8229600" cy="100811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The Denoising Problem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052736"/>
                <a:ext cx="8229600" cy="5544616"/>
              </a:xfrm>
            </p:spPr>
            <p:txBody>
              <a:bodyPr>
                <a:normAutofit/>
              </a:bodyPr>
              <a:lstStyle/>
              <a:p>
                <a:pPr marL="0" indent="0" algn="ctr" rtl="0">
                  <a:buNone/>
                </a:pPr>
                <a:endParaRPr lang="en-US" sz="2800" b="0" i="1" dirty="0" smtClean="0">
                  <a:latin typeface="Cambria Math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𝑦</m:t>
                      </m:r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r>
                        <a:rPr lang="en-US" sz="2800" b="0" i="1" dirty="0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US" sz="2800" b="0" dirty="0" smtClean="0"/>
              </a:p>
              <a:p>
                <a:pPr algn="l" rtl="0"/>
                <a:r>
                  <a:rPr lang="en-US" sz="2800" dirty="0" smtClean="0"/>
                  <a:t>Setting: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𝐴</m:t>
                    </m:r>
                    <m:r>
                      <a:rPr lang="en-US" sz="2800" i="1" dirty="0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sz="2800" b="1" i="1" dirty="0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800" b="0" i="1" dirty="0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 smtClean="0"/>
                  <a:t> is sampling matrix,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sz="280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 smtClean="0"/>
                  <a:t> is the signal,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𝑏</m:t>
                    </m:r>
                    <m:r>
                      <a:rPr lang="en-US" sz="280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sz="280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800" dirty="0" smtClean="0"/>
                  <a:t> is noise</a:t>
                </a:r>
              </a:p>
              <a:p>
                <a:pPr algn="l" rtl="0"/>
                <a:r>
                  <a:rPr lang="en-US" sz="2800" dirty="0" smtClean="0"/>
                  <a:t>Goal: given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𝑦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sz="2800" dirty="0" smtClean="0"/>
              </a:p>
              <a:p>
                <a:pPr algn="l" rtl="0"/>
                <a:endParaRPr lang="en-US" sz="2800" dirty="0"/>
              </a:p>
              <a:p>
                <a:pPr marL="457200" lvl="1" indent="0" algn="l" rtl="0">
                  <a:buNone/>
                </a:pPr>
                <a:r>
                  <a:rPr lang="en-US" sz="2400" dirty="0" smtClean="0"/>
                  <a:t>			</a:t>
                </a:r>
              </a:p>
              <a:p>
                <a:pPr marL="457200" lvl="1" indent="0" algn="ctr" rtl="0">
                  <a:buNone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𝐴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𝐾</m:t>
                        </m:r>
                      </m:sub>
                    </m:sSub>
                    <m:sSubSup>
                      <m:sSubSupPr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sub>
                      <m:sup>
                        <m:r>
                          <a:rPr lang="en-US" sz="2400" b="0" i="1" smtClean="0">
                            <a:latin typeface="Cambria Math"/>
                          </a:rPr>
                          <m:t>𝑇</m:t>
                        </m:r>
                      </m:sup>
                    </m:sSubSup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/>
                      </a:rPr>
                      <m:t>𝑊</m:t>
                    </m:r>
                    <m:r>
                      <a:rPr lang="en-US" sz="24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𝐾</m:t>
                        </m:r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𝐾</m:t>
                        </m:r>
                      </m:sub>
                    </m:sSub>
                  </m:oMath>
                </a14:m>
                <a:endParaRPr lang="en-US" sz="2400" b="0" dirty="0" smtClean="0"/>
              </a:p>
              <a:p>
                <a:pPr algn="l" rtl="0"/>
                <a:r>
                  <a:rPr lang="en-US" sz="2800" b="0" dirty="0" smtClean="0"/>
                  <a:t>Setting: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𝐾</m:t>
                        </m:r>
                      </m:sub>
                    </m:sSub>
                    <m:r>
                      <a:rPr lang="en-US" sz="280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sz="280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{</m:t>
                        </m:r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b="0" dirty="0" smtClean="0"/>
                  <a:t> and indictor vector of a clique</a:t>
                </a:r>
                <a:r>
                  <a:rPr lang="en-US" sz="2800" dirty="0" smtClean="0"/>
                  <a:t>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𝑊</m:t>
                    </m:r>
                  </m:oMath>
                </a14:m>
                <a:r>
                  <a:rPr lang="en-US" sz="2800" dirty="0" smtClean="0"/>
                  <a:t> the adjacency matrix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/>
                          </a:rPr>
                          <m:t>.</m:t>
                        </m:r>
                        <m:r>
                          <a:rPr lang="en-US" sz="2800" b="0" i="1" smtClean="0">
                            <a:latin typeface="Cambria Math"/>
                          </a:rPr>
                          <m:t>5</m:t>
                        </m:r>
                      </m:e>
                    </m:d>
                  </m:oMath>
                </a14:m>
                <a:endParaRPr lang="en-US" sz="2800" b="0" dirty="0" smtClean="0"/>
              </a:p>
              <a:p>
                <a:pPr algn="l" rtl="0"/>
                <a:r>
                  <a:rPr lang="en-US" sz="2800" b="0" dirty="0" smtClean="0"/>
                  <a:t>Goal: given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𝑊</m:t>
                    </m:r>
                    <m:r>
                      <a:rPr lang="en-US" sz="28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b="0" dirty="0" smtClean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2800" b="0" dirty="0" smtClean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052736"/>
                <a:ext cx="8229600" cy="5544616"/>
              </a:xfrm>
              <a:blipFill rotWithShape="0">
                <a:blip r:embed="rId2"/>
                <a:stretch>
                  <a:fillRect l="-1333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23528" y="980728"/>
            <a:ext cx="324036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r>
              <a:rPr lang="en-US" sz="2800" dirty="0" smtClean="0"/>
              <a:t>Compressive sensing</a:t>
            </a:r>
            <a:endParaRPr lang="he-IL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395536" y="3841884"/>
            <a:ext cx="2376264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r>
              <a:rPr lang="en-US" sz="2800" dirty="0" smtClean="0"/>
              <a:t>Planted clique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361141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5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864" y="-13394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Denoising Problem contd.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268760"/>
                <a:ext cx="9001000" cy="5040560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𝐴</m:t>
                      </m:r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−</m:t>
                      </m:r>
                      <m:r>
                        <a:rPr lang="en-US" sz="2800" b="0" i="1" smtClean="0">
                          <a:latin typeface="Cambria Math"/>
                        </a:rPr>
                        <m:t>𝑊</m:t>
                      </m:r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 smtClean="0"/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 smtClean="0"/>
                  <a:t>Setting: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sz="280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{</m:t>
                        </m:r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3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 smtClean="0"/>
                  <a:t> is the indicator of color class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𝑖</m:t>
                    </m:r>
                    <m:r>
                      <a:rPr lang="en-US" sz="2800" b="0" i="0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𝑊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sz="280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{</m:t>
                        </m:r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3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 smtClean="0"/>
                  <a:t> is a random Bernoulli matrix </a:t>
                </a: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 smtClean="0"/>
                  <a:t>Goal: given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𝑊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sz="2800" dirty="0" smtClean="0"/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:endParaRPr lang="en-US" sz="2800" dirty="0" smtClean="0"/>
              </a:p>
              <a:p>
                <a:pPr marL="457200" lvl="1" indent="0"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sym typeface="Symbol"/>
                        </a:rPr>
                        <m:t>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𝑧</m:t>
                      </m:r>
                      <m:sSup>
                        <m:sSup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𝑋</m:t>
                      </m:r>
                      <m:sSup>
                        <m:sSup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 smtClean="0"/>
                  <a:t>Setting: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𝑧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 smtClean="0"/>
                  <a:t> is a Gaussian matrix</a:t>
                </a: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 smtClean="0"/>
                  <a:t>Goal: given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sym typeface="Symbol"/>
                      </a:rPr>
                      <m:t> </m:t>
                    </m:r>
                  </m:oMath>
                </a14:m>
                <a:r>
                  <a:rPr lang="en-US" sz="2800" dirty="0" smtClean="0"/>
                  <a:t>find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800" dirty="0" smtClean="0"/>
                  <a:t> (PCA)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268760"/>
                <a:ext cx="9001000" cy="5040560"/>
              </a:xfrm>
              <a:blipFill rotWithShape="1">
                <a:blip r:embed="rId2"/>
                <a:stretch>
                  <a:fillRect l="-122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23528" y="692696"/>
            <a:ext cx="324036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2800" dirty="0" smtClean="0"/>
              <a:t>Planted 3-coloring</a:t>
            </a:r>
            <a:endParaRPr lang="he-IL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23528" y="3645024"/>
            <a:ext cx="3024336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 rtl="0"/>
            <a:r>
              <a:rPr lang="en-US" sz="2800" dirty="0" smtClean="0"/>
              <a:t>Single-Spike PCA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264541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Denoising Problem contd.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800" dirty="0" smtClean="0"/>
              <a:t>Same template repeats: </a:t>
            </a:r>
            <a:r>
              <a:rPr lang="en-US" sz="2800" dirty="0" smtClean="0">
                <a:solidFill>
                  <a:srgbClr val="0070C0"/>
                </a:solidFill>
              </a:rPr>
              <a:t>Low rank matrix</a:t>
            </a:r>
            <a:r>
              <a:rPr lang="en-US" sz="2800" dirty="0" smtClean="0"/>
              <a:t> + </a:t>
            </a:r>
            <a:r>
              <a:rPr lang="en-US" sz="2800" dirty="0" smtClean="0">
                <a:solidFill>
                  <a:srgbClr val="FF0000"/>
                </a:solidFill>
              </a:rPr>
              <a:t>noise</a:t>
            </a:r>
          </a:p>
          <a:p>
            <a:pPr algn="l" rtl="0"/>
            <a:r>
              <a:rPr lang="en-US" sz="2800" dirty="0" smtClean="0"/>
              <a:t>Low rank matrix is the planted solution</a:t>
            </a:r>
          </a:p>
          <a:p>
            <a:pPr algn="l" rtl="0"/>
            <a:r>
              <a:rPr lang="en-US" sz="2800" dirty="0" smtClean="0"/>
              <a:t>The goal is to recover it</a:t>
            </a:r>
          </a:p>
          <a:p>
            <a:pPr algn="l" rtl="0"/>
            <a:r>
              <a:rPr lang="en-US" sz="2800" dirty="0" smtClean="0"/>
              <a:t>Additional assumptions: </a:t>
            </a:r>
            <a:r>
              <a:rPr lang="en-US" sz="2800" dirty="0" smtClean="0">
                <a:solidFill>
                  <a:srgbClr val="00B050"/>
                </a:solidFill>
              </a:rPr>
              <a:t>sparsity</a:t>
            </a:r>
            <a:endParaRPr lang="he-IL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38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Statistical Model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600200"/>
                <a:ext cx="8784976" cy="4525963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800" dirty="0" smtClean="0">
                    <a:latin typeface="+mj-lt"/>
                  </a:rPr>
                  <a:t>Distribution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𝐷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+mj-lt"/>
                  </a:rPr>
                  <a:t>over a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sz="2800" dirty="0" smtClean="0">
                    <a:latin typeface="+mj-lt"/>
                  </a:rPr>
                  <a:t>-dimensional </a:t>
                </a:r>
                <a:r>
                  <a:rPr lang="en-US" sz="2800" dirty="0" err="1" smtClean="0">
                    <a:latin typeface="+mj-lt"/>
                  </a:rPr>
                  <a:t>r.v</a:t>
                </a:r>
                <a:r>
                  <a:rPr lang="en-US" sz="2800" dirty="0" smtClean="0">
                    <a:latin typeface="+mj-lt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latin typeface="Cambria Math"/>
                      </a:rPr>
                      <m:t>𝐱</m:t>
                    </m:r>
                    <m:r>
                      <a:rPr lang="en-US" sz="2800" b="1" i="1" dirty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800" b="0" i="1" dirty="0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dirty="0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i="1" dirty="0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 smtClean="0">
                  <a:latin typeface="+mj-lt"/>
                </a:endParaRPr>
              </a:p>
              <a:p>
                <a:pPr algn="l" rtl="0"/>
                <a:r>
                  <a:rPr lang="en-US" sz="2800" dirty="0" smtClean="0">
                    <a:latin typeface="+mj-lt"/>
                  </a:rPr>
                  <a:t>Input: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 smtClean="0">
                    <a:latin typeface="+mj-lt"/>
                  </a:rPr>
                  <a:t> samples from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/>
                      </a:rPr>
                      <m:t>𝐱</m:t>
                    </m:r>
                  </m:oMath>
                </a14:m>
                <a:endParaRPr lang="en-US" sz="2800" b="1" dirty="0" smtClean="0">
                  <a:latin typeface="+mj-lt"/>
                </a:endParaRPr>
              </a:p>
              <a:p>
                <a:pPr algn="l" rtl="0"/>
                <a:r>
                  <a:rPr lang="en-US" sz="2800" dirty="0" smtClean="0">
                    <a:latin typeface="+mj-lt"/>
                  </a:rPr>
                  <a:t>Output: the planted solution</a:t>
                </a:r>
              </a:p>
              <a:p>
                <a:pPr algn="l" rtl="0"/>
                <a:r>
                  <a:rPr lang="en-US" sz="2800" dirty="0" smtClean="0">
                    <a:latin typeface="+mj-lt"/>
                  </a:rPr>
                  <a:t>In this language the adjacency matrix of a graph consists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𝑛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>
                    <a:latin typeface="+mj-lt"/>
                  </a:rPr>
                  <a:t>samples from an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 smtClean="0">
                    <a:latin typeface="+mj-lt"/>
                  </a:rPr>
                  <a:t>-dim </a:t>
                </a:r>
                <a:r>
                  <a:rPr lang="en-US" sz="2800" dirty="0" err="1" smtClean="0">
                    <a:latin typeface="+mj-lt"/>
                  </a:rPr>
                  <a:t>r.v</a:t>
                </a:r>
                <a:r>
                  <a:rPr lang="en-US" sz="2800" dirty="0" smtClean="0">
                    <a:latin typeface="+mj-lt"/>
                  </a:rPr>
                  <a:t>.</a:t>
                </a:r>
              </a:p>
              <a:p>
                <a:pPr lvl="1" algn="l" rtl="0"/>
                <a:r>
                  <a:rPr lang="en-US" sz="2400" dirty="0" smtClean="0">
                    <a:latin typeface="+mj-lt"/>
                  </a:rPr>
                  <a:t>But not </a:t>
                </a:r>
                <a:r>
                  <a:rPr lang="en-US" sz="2400" dirty="0" err="1" smtClean="0">
                    <a:latin typeface="+mj-lt"/>
                  </a:rPr>
                  <a:t>i.i.d</a:t>
                </a:r>
                <a:r>
                  <a:rPr lang="en-US" sz="2400" dirty="0" smtClean="0">
                    <a:latin typeface="+mj-lt"/>
                  </a:rPr>
                  <a:t>. </a:t>
                </a:r>
                <a:endParaRPr lang="en-US" sz="2400" dirty="0" smtClean="0">
                  <a:latin typeface="+mj-lt"/>
                  <a:sym typeface="Wingdings" panose="05000000000000000000" pitchFamily="2" charset="2"/>
                </a:endParaRPr>
              </a:p>
              <a:p>
                <a:pPr algn="l" rtl="0"/>
                <a:r>
                  <a:rPr lang="en-US" sz="2800" dirty="0" smtClean="0">
                    <a:latin typeface="+mj-lt"/>
                    <a:sym typeface="Wingdings" panose="05000000000000000000" pitchFamily="2" charset="2"/>
                  </a:rPr>
                  <a:t>The Statistical Query model (Valiant 84,Kearns 98)</a:t>
                </a:r>
              </a:p>
              <a:p>
                <a:pPr lvl="1" algn="l" rtl="0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sz="2400" i="1" dirty="0" smtClean="0">
                        <a:latin typeface="Cambria Math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sz="2400" dirty="0" err="1" smtClean="0">
                    <a:latin typeface="+mj-lt"/>
                    <a:sym typeface="Wingdings" panose="05000000000000000000" pitchFamily="2" charset="2"/>
                  </a:rPr>
                  <a:t>i.i.d</a:t>
                </a:r>
                <a:r>
                  <a:rPr lang="en-US" sz="2400" dirty="0" smtClean="0">
                    <a:latin typeface="+mj-lt"/>
                    <a:sym typeface="Wingdings" panose="05000000000000000000" pitchFamily="2" charset="2"/>
                  </a:rPr>
                  <a:t> samples </a:t>
                </a:r>
              </a:p>
              <a:p>
                <a:pPr marL="457200" lvl="1" indent="0" algn="l" rtl="0">
                  <a:buNone/>
                </a:pPr>
                <a:endParaRPr lang="en-US" sz="2400" dirty="0" smtClean="0">
                  <a:latin typeface="+mj-lt"/>
                </a:endParaRPr>
              </a:p>
              <a:p>
                <a:pPr marL="0" indent="0" algn="l" rtl="0">
                  <a:buNone/>
                </a:pPr>
                <a:endParaRPr lang="he-IL" sz="28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600200"/>
                <a:ext cx="8784976" cy="4525963"/>
              </a:xfrm>
              <a:blipFill rotWithShape="0">
                <a:blip r:embed="rId2"/>
                <a:stretch>
                  <a:fillRect l="-1248" t="-674" r="-624" b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58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Planted Clique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600200"/>
                <a:ext cx="8712968" cy="4525963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8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𝑖</m:t>
                    </m:r>
                    <m:r>
                      <a:rPr lang="en-US" sz="2800" i="1" dirty="0" smtClean="0">
                        <a:latin typeface="Cambria Math"/>
                      </a:rPr>
                      <m:t>=</m:t>
                    </m:r>
                    <m:r>
                      <a:rPr lang="en-US" sz="2800" i="1" dirty="0" smtClean="0">
                        <a:latin typeface="Cambria Math"/>
                      </a:rPr>
                      <m:t>1</m:t>
                    </m:r>
                    <m:r>
                      <a:rPr lang="en-US" sz="2800" i="1" dirty="0" smtClean="0">
                        <a:latin typeface="Cambria Math"/>
                      </a:rPr>
                      <m:t>,</m:t>
                    </m:r>
                    <m:r>
                      <a:rPr lang="en-US" sz="2800" i="1" dirty="0" smtClean="0">
                        <a:latin typeface="Cambria Math"/>
                      </a:rPr>
                      <m:t>2</m:t>
                    </m:r>
                    <m:r>
                      <a:rPr lang="en-US" sz="2800" i="1" dirty="0" smtClean="0">
                        <a:latin typeface="Cambria Math"/>
                      </a:rPr>
                      <m:t>,…,</m:t>
                    </m:r>
                    <m:r>
                      <a:rPr lang="en-US" sz="2800" b="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 smtClean="0"/>
                  <a:t> 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 smtClean="0"/>
                  <a:t> as follows:</a:t>
                </a:r>
              </a:p>
              <a:p>
                <a:pPr lvl="1" algn="l" rtl="0"/>
                <a:r>
                  <a:rPr lang="en-US" dirty="0" err="1" smtClean="0"/>
                  <a:t>w.p</a:t>
                </a:r>
                <a:r>
                  <a:rPr lang="en-US" dirty="0" smtClean="0"/>
                  <a:t>.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dirty="0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en-US" b="0" i="1" dirty="0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=(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,..,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𝑘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𝐵𝑒𝑟</m:t>
                    </m:r>
                    <m:d>
                      <m:dPr>
                        <m:ctrlPr>
                          <a:rPr lang="en-US" b="0" i="1" dirty="0" smtClean="0"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b="0" dirty="0" smtClean="0"/>
              </a:p>
              <a:p>
                <a:pPr lvl="1" algn="l" rtl="0"/>
                <a:r>
                  <a:rPr lang="en-US" dirty="0" err="1" smtClean="0"/>
                  <a:t>w.p</a:t>
                </a:r>
                <a:r>
                  <a:rPr lang="en-US" dirty="0" smtClean="0"/>
                  <a:t>.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/>
                      </a:rPr>
                      <m:t>1</m:t>
                    </m:r>
                    <m:r>
                      <a:rPr lang="en-US" b="0" i="0" dirty="0" smtClean="0">
                        <a:latin typeface="Cambria Math"/>
                      </a:rPr>
                      <m:t>−</m:t>
                    </m:r>
                    <m:f>
                      <m:fPr>
                        <m:type m:val="skw"/>
                        <m:ctrlPr>
                          <a:rPr lang="en-US" i="1" dirty="0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b="0" i="1" dirty="0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𝐵𝑒𝑟</m:t>
                    </m:r>
                    <m:d>
                      <m:dPr>
                        <m:ctrlPr>
                          <a:rPr lang="en-US" b="0" i="1" dirty="0" smtClean="0"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dirty="0" smtClean="0"/>
              </a:p>
              <a:p>
                <a:pPr lvl="1" algn="l" rtl="0"/>
                <a:endParaRPr lang="en-US" dirty="0" smtClean="0"/>
              </a:p>
              <a:p>
                <a:pPr marL="457200" lvl="1" indent="0" algn="l" rtl="0">
                  <a:buNone/>
                </a:pPr>
                <a:endParaRPr lang="en-US" dirty="0"/>
              </a:p>
              <a:p>
                <a:pPr marL="457200" lvl="1" indent="0" algn="l" rtl="0">
                  <a:buNone/>
                </a:pPr>
                <a:endParaRPr lang="en-US" dirty="0"/>
              </a:p>
              <a:p>
                <a:pPr marL="457200" lvl="1" indent="0" algn="l" rtl="0">
                  <a:buNone/>
                </a:pPr>
                <a:r>
                  <a:rPr lang="en-US" sz="2200" dirty="0" smtClean="0"/>
                  <a:t>Statistical Algorithms and a Lower Bound for Detecting Planted Cliques [Feldman et. al.] 2015.</a:t>
                </a:r>
                <a:endParaRPr lang="he-IL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600200"/>
                <a:ext cx="8712968" cy="4525963"/>
              </a:xfrm>
              <a:blipFill rotWithShape="0">
                <a:blip r:embed="rId2"/>
                <a:stretch>
                  <a:fillRect l="-1259" t="-1348" r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40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C:\Users\vilenchi\Desktop\panaseed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23826"/>
            <a:ext cx="1695426" cy="113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Planted Clique and Sparse PCA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2819" y="1350306"/>
                <a:ext cx="8229600" cy="604664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:r>
                  <a:rPr lang="en-US" sz="2800" dirty="0" smtClean="0"/>
                  <a:t>The Planted Clique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𝐺</m:t>
                    </m:r>
                    <m:r>
                      <a:rPr lang="en-US" sz="2800" i="1" dirty="0" smtClean="0">
                        <a:latin typeface="Cambria Math"/>
                      </a:rPr>
                      <m:t>(</m:t>
                    </m:r>
                    <m:r>
                      <a:rPr lang="en-US" sz="2800" i="1" dirty="0" smtClean="0">
                        <a:latin typeface="Cambria Math"/>
                      </a:rPr>
                      <m:t>𝑛</m:t>
                    </m:r>
                    <m:r>
                      <a:rPr lang="en-US" sz="2800" i="1" dirty="0" smtClean="0">
                        <a:latin typeface="Cambria Math"/>
                      </a:rPr>
                      <m:t>,</m:t>
                    </m:r>
                    <m:r>
                      <a:rPr lang="en-US" sz="2800" i="1" dirty="0" smtClean="0">
                        <a:latin typeface="Cambria Math"/>
                      </a:rPr>
                      <m:t>1</m:t>
                    </m:r>
                    <m:r>
                      <a:rPr lang="en-US" sz="2800" i="1" dirty="0" smtClean="0">
                        <a:latin typeface="Cambria Math"/>
                      </a:rPr>
                      <m:t>/</m:t>
                    </m:r>
                    <m:r>
                      <a:rPr lang="en-US" sz="2800" i="1" dirty="0" smtClean="0">
                        <a:latin typeface="Cambria Math"/>
                      </a:rPr>
                      <m:t>2</m:t>
                    </m:r>
                    <m:r>
                      <a:rPr lang="en-US" sz="28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800" dirty="0" smtClean="0"/>
              </a:p>
              <a:p>
                <a:pPr marL="0" indent="0" algn="l">
                  <a:buNone/>
                </a:pPr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819" y="1350306"/>
                <a:ext cx="8229600" cy="604664"/>
              </a:xfrm>
              <a:blipFill rotWithShape="1">
                <a:blip r:embed="rId3"/>
                <a:stretch>
                  <a:fillRect l="-1481" t="-9091" b="-1515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http://mathinsight.org/media/image/image/er_undirected_random_network_50_0_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204864"/>
            <a:ext cx="3312368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3923928" y="3784160"/>
                <a:ext cx="576064" cy="504056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he-IL" b="1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3784160"/>
                <a:ext cx="576064" cy="504056"/>
              </a:xfrm>
              <a:prstGeom prst="ellipse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4" descr="Image result for oil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5536" y="5820219"/>
                <a:ext cx="7992888" cy="99315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𝐴</m:t>
                      </m:r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𝐾</m:t>
                          </m:r>
                        </m:sub>
                      </m:sSub>
                      <m:sSubSup>
                        <m:sSubSup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r>
                        <a:rPr lang="en-US" sz="2800" b="0" i="1" smtClean="0">
                          <a:latin typeface="Cambria Math"/>
                        </a:rPr>
                        <m:t>𝑊</m:t>
                      </m:r>
                      <m:r>
                        <a:rPr lang="en-US" sz="28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𝐾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he-IL" sz="2800" dirty="0"/>
              </a:p>
              <a:p>
                <a:endParaRPr lang="he-IL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820219"/>
                <a:ext cx="7992888" cy="99315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6" descr="data:image/jpeg;base64,/9j/4AAQSkZJRgABAQAAAQABAAD/2wCEAAkGBxISEhUQExIVFhUVFxUSFhcWGBYREhIVFRUWFxYVFxYYHygiGBomGxYXITEiJikrLy4uFx8zODMsNygtLisBCgoKDg0OGhAQGy0fICIrLS8rNS0tLi0tLS0tLS8tLS4tNS0rLS0rLS0tLS0wLS8rLi0tLS03Ky0tLS0tLS0uLf/AABEIANEA8gMBIgACEQEDEQH/xAAcAAEAAgIDAQAAAAAAAAAAAAAABQYDBAECBwj/xABEEAACAQIEAwUEBAwEBwEAAAAAAQIDEQQSITEFBkETUWFxgQciMpFCUqGxFCNicoKSorLB0dLwFTNDUxckVJOjwuEW/8QAGwEBAAMBAQEBAAAAAAAAAAAAAAECAwQFBgf/xAAtEQEBAAIBAgMGBgMBAAAAAAAAAQIRAwQhEjFREyJBYZHwBXGxwdHxFDJSFf/aAAwDAQACEQMRAD8A9xAAAAAAAAAAAAAAAAAAAAAAAAAAAAAAAAAAAAAAAAAAAAAAAAAAAAAAAAAAAAAAAANDinGaGHS7Wok38MVeVSX5sFqzS5n406EY0qVnXq3UE9VGKtmqNdyul4tpGrwTlmMW69ZupVnrKUrOT8H3JdyskQMX/wCuqTf4rBVZL60pQpp+mrO65tlDWvg6tNfWi41UvNaP5JmXiXNuDwzyOSbvbLBZnfrojXwPPOCrvI3bpaS+9DadJ/hnFaOIjmo1IzS3t8UfCUXrF+aNwrfFuXY1bYjCy7KsleNSnZKXhLpJeDNfA82ulJYfHxVGptGr/oVfG/8Apvwenj0CFsB0o1ozWaMlJPZxakn6o5q1FFOUmklq23ZJd7bJHYFTx/tEwFJ5e0cmvqrT0btf0M2E54w1SzUaqi/pZG4rzaI2nSzAiafMuEbyqtG/ipJLzbViQw+KhUV4TjJfkyUvuJ2hmAAAAAAAAAAAAAAAAAAAAAARvMPElh6Eql9dIx/Ok7L+foeYcN4zLDUnWU6nayrVIN/GpQi3ZtPd2Tfoituh7CCBwnMdOVHt+0pzio5nb8XUS6+427v1RIVeKwUO0gpVLr3VTWZydrpXdlG6a+JrcnYrfLk5YjiGMxL1hTksLTvrZUfit+m5sy82Y2dSvR4dRm4yq3lUkt4U4rV3/voaXIkpYd1KeIcYTxFapVjBSU2nOTllvHZ+djJwxqXG68m1ph1CHVNuacrPvstiNpWbhHBaGGjlpU0n1lvUn4yluzpxvgGHxcctamm/ozXu1YPvjPdeW3eSYLIeY4fiWJ4RiI4fESdTDz/yqmyku5/Vmuq+Rb8fXo4q1NUFXTp9o3eKUU3ZR1d7uz+Rh9o2DhV4dic8b5KcqsejjOmrqSfR7+ja6lR9m1eVClPE1ZWpxp5JZvilNTbgtvqteRTerpb5onGcLlTlKdBV8JGEnKo86ptWccqjld5L4umqtoadfGcTxjeAp1Kk9c06lWylShplTypKMm7pbvR+Jc8biKterGTp5s/w3eRUl3rxS1b6Jd+jmeCYSlC1Gg4tJ5qk4655+fckkl4JFZPQ3tAct+zaNK1Sq4znu3L3n9p6FhcOoRUV09DLFHJpIjbXxOBpVFapThP86Kl95W+K8j4aclVpqVKa6wbX37ehbDhoXGU2p9KWIw2nbyqR6KTvKPgnK7f6VzejzTCPxxml1lkcorxeVuyJjEcPhLVxRjnPIsrWn2FdaEBL2hYJNrtqemm81/6HJzUwtFtvLHd9InA3U6W0AF1QAAAAAAAAAAAABB8boxrVqVGXwxjOtPusrRjr6yK/wfhtOeGjeEbTrygrpO6VRwub3G+O0aGIrKpJqUqdOjTik223mk27bL3o6vxInk/jdGeDwinOMXGUqk8zatFOc0162KfFbXZI8X5Sp2UIWSebbdLq9b95n4DyVh6cVOalUk1G6nJyjdbPLte1vkR+O9oWFVVRUJT0tGStl6366EnQ5qm/djg60ktMyWjtomr233IuWM72mqmMVwqEoOEVlTVmo+6remhS8fyrVoVI1MPJz1ulKTpzVr3yTs7adNCxVuN4x2VLBPbV1KkYJd2m7/8AprVq3EKi96jhoq99ZzlJNbOyja68+phydXwY+eU/X9EzC12wvMdRRWehWb2bj2dVO19nG3c/kZVzbFK8qFf/ALbXTzIPG8Lxs006tON/pU6SU09NnNyX2dSOxH4VQacq1TKlZ7LZb6K7OW/i3T+KSW/T+Wk4cqsk8biMdenGCo4ezzyqQzzdvyZe6l538iA4x+DxtKpVlUhS1hRoU55FJu7lKb0lJvW7t179dPD82SqXprEKdt46N+sWrnZcdlD6r89vvsdtz3Nq+DTJwV1cXVdWpCVOjBNQpxbUf05bz1e21/ItPLtOnhXPM3abunbT+9SjR9rdBNxeHqW1V4uMk/FXsbNH2m4KVlkqJvo1a36rf2EY5SXey43WtPTf8UpfW+xmKtxujHVyKhLmqhkz5Uo2vdysvtIavzNRrt2jO35Lz6ehbLmkRMKm+I+0eMZONOmpNOyu/vWhJcJ53pzt21KdK/07ZqXX6XRbfMpqqYVtTytSXVw19e8yUsfg4turOpJbpRbjt0snaxl7bk320t4J8Xq9CtGcVKElKL2cWpJ+qOmJpZkzyKvxjBx/ya9aldty+i3dWvnhZt+Zxhuda9F+7jYVY7qNZScntpmS/gazm32ymlfB6PQpYFX2fzYKE/aTX+thP1Kv9RyT7TE8NevgA2ZgAAAAAAAAAAFa5r5rjhYzhSSqV4qN4t2p0s8oxjKpLZfEnlvdr5nXnnmT8EpZYWdWe2qWSOzlrpfu8m9bNFM4NwaWIp18RiZe5KnNUo3aust+1k3q/eSa79+p5/VdbOPLwY+f6NsOPc3UfznhqsKi7SqqlatBS7RO0I3eXLFW8dNkrom8Dy1gpVqdOMp5VDM4X0tZa5ui1St4vuKfHNUhByl71o2vfTS78tYo2sDiKsm5U1JyvlbSb0VmkvW55nJl1GVmq1lw0t3MHBsFTdNU6Uc7lGG8nZOSTdr767lup8Qg9E0eW1uG46S7Xsa0rPfJJu/grXa8fI1J8VxFHSalDwmnB/aY5dL1F95b3b2eyRrxfU7qS7zyGjzVUVrskcNzhLqZXi5sfPFHgnq9OyojOPYKMqU2+iZWsPzcurI/mPnP8TNRe8WvmZ54XPHw+DvU442XzeM8Ym415uLs4zdmt1ZmX/Fa1ZKM53Uem133vvZHY1ycnJrd3O+ElZN+B9Hq48ciN7yZDJhl7xiubPD43kUy7SrY+a48Hc5QVNu8V36ltwHA6UvipQfnGL/gQXLVHY9E4bh9EfJfiPU5Y5dq6b2RseXMPb/Ih6RUfuNepyrhX/oR+1fcy2KkdXRPHnW8svbK/WqbU2fKeF/2f2p/1GvU5Twv+1+1P+ou0sOYp4U3x/EOb/u/Wp7KK+UsN/tftT/mC6fgoNf/AEeX/u/Wp7LmAD9LeSAAAAAAAAGtxLGxoUp1p/DCLk+926Lxb0XmbJVucK7nOnhoq7Vq8k9pSU1DDwl+S6rUn4UmZc/L7PjuX3tbGbulWjhZ4uq6tfWNJ3qLeM8TJK9OP5FOOWHjZ97M/G8XJxlh4PWStNpOUtfowit5PaxN4rDxoQhQhrki5Nvec27uUvFybk/Mj+A8MdWbV2szfaTWksujlCD6NpxTa1tPTqfH5TPm6mYed3/bulkx20uHcoVZqksmWGzeaMpRjf3rtbyVraXWyu7XPRsHhKdKKhTgoxXRK3z72ZacFFKKSSSSSWiSWyS6I7H2HFxTjmvNwW7uw6zgmrNJrueqOwNUIrFctYOp8WGpX71BQl+tGzImv7PsDLaM4fmzb/fzFrBFxl+Cd1Q8R7Naf+niJr8+Kn+64lX477OMXFSlDLWXRQdp/qytf0bPZAZ3hwvwWnJlHyhjsDZyVmmnlaacZJ90k9U/BkVUhldj6L9pPJccXSliKKUMTBXUlb8bFfQn3+D6Hzni5SztTVpJ5WtrNaWsZZ4a7NcctuUze4V8RGJknwpO+xz8s92t8L3ek8rpaHoWAeh5ny9iLJF6wGL0PiPxLjtyroyWBMXI+OMRkWKR4/s6z8LbOGjXWIRy6yI8NNMuUGv+EIE+Gp1VpAB+wvLAAAAAAAACr8Nh2uKrV3sqkox8FQj2SXlnlWl5otDK/wAqQ/5eE3vOKk/OUpzf75w9Zd3DH879P7aYeVqPxXv16sntTjf1S0+9/IluVsNlpJ9Wk35yvNv5SS/RIbCe/TxT61K6oR8vdu/TNL5FtwcLQS9fK+qXotPQ8v8ACuDfNeW+m/rb+zbmy93TMAD6JygAAAAAAAB8/e2flT8Hr/hVOP4upvbZP+/4d59AkTzNwWGMw86E1unZ9z/v7UiuU3FsbqvlujTTpxdun3afwNrBXTJGXBJ0JVcPUVpU5NrpdeH3mu6LT2ODm1ZXVjuWJzhtfYtGDx9luUPt8ljcp8S8Tw+p6S5V1TLa/R4j4mSPEPEokeKeJljxXxOG9AlelxHxOy4n4lIhxXxMi4p4md6D5C5f4gCn/wCJLvOCP8E7PfQAfoDyAAAAAAAAHEldWILluvF4SnJNNRi43TuvcvF/cTSlLNbL7tr5rre+1iAUILCV6dLKrOtS91ZUpynKN2n11Tb21vsef1nnM/SZft/DTD0/JqctUc1HDp/SU8TLzrym4/sOp8kW4i+BUFGEbW0p04q2uihFb9VpdebJQ06Lj8HHv1/bscl3QAHYzAAAAAAAAAABW+b+T6OOhv2dVL3ai38FLvR5BxnlPiGFbVTDyqRW1WinUi13yitY+qR9BgpeOXuvM7HypWpe970srXRqULejR2jT7pxfqj6lq0Iy0lGMvNJ/eR1flvBT+LCYd+dKF/nYxvTyrzmfNyoy6anPZz7j6Arcg8Mlvg6S/NzQ/daNOp7MuGvalOH5tWovvbKXpfyXnM8KvJdGc9rLxPZ63snwT+GriY+VSLX2xNOt7I6f0MZVX50IT/kZ3pPktOePJe1YPUf+EUv+u/8ADH+oFP8AEvon289XqYAPTcYAAAAAAAAUnmSE1RxtKHxVsRThDznSoOW3lJl2KxiqWfGxjq4qopu2ylGnTacv1Gjh6/vhjJ526+u2nF5rFhqWSKj3aIygHbJqajMABIAAAAAAAAAAAAAAAAAAAAAAAAAADi5yAAAOrvdbW69/hYDsDq5629emhHY/jlCmp/jIOVO2ZZorI3spP6LfiZ58uGE3ldJkt8m7ia6gl1lJ2iu9/wAurZHcv4dJSqb55Seb6ycnZ+q1/SZr8OU68nNyVn7smtMsdH2cF0v1bs/sJ2nTUUopWS0SXQ5uPfPyTks1jPL5/P7/AJXvuzTsADtZgAAAAAAAAAAAAAAAAAAAAAAAAAAHDZyQXNPDnVVOTpOvCm5OdFOPv3SSlafuycddH9Z9TPlzuGFyk2nGbuqnTBiqXaQyqVr9Vrp1t4+PR2PP+B8QxNKrVoPD1o4SSbgsRGpT7O6s4QqRjJRXht3WN/l6tDDPs6UoqGX3oZ4ypKd3rGpKSd7LXfdHBl1+F1jnjZvz+X38m3srO8q7ykluR3EuLxpQlUtmyq+s4U7+F5PR+ZCcXp08XZTc5KN12eHlUqKV+kpLLTX6XzNjhXLqppZKNLDpbWSrV/WpK6i/K/mTl1PLy3XDO3r99vqiYYz/AGQnMnHq1WVOlGnOFKrZxm24dolFOUcrSu23ZXdno7Pc1OVfZvaXb4qUr3zRpxdpddZyXXXp8z0Cjw+EWpNynJapzk52feo7Re+qSNsni6K3O5818Vv39ydvzLy6msezFhqKgskYxjGOkVHRW8uhlAPQk0xAASAAAAAAAAAAAAAAAAAAAAAAAAAAAHXJre72tbp5+Z2BFgGCj7yzSp5Xdqzyydk7J3Xfv6mcCzuAAJAAAAYcXiFTi5tNpW2t1aW7aSWu7O9GpmipWauk7PdX7yvini8PxTr4u4ALIAAAAAAAAAAAAAAAAAAAAAAAAAAAAAAAAAAAAAAAAAAAAAAAAAAAAAAAAAAAAAAAAAAAAAAAAAAAAAAAAAAAAAAAAAAAAAAAAAAAAAAAAAAAAAAAAf/Z"/>
          <p:cNvSpPr>
            <a:spLocks noChangeAspect="1" noChangeArrowheads="1"/>
          </p:cNvSpPr>
          <p:nvPr/>
        </p:nvSpPr>
        <p:spPr bwMode="auto">
          <a:xfrm>
            <a:off x="9075738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8" name="AutoShape 8" descr="data:image/jpeg;base64,/9j/4AAQSkZJRgABAQAAAQABAAD/2wCEAAkGBxISEhUQExIVFhUVFxUSFhcWGBYREhIVFRUWFxYVFxYYHygiGBomGxYXITEiJikrLy4uFx8zODMsNygtLisBCgoKDg0OGhAQGy0fICIrLS8rNS0tLi0tLS0tLS8tLS4tNS0rLS0rLS0tLS0wLS8rLi0tLS03Ky0tLS0tLS0uLf/AABEIANEA8gMBIgACEQEDEQH/xAAcAAEAAgIDAQAAAAAAAAAAAAAABQYDBAECBwj/xABEEAACAQIEAwUEBAwEBwEAAAAAAQIDEQQSITEFBkETUWFxgQciMpFCUqGxFCNicoKSorLB0dLwFTNDUxckVJOjwuEW/8QAGwEBAAMBAQEBAAAAAAAAAAAAAAECAwQFBgf/xAAtEQEBAAIBAgMGBgMBAAAAAAAAAQIRAwQhEjFREyJBYZHwBXGxwdHxFDJSFf/aAAwDAQACEQMRAD8A9xAAAAAAAAAAAAAAAAAAAAAAAAAAAAAAAAAAAAAAAAAAAAAAAAAAAAAAAAAAAAAAAANDinGaGHS7Wok38MVeVSX5sFqzS5n406EY0qVnXq3UE9VGKtmqNdyul4tpGrwTlmMW69ZupVnrKUrOT8H3JdyskQMX/wCuqTf4rBVZL60pQpp+mrO65tlDWvg6tNfWi41UvNaP5JmXiXNuDwzyOSbvbLBZnfrojXwPPOCrvI3bpaS+9DadJ/hnFaOIjmo1IzS3t8UfCUXrF+aNwrfFuXY1bYjCy7KsleNSnZKXhLpJeDNfA82ulJYfHxVGptGr/oVfG/8Apvwenj0CFsB0o1ozWaMlJPZxakn6o5q1FFOUmklq23ZJd7bJHYFTx/tEwFJ5e0cmvqrT0btf0M2E54w1SzUaqi/pZG4rzaI2nSzAiafMuEbyqtG/ipJLzbViQw+KhUV4TjJfkyUvuJ2hmAAAAAAAAAAAAAAAAAAAAAARvMPElh6Eql9dIx/Ok7L+foeYcN4zLDUnWU6nayrVIN/GpQi3ZtPd2Tfoituh7CCBwnMdOVHt+0pzio5nb8XUS6+427v1RIVeKwUO0gpVLr3VTWZydrpXdlG6a+JrcnYrfLk5YjiGMxL1hTksLTvrZUfit+m5sy82Y2dSvR4dRm4yq3lUkt4U4rV3/voaXIkpYd1KeIcYTxFapVjBSU2nOTllvHZ+djJwxqXG68m1ph1CHVNuacrPvstiNpWbhHBaGGjlpU0n1lvUn4yluzpxvgGHxcctamm/ozXu1YPvjPdeW3eSYLIeY4fiWJ4RiI4fESdTDz/yqmyku5/Vmuq+Rb8fXo4q1NUFXTp9o3eKUU3ZR1d7uz+Rh9o2DhV4dic8b5KcqsejjOmrqSfR7+ja6lR9m1eVClPE1ZWpxp5JZvilNTbgtvqteRTerpb5onGcLlTlKdBV8JGEnKo86ptWccqjld5L4umqtoadfGcTxjeAp1Kk9c06lWylShplTypKMm7pbvR+Jc8biKterGTp5s/w3eRUl3rxS1b6Jd+jmeCYSlC1Gg4tJ5qk4655+fckkl4JFZPQ3tAct+zaNK1Sq4znu3L3n9p6FhcOoRUV09DLFHJpIjbXxOBpVFapThP86Kl95W+K8j4aclVpqVKa6wbX37ehbDhoXGU2p9KWIw2nbyqR6KTvKPgnK7f6VzejzTCPxxml1lkcorxeVuyJjEcPhLVxRjnPIsrWn2FdaEBL2hYJNrtqemm81/6HJzUwtFtvLHd9InA3U6W0AF1QAAAAAAAAAAAABB8boxrVqVGXwxjOtPusrRjr6yK/wfhtOeGjeEbTrygrpO6VRwub3G+O0aGIrKpJqUqdOjTik223mk27bL3o6vxInk/jdGeDwinOMXGUqk8zatFOc0162KfFbXZI8X5Sp2UIWSebbdLq9b95n4DyVh6cVOalUk1G6nJyjdbPLte1vkR+O9oWFVVRUJT0tGStl6366EnQ5qm/djg60ktMyWjtomr233IuWM72mqmMVwqEoOEVlTVmo+6remhS8fyrVoVI1MPJz1ulKTpzVr3yTs7adNCxVuN4x2VLBPbV1KkYJd2m7/8AprVq3EKi96jhoq99ZzlJNbOyja68+phydXwY+eU/X9EzC12wvMdRRWehWb2bj2dVO19nG3c/kZVzbFK8qFf/ALbXTzIPG8Lxs006tON/pU6SU09NnNyX2dSOxH4VQacq1TKlZ7LZb6K7OW/i3T+KSW/T+Wk4cqsk8biMdenGCo4ezzyqQzzdvyZe6l538iA4x+DxtKpVlUhS1hRoU55FJu7lKb0lJvW7t179dPD82SqXprEKdt46N+sWrnZcdlD6r89vvsdtz3Nq+DTJwV1cXVdWpCVOjBNQpxbUf05bz1e21/ItPLtOnhXPM3abunbT+9SjR9rdBNxeHqW1V4uMk/FXsbNH2m4KVlkqJvo1a36rf2EY5SXey43WtPTf8UpfW+xmKtxujHVyKhLmqhkz5Uo2vdysvtIavzNRrt2jO35Lz6ehbLmkRMKm+I+0eMZONOmpNOyu/vWhJcJ53pzt21KdK/07ZqXX6XRbfMpqqYVtTytSXVw19e8yUsfg4turOpJbpRbjt0snaxl7bk320t4J8Xq9CtGcVKElKL2cWpJ+qOmJpZkzyKvxjBx/ya9aldty+i3dWvnhZt+Zxhuda9F+7jYVY7qNZScntpmS/gazm32ymlfB6PQpYFX2fzYKE/aTX+thP1Kv9RyT7TE8NevgA2ZgAAAAAAAAAAFa5r5rjhYzhSSqV4qN4t2p0s8oxjKpLZfEnlvdr5nXnnmT8EpZYWdWe2qWSOzlrpfu8m9bNFM4NwaWIp18RiZe5KnNUo3aust+1k3q/eSa79+p5/VdbOPLwY+f6NsOPc3UfznhqsKi7SqqlatBS7RO0I3eXLFW8dNkrom8Dy1gpVqdOMp5VDM4X0tZa5ui1St4vuKfHNUhByl71o2vfTS78tYo2sDiKsm5U1JyvlbSb0VmkvW55nJl1GVmq1lw0t3MHBsFTdNU6Uc7lGG8nZOSTdr767lup8Qg9E0eW1uG46S7Xsa0rPfJJu/grXa8fI1J8VxFHSalDwmnB/aY5dL1F95b3b2eyRrxfU7qS7zyGjzVUVrskcNzhLqZXi5sfPFHgnq9OyojOPYKMqU2+iZWsPzcurI/mPnP8TNRe8WvmZ54XPHw+DvU442XzeM8Ym415uLs4zdmt1ZmX/Fa1ZKM53Uem133vvZHY1ycnJrd3O+ElZN+B9Hq48ciN7yZDJhl7xiubPD43kUy7SrY+a48Hc5QVNu8V36ltwHA6UvipQfnGL/gQXLVHY9E4bh9EfJfiPU5Y5dq6b2RseXMPb/Ih6RUfuNepyrhX/oR+1fcy2KkdXRPHnW8svbK/WqbU2fKeF/2f2p/1GvU5Twv+1+1P+ou0sOYp4U3x/EOb/u/Wp7KK+UsN/tftT/mC6fgoNf/AEeX/u/Wp7LmAD9LeSAAAAAAAAGtxLGxoUp1p/DCLk+926Lxb0XmbJVucK7nOnhoq7Vq8k9pSU1DDwl+S6rUn4UmZc/L7PjuX3tbGbulWjhZ4uq6tfWNJ3qLeM8TJK9OP5FOOWHjZ97M/G8XJxlh4PWStNpOUtfowit5PaxN4rDxoQhQhrki5Nvec27uUvFybk/Mj+A8MdWbV2szfaTWksujlCD6NpxTa1tPTqfH5TPm6mYed3/bulkx20uHcoVZqksmWGzeaMpRjf3rtbyVraXWyu7XPRsHhKdKKhTgoxXRK3z72ZacFFKKSSSSSWiSWyS6I7H2HFxTjmvNwW7uw6zgmrNJrueqOwNUIrFctYOp8WGpX71BQl+tGzImv7PsDLaM4fmzb/fzFrBFxl+Cd1Q8R7Naf+niJr8+Kn+64lX477OMXFSlDLWXRQdp/qytf0bPZAZ3hwvwWnJlHyhjsDZyVmmnlaacZJ90k9U/BkVUhldj6L9pPJccXSliKKUMTBXUlb8bFfQn3+D6Hzni5SztTVpJ5WtrNaWsZZ4a7NcctuUze4V8RGJknwpO+xz8s92t8L3ek8rpaHoWAeh5ny9iLJF6wGL0PiPxLjtyroyWBMXI+OMRkWKR4/s6z8LbOGjXWIRy6yI8NNMuUGv+EIE+Gp1VpAB+wvLAAAAAAAACr8Nh2uKrV3sqkox8FQj2SXlnlWl5otDK/wAqQ/5eE3vOKk/OUpzf75w9Zd3DH879P7aYeVqPxXv16sntTjf1S0+9/IluVsNlpJ9Wk35yvNv5SS/RIbCe/TxT61K6oR8vdu/TNL5FtwcLQS9fK+qXotPQ8v8ACuDfNeW+m/rb+zbmy93TMAD6JygAAAAAAAB8/e2flT8Hr/hVOP4upvbZP+/4d59AkTzNwWGMw86E1unZ9z/v7UiuU3FsbqvlujTTpxdun3afwNrBXTJGXBJ0JVcPUVpU5NrpdeH3mu6LT2ODm1ZXVjuWJzhtfYtGDx9luUPt8ljcp8S8Tw+p6S5V1TLa/R4j4mSPEPEokeKeJljxXxOG9AlelxHxOy4n4lIhxXxMi4p4md6D5C5f4gCn/wCJLvOCP8E7PfQAfoDyAAAAAAAAHEldWILluvF4SnJNNRi43TuvcvF/cTSlLNbL7tr5rre+1iAUILCV6dLKrOtS91ZUpynKN2n11Tb21vsef1nnM/SZft/DTD0/JqctUc1HDp/SU8TLzrym4/sOp8kW4i+BUFGEbW0p04q2uihFb9VpdebJQ06Lj8HHv1/bscl3QAHYzAAAAAAAAAABW+b+T6OOhv2dVL3ai38FLvR5BxnlPiGFbVTDyqRW1WinUi13yitY+qR9BgpeOXuvM7HypWpe970srXRqULejR2jT7pxfqj6lq0Iy0lGMvNJ/eR1flvBT+LCYd+dKF/nYxvTyrzmfNyoy6anPZz7j6Arcg8Mlvg6S/NzQ/daNOp7MuGvalOH5tWovvbKXpfyXnM8KvJdGc9rLxPZ63snwT+GriY+VSLX2xNOt7I6f0MZVX50IT/kZ3pPktOePJe1YPUf+EUv+u/8ADH+oFP8AEvon289XqYAPTcYAAAAAAAAUnmSE1RxtKHxVsRThDznSoOW3lJl2KxiqWfGxjq4qopu2ylGnTacv1Gjh6/vhjJ526+u2nF5rFhqWSKj3aIygHbJqajMABIAAAAAAAAAAAAAAAAAAAAAAAAAADi5yAAAOrvdbW69/hYDsDq5629emhHY/jlCmp/jIOVO2ZZorI3spP6LfiZ58uGE3ldJkt8m7ia6gl1lJ2iu9/wAurZHcv4dJSqb55Seb6ycnZ+q1/SZr8OU68nNyVn7smtMsdH2cF0v1bs/sJ2nTUUopWS0SXQ5uPfPyTks1jPL5/P7/AJXvuzTsADtZgAAAAAAAAAAAAAAAAAAAAAAAAAAHDZyQXNPDnVVOTpOvCm5OdFOPv3SSlafuycddH9Z9TPlzuGFyk2nGbuqnTBiqXaQyqVr9Vrp1t4+PR2PP+B8QxNKrVoPD1o4SSbgsRGpT7O6s4QqRjJRXht3WN/l6tDDPs6UoqGX3oZ4ypKd3rGpKSd7LXfdHBl1+F1jnjZvz+X38m3srO8q7ykluR3EuLxpQlUtmyq+s4U7+F5PR+ZCcXp08XZTc5KN12eHlUqKV+kpLLTX6XzNjhXLqppZKNLDpbWSrV/WpK6i/K/mTl1PLy3XDO3r99vqiYYz/AGQnMnHq1WVOlGnOFKrZxm24dolFOUcrSu23ZXdno7Pc1OVfZvaXb4qUr3zRpxdpddZyXXXp8z0Cjw+EWpNynJapzk52feo7Re+qSNsni6K3O5818Vv39ydvzLy6msezFhqKgskYxjGOkVHRW8uhlAPQk0xAASAAAAAAAAAAAAAAAAAAAAAAAAAAAHXJre72tbp5+Z2BFgGCj7yzSp5Xdqzyydk7J3Xfv6mcCzuAAJAAAAYcXiFTi5tNpW2t1aW7aSWu7O9GpmipWauk7PdX7yvini8PxTr4u4ALIAAAAAAAAAAAAAAAAAAAAAAAAAAAAAAAAAAAAAAAAAAAAAAAAAAAAAAAAAAAAAAAAAAAAAAAAAAAAAAAAAAAAAAAAAAAAAAAAAAAAAAAAAAAAAAAAf/Z"/>
          <p:cNvSpPr>
            <a:spLocks noChangeAspect="1" noChangeArrowheads="1"/>
          </p:cNvSpPr>
          <p:nvPr/>
        </p:nvSpPr>
        <p:spPr bwMode="auto">
          <a:xfrm>
            <a:off x="9228138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9" name="AutoShape 10" descr="data:image/jpeg;base64,/9j/4AAQSkZJRgABAQAAAQABAAD/2wCEAAkGBxISEhUQExIVFhUVFxUSFhcWGBYREhIVFRUWFxYVFxYYHygiGBomGxYXITEiJikrLy4uFx8zODMsNygtLisBCgoKDg0OGhAQGy0fICIrLS8rNS0tLi0tLS0tLS8tLS4tNS0rLS0rLS0tLS0wLS8rLi0tLS03Ky0tLS0tLS0uLf/AABEIANEA8gMBIgACEQEDEQH/xAAcAAEAAgIDAQAAAAAAAAAAAAAABQYDBAECBwj/xABEEAACAQIEAwUEBAwEBwEAAAAAAQIDEQQSITEFBkETUWFxgQciMpFCUqGxFCNicoKSorLB0dLwFTNDUxckVJOjwuEW/8QAGwEBAAMBAQEBAAAAAAAAAAAAAAECAwQFBgf/xAAtEQEBAAIBAgMGBgMBAAAAAAAAAQIRAwQhEjFREyJBYZHwBXGxwdHxFDJSFf/aAAwDAQACEQMRAD8A9xAAAAAAAAAAAAAAAAAAAAAAAAAAAAAAAAAAAAAAAAAAAAAAAAAAAAAAAAAAAAAAAANDinGaGHS7Wok38MVeVSX5sFqzS5n406EY0qVnXq3UE9VGKtmqNdyul4tpGrwTlmMW69ZupVnrKUrOT8H3JdyskQMX/wCuqTf4rBVZL60pQpp+mrO65tlDWvg6tNfWi41UvNaP5JmXiXNuDwzyOSbvbLBZnfrojXwPPOCrvI3bpaS+9DadJ/hnFaOIjmo1IzS3t8UfCUXrF+aNwrfFuXY1bYjCy7KsleNSnZKXhLpJeDNfA82ulJYfHxVGptGr/oVfG/8Apvwenj0CFsB0o1ozWaMlJPZxakn6o5q1FFOUmklq23ZJd7bJHYFTx/tEwFJ5e0cmvqrT0btf0M2E54w1SzUaqi/pZG4rzaI2nSzAiafMuEbyqtG/ipJLzbViQw+KhUV4TjJfkyUvuJ2hmAAAAAAAAAAAAAAAAAAAAAARvMPElh6Eql9dIx/Ok7L+foeYcN4zLDUnWU6nayrVIN/GpQi3ZtPd2Tfoituh7CCBwnMdOVHt+0pzio5nb8XUS6+427v1RIVeKwUO0gpVLr3VTWZydrpXdlG6a+JrcnYrfLk5YjiGMxL1hTksLTvrZUfit+m5sy82Y2dSvR4dRm4yq3lUkt4U4rV3/voaXIkpYd1KeIcYTxFapVjBSU2nOTllvHZ+djJwxqXG68m1ph1CHVNuacrPvstiNpWbhHBaGGjlpU0n1lvUn4yluzpxvgGHxcctamm/ozXu1YPvjPdeW3eSYLIeY4fiWJ4RiI4fESdTDz/yqmyku5/Vmuq+Rb8fXo4q1NUFXTp9o3eKUU3ZR1d7uz+Rh9o2DhV4dic8b5KcqsejjOmrqSfR7+ja6lR9m1eVClPE1ZWpxp5JZvilNTbgtvqteRTerpb5onGcLlTlKdBV8JGEnKo86ptWccqjld5L4umqtoadfGcTxjeAp1Kk9c06lWylShplTypKMm7pbvR+Jc8biKterGTp5s/w3eRUl3rxS1b6Jd+jmeCYSlC1Gg4tJ5qk4655+fckkl4JFZPQ3tAct+zaNK1Sq4znu3L3n9p6FhcOoRUV09DLFHJpIjbXxOBpVFapThP86Kl95W+K8j4aclVpqVKa6wbX37ehbDhoXGU2p9KWIw2nbyqR6KTvKPgnK7f6VzejzTCPxxml1lkcorxeVuyJjEcPhLVxRjnPIsrWn2FdaEBL2hYJNrtqemm81/6HJzUwtFtvLHd9InA3U6W0AF1QAAAAAAAAAAAABB8boxrVqVGXwxjOtPusrRjr6yK/wfhtOeGjeEbTrygrpO6VRwub3G+O0aGIrKpJqUqdOjTik223mk27bL3o6vxInk/jdGeDwinOMXGUqk8zatFOc0162KfFbXZI8X5Sp2UIWSebbdLq9b95n4DyVh6cVOalUk1G6nJyjdbPLte1vkR+O9oWFVVRUJT0tGStl6366EnQ5qm/djg60ktMyWjtomr233IuWM72mqmMVwqEoOEVlTVmo+6remhS8fyrVoVI1MPJz1ulKTpzVr3yTs7adNCxVuN4x2VLBPbV1KkYJd2m7/8AprVq3EKi96jhoq99ZzlJNbOyja68+phydXwY+eU/X9EzC12wvMdRRWehWb2bj2dVO19nG3c/kZVzbFK8qFf/ALbXTzIPG8Lxs006tON/pU6SU09NnNyX2dSOxH4VQacq1TKlZ7LZb6K7OW/i3T+KSW/T+Wk4cqsk8biMdenGCo4ezzyqQzzdvyZe6l538iA4x+DxtKpVlUhS1hRoU55FJu7lKb0lJvW7t179dPD82SqXprEKdt46N+sWrnZcdlD6r89vvsdtz3Nq+DTJwV1cXVdWpCVOjBNQpxbUf05bz1e21/ItPLtOnhXPM3abunbT+9SjR9rdBNxeHqW1V4uMk/FXsbNH2m4KVlkqJvo1a36rf2EY5SXey43WtPTf8UpfW+xmKtxujHVyKhLmqhkz5Uo2vdysvtIavzNRrt2jO35Lz6ehbLmkRMKm+I+0eMZONOmpNOyu/vWhJcJ53pzt21KdK/07ZqXX6XRbfMpqqYVtTytSXVw19e8yUsfg4turOpJbpRbjt0snaxl7bk320t4J8Xq9CtGcVKElKL2cWpJ+qOmJpZkzyKvxjBx/ya9aldty+i3dWvnhZt+Zxhuda9F+7jYVY7qNZScntpmS/gazm32ymlfB6PQpYFX2fzYKE/aTX+thP1Kv9RyT7TE8NevgA2ZgAAAAAAAAAAFa5r5rjhYzhSSqV4qN4t2p0s8oxjKpLZfEnlvdr5nXnnmT8EpZYWdWe2qWSOzlrpfu8m9bNFM4NwaWIp18RiZe5KnNUo3aust+1k3q/eSa79+p5/VdbOPLwY+f6NsOPc3UfznhqsKi7SqqlatBS7RO0I3eXLFW8dNkrom8Dy1gpVqdOMp5VDM4X0tZa5ui1St4vuKfHNUhByl71o2vfTS78tYo2sDiKsm5U1JyvlbSb0VmkvW55nJl1GVmq1lw0t3MHBsFTdNU6Uc7lGG8nZOSTdr767lup8Qg9E0eW1uG46S7Xsa0rPfJJu/grXa8fI1J8VxFHSalDwmnB/aY5dL1F95b3b2eyRrxfU7qS7zyGjzVUVrskcNzhLqZXi5sfPFHgnq9OyojOPYKMqU2+iZWsPzcurI/mPnP8TNRe8WvmZ54XPHw+DvU442XzeM8Ym415uLs4zdmt1ZmX/Fa1ZKM53Uem133vvZHY1ycnJrd3O+ElZN+B9Hq48ciN7yZDJhl7xiubPD43kUy7SrY+a48Hc5QVNu8V36ltwHA6UvipQfnGL/gQXLVHY9E4bh9EfJfiPU5Y5dq6b2RseXMPb/Ih6RUfuNepyrhX/oR+1fcy2KkdXRPHnW8svbK/WqbU2fKeF/2f2p/1GvU5Twv+1+1P+ou0sOYp4U3x/EOb/u/Wp7KK+UsN/tftT/mC6fgoNf/AEeX/u/Wp7LmAD9LeSAAAAAAAAGtxLGxoUp1p/DCLk+926Lxb0XmbJVucK7nOnhoq7Vq8k9pSU1DDwl+S6rUn4UmZc/L7PjuX3tbGbulWjhZ4uq6tfWNJ3qLeM8TJK9OP5FOOWHjZ97M/G8XJxlh4PWStNpOUtfowit5PaxN4rDxoQhQhrki5Nvec27uUvFybk/Mj+A8MdWbV2szfaTWksujlCD6NpxTa1tPTqfH5TPm6mYed3/bulkx20uHcoVZqksmWGzeaMpRjf3rtbyVraXWyu7XPRsHhKdKKhTgoxXRK3z72ZacFFKKSSSSSWiSWyS6I7H2HFxTjmvNwW7uw6zgmrNJrueqOwNUIrFctYOp8WGpX71BQl+tGzImv7PsDLaM4fmzb/fzFrBFxl+Cd1Q8R7Naf+niJr8+Kn+64lX477OMXFSlDLWXRQdp/qytf0bPZAZ3hwvwWnJlHyhjsDZyVmmnlaacZJ90k9U/BkVUhldj6L9pPJccXSliKKUMTBXUlb8bFfQn3+D6Hzni5SztTVpJ5WtrNaWsZZ4a7NcctuUze4V8RGJknwpO+xz8s92t8L3ek8rpaHoWAeh5ny9iLJF6wGL0PiPxLjtyroyWBMXI+OMRkWKR4/s6z8LbOGjXWIRy6yI8NNMuUGv+EIE+Gp1VpAB+wvLAAAAAAAACr8Nh2uKrV3sqkox8FQj2SXlnlWl5otDK/wAqQ/5eE3vOKk/OUpzf75w9Zd3DH879P7aYeVqPxXv16sntTjf1S0+9/IluVsNlpJ9Wk35yvNv5SS/RIbCe/TxT61K6oR8vdu/TNL5FtwcLQS9fK+qXotPQ8v8ACuDfNeW+m/rb+zbmy93TMAD6JygAAAAAAAB8/e2flT8Hr/hVOP4upvbZP+/4d59AkTzNwWGMw86E1unZ9z/v7UiuU3FsbqvlujTTpxdun3afwNrBXTJGXBJ0JVcPUVpU5NrpdeH3mu6LT2ODm1ZXVjuWJzhtfYtGDx9luUPt8ljcp8S8Tw+p6S5V1TLa/R4j4mSPEPEokeKeJljxXxOG9AlelxHxOy4n4lIhxXxMi4p4md6D5C5f4gCn/wCJLvOCP8E7PfQAfoDyAAAAAAAAHEldWILluvF4SnJNNRi43TuvcvF/cTSlLNbL7tr5rre+1iAUILCV6dLKrOtS91ZUpynKN2n11Tb21vsef1nnM/SZft/DTD0/JqctUc1HDp/SU8TLzrym4/sOp8kW4i+BUFGEbW0p04q2uihFb9VpdebJQ06Lj8HHv1/bscl3QAHYzAAAAAAAAAABW+b+T6OOhv2dVL3ai38FLvR5BxnlPiGFbVTDyqRW1WinUi13yitY+qR9BgpeOXuvM7HypWpe970srXRqULejR2jT7pxfqj6lq0Iy0lGMvNJ/eR1flvBT+LCYd+dKF/nYxvTyrzmfNyoy6anPZz7j6Arcg8Mlvg6S/NzQ/daNOp7MuGvalOH5tWovvbKXpfyXnM8KvJdGc9rLxPZ63snwT+GriY+VSLX2xNOt7I6f0MZVX50IT/kZ3pPktOePJe1YPUf+EUv+u/8ADH+oFP8AEvon289XqYAPTcYAAAAAAAAUnmSE1RxtKHxVsRThDznSoOW3lJl2KxiqWfGxjq4qopu2ylGnTacv1Gjh6/vhjJ526+u2nF5rFhqWSKj3aIygHbJqajMABIAAAAAAAAAAAAAAAAAAAAAAAAAADi5yAAAOrvdbW69/hYDsDq5629emhHY/jlCmp/jIOVO2ZZorI3spP6LfiZ58uGE3ldJkt8m7ia6gl1lJ2iu9/wAurZHcv4dJSqb55Seb6ycnZ+q1/SZr8OU68nNyVn7smtMsdH2cF0v1bs/sJ2nTUUopWS0SXQ5uPfPyTks1jPL5/P7/AJXvuzTsADtZgAAAAAAAAAAAAAAAAAAAAAAAAAAHDZyQXNPDnVVOTpOvCm5OdFOPv3SSlafuycddH9Z9TPlzuGFyk2nGbuqnTBiqXaQyqVr9Vrp1t4+PR2PP+B8QxNKrVoPD1o4SSbgsRGpT7O6s4QqRjJRXht3WN/l6tDDPs6UoqGX3oZ4ypKd3rGpKSd7LXfdHBl1+F1jnjZvz+X38m3srO8q7ykluR3EuLxpQlUtmyq+s4U7+F5PR+ZCcXp08XZTc5KN12eHlUqKV+kpLLTX6XzNjhXLqppZKNLDpbWSrV/WpK6i/K/mTl1PLy3XDO3r99vqiYYz/AGQnMnHq1WVOlGnOFKrZxm24dolFOUcrSu23ZXdno7Pc1OVfZvaXb4qUr3zRpxdpddZyXXXp8z0Cjw+EWpNynJapzk52feo7Re+qSNsni6K3O5818Vv39ydvzLy6msezFhqKgskYxjGOkVHRW8uhlAPQk0xAASAAAAAAAAAAAAAAAAAAAAAAAAAAAHXJre72tbp5+Z2BFgGCj7yzSp5Xdqzyydk7J3Xfv6mcCzuAAJAAAAYcXiFTi5tNpW2t1aW7aSWu7O9GpmipWauk7PdX7yvini8PxTr4u4ALIAAAAAAAAAAAAAAAAAAAAAAAAAAAAAAAAAAAAAAAAAAAAAAAAAAAAAAAAAAAAAAAAAAAAAAAAAAAAAAAAAAAAAAAAAAAAAAAAAAAAAAAAAAAAAAAAf/Z"/>
          <p:cNvSpPr>
            <a:spLocks noChangeAspect="1" noChangeArrowheads="1"/>
          </p:cNvSpPr>
          <p:nvPr/>
        </p:nvSpPr>
        <p:spPr bwMode="auto">
          <a:xfrm>
            <a:off x="9380538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2059" name="Picture 11" descr="C:\Users\vilenchi\Desktop\2ae9ee_4598a1cd27874409a4891bbe006b3895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5086"/>
            <a:ext cx="792088" cy="130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47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Principal Component Analysis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7544" y="1052736"/>
                <a:ext cx="7488832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:r>
                  <a:rPr lang="en-US" sz="2800" dirty="0" smtClean="0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Population</a:t>
                </a:r>
                <a:r>
                  <a:rPr lang="en-US" sz="2800" dirty="0" smtClean="0">
                    <a:sym typeface="Symbol"/>
                  </a:rPr>
                  <a:t> Covariance matrix </a:t>
                </a:r>
                <a14:m>
                  <m:oMath xmlns:m="http://schemas.openxmlformats.org/officeDocument/2006/math">
                    <m:r>
                      <a:rPr lang="he-IL" sz="2800" i="1" smtClean="0">
                        <a:latin typeface="Cambria Math"/>
                        <a:sym typeface="Symbol"/>
                      </a:rPr>
                      <m:t></m:t>
                    </m:r>
                    <m:r>
                      <a:rPr lang="en-US" sz="2800" b="0" i="1" smtClean="0">
                        <a:latin typeface="Cambria Math"/>
                        <a:sym typeface="Symbol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  <a:sym typeface="Symbol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/>
                            <a:sym typeface="Symbol"/>
                          </a:rPr>
                          <m:t>𝐱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/>
                                <a:sym typeface="Symbol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/>
                                <a:sym typeface="Symbol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/>
                        <a:sym typeface="Symbol"/>
                      </a:rPr>
                      <m:t>  </m:t>
                    </m:r>
                  </m:oMath>
                </a14:m>
                <a:endParaRPr lang="en-US" sz="2800" b="0" i="1" dirty="0" smtClean="0">
                  <a:latin typeface="Cambria Math"/>
                  <a:sym typeface="Symbol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052736"/>
                <a:ext cx="7488832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1710" t="-10465" b="-3255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39552" y="5642084"/>
                <a:ext cx="7704856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charset="0"/>
                            <a:sym typeface="Symbol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800" i="1">
                                <a:latin typeface="Cambria Math" charset="0"/>
                                <a:sym typeface="Symbol"/>
                              </a:rPr>
                            </m:ctrlPr>
                          </m:accPr>
                          <m:e>
                            <m:r>
                              <a:rPr lang="he-IL" sz="2800" i="1">
                                <a:latin typeface="Cambria Math"/>
                                <a:sym typeface="Symbol"/>
                              </a:rPr>
                              <m:t></m:t>
                            </m:r>
                          </m:e>
                        </m:acc>
                      </m:e>
                    </m:d>
                    <m:r>
                      <a:rPr lang="en-US" sz="2800" b="0" i="1" smtClean="0">
                        <a:latin typeface="Cambria Math"/>
                        <a:sym typeface="Symbol"/>
                      </a:rPr>
                      <m:t>=</m:t>
                    </m:r>
                    <m:r>
                      <a:rPr lang="he-IL" sz="2800" i="1">
                        <a:latin typeface="Cambria Math"/>
                        <a:sym typeface="Symbol"/>
                      </a:rPr>
                      <m:t></m:t>
                    </m:r>
                  </m:oMath>
                </a14:m>
                <a:r>
                  <a:rPr lang="he-IL" sz="2800" dirty="0" smtClean="0"/>
                  <a:t> </a:t>
                </a:r>
                <a:r>
                  <a:rPr lang="en-US" sz="2800" dirty="0"/>
                  <a:t> </a:t>
                </a:r>
                <a:r>
                  <a:rPr lang="en-US" sz="2800" dirty="0" smtClean="0"/>
                  <a:t>hence it is an unbiased estimator of </a:t>
                </a:r>
                <a14:m>
                  <m:oMath xmlns:m="http://schemas.openxmlformats.org/officeDocument/2006/math">
                    <m:r>
                      <a:rPr lang="he-IL" sz="2800" i="1">
                        <a:latin typeface="Cambria Math"/>
                        <a:sym typeface="Symbol"/>
                      </a:rPr>
                      <m:t></m:t>
                    </m:r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642084"/>
                <a:ext cx="7704856" cy="523220"/>
              </a:xfrm>
              <a:prstGeom prst="rect">
                <a:avLst/>
              </a:prstGeom>
              <a:blipFill rotWithShape="1">
                <a:blip r:embed="rId4"/>
                <a:stretch>
                  <a:fillRect t="-14118" b="-3411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99592" y="3501008"/>
                <a:ext cx="3668258" cy="17018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𝑋</m:t>
                      </m:r>
                      <m:r>
                        <a:rPr lang="en-US" sz="280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2800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8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501008"/>
                <a:ext cx="3668258" cy="170181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67544" y="2636912"/>
                <a:ext cx="5979009" cy="7030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:r>
                  <a:rPr lang="en-US" sz="2800" dirty="0">
                    <a:solidFill>
                      <a:schemeClr val="accent2">
                        <a:lumMod val="75000"/>
                      </a:schemeClr>
                    </a:solidFill>
                    <a:sym typeface="Symbol"/>
                  </a:rPr>
                  <a:t>Sample</a:t>
                </a:r>
                <a:r>
                  <a:rPr lang="en-US" sz="2800" dirty="0">
                    <a:sym typeface="Symbol"/>
                  </a:rPr>
                  <a:t> Covariance Matrix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sym typeface="Symbol"/>
                      </a:rPr>
                      <m:t>   </m:t>
                    </m:r>
                    <m:acc>
                      <m:accPr>
                        <m:chr m:val="̅"/>
                        <m:ctrlPr>
                          <a:rPr lang="en-US" sz="2800" i="1">
                            <a:latin typeface="Cambria Math" charset="0"/>
                            <a:sym typeface="Symbol"/>
                          </a:rPr>
                        </m:ctrlPr>
                      </m:accPr>
                      <m:e>
                        <m:r>
                          <a:rPr lang="he-IL" sz="2800" i="1">
                            <a:latin typeface="Cambria Math"/>
                            <a:sym typeface="Symbol"/>
                          </a:rPr>
                          <m:t></m:t>
                        </m:r>
                      </m:e>
                    </m:acc>
                    <m:r>
                      <a:rPr lang="en-US" sz="2800" i="1">
                        <a:latin typeface="Cambria Math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sym typeface="Symbol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sym typeface="Symbol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sz="2800" i="1">
                            <a:latin typeface="Cambria Math" charset="0"/>
                            <a:sym typeface="Symbol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  <a:sym typeface="Symbol"/>
                          </a:rPr>
                          <m:t>𝑋</m:t>
                        </m:r>
                      </m:e>
                      <m:sup>
                        <m:r>
                          <a:rPr lang="en-US" sz="2800" i="1">
                            <a:latin typeface="Cambria Math"/>
                            <a:sym typeface="Symbol"/>
                          </a:rPr>
                          <m:t>𝑇</m:t>
                        </m:r>
                      </m:sup>
                    </m:sSup>
                    <m:r>
                      <a:rPr lang="en-US" sz="2800" i="1">
                        <a:latin typeface="Cambria Math"/>
                        <a:sym typeface="Symbol"/>
                      </a:rPr>
                      <m:t>𝑋</m:t>
                    </m:r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636912"/>
                <a:ext cx="5979009" cy="703013"/>
              </a:xfrm>
              <a:prstGeom prst="rect">
                <a:avLst/>
              </a:prstGeom>
              <a:blipFill rotWithShape="1">
                <a:blip r:embed="rId8"/>
                <a:stretch>
                  <a:fillRect l="-2141" b="-1217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93755" y="1844824"/>
                <a:ext cx="5254509" cy="5887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800" i="1" smtClean="0">
                              <a:latin typeface="Cambria Math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he-IL" sz="2800" i="1">
                              <a:latin typeface="Cambria Math"/>
                              <a:sym typeface="Symbol"/>
                            </a:rPr>
                            <m:t>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charset="0"/>
                              <a:sym typeface="Symbo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  <a:sym typeface="Symbo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  <a:sym typeface="Symbol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  <a:sym typeface="Symbol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755" y="1844824"/>
                <a:ext cx="5254509" cy="58875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192624" y="3718792"/>
                <a:ext cx="3430747" cy="12662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bg-BG" sz="28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sz="2800" b="0" i="1" smtClean="0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800" b="0" i="1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𝑟</m:t>
                              </m:r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)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2800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latin typeface="Cambria Math" charset="0"/>
                                </a:rPr>
                                <m:t>𝑟</m:t>
                              </m:r>
                              <m:r>
                                <a:rPr lang="en-US" sz="2800" i="1">
                                  <a:latin typeface="Cambria Math" charset="0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624" y="3718792"/>
                <a:ext cx="3430747" cy="1266244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91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4" grpId="0"/>
      <p:bldP spid="7" grpId="0"/>
      <p:bldP spid="13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Principal Component Analysis</a:t>
            </a:r>
            <a:endParaRPr lang="he-IL" sz="4000" dirty="0"/>
          </a:p>
        </p:txBody>
      </p:sp>
      <p:pic>
        <p:nvPicPr>
          <p:cNvPr id="6" name="Picture 2" descr="C:\Users\Danny\Desktop\pc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02829"/>
            <a:ext cx="7344816" cy="257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67544" y="1268760"/>
                <a:ext cx="8208912" cy="12091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:r>
                  <a:rPr lang="en-US" sz="2800" dirty="0" smtClean="0"/>
                  <a:t>The variance of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latin typeface="Cambria Math"/>
                      </a:rPr>
                      <m:t>𝐱</m:t>
                    </m:r>
                  </m:oMath>
                </a14:m>
                <a:r>
                  <a:rPr lang="en-US" sz="2800" dirty="0" smtClean="0"/>
                  <a:t> in direction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latin typeface="Cambria Math"/>
                      </a:rPr>
                      <m:t>𝐯</m:t>
                    </m:r>
                  </m:oMath>
                </a14:m>
                <a:r>
                  <a:rPr lang="en-US" sz="2800" dirty="0" smtClean="0"/>
                  <a:t>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0" smtClean="0">
                                    <a:latin typeface="Cambria Math"/>
                                  </a:rPr>
                                  <m:t>𝐱</m:t>
                                </m:r>
                                <m:sSup>
                                  <m:sSupPr>
                                    <m:ctrlPr>
                                      <a:rPr lang="en-US" sz="2800" b="1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0" smtClean="0">
                                        <a:latin typeface="Cambria Math"/>
                                      </a:rPr>
                                      <m:t>𝐯</m:t>
                                    </m:r>
                                  </m:e>
                                  <m:sup>
                                    <m:r>
                                      <a:rPr lang="en-US" sz="2800" b="1" i="1" smtClean="0">
                                        <a:latin typeface="Cambria Math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/>
                      </a:rPr>
                      <m:t>= </m:t>
                    </m:r>
                  </m:oMath>
                </a14:m>
                <a:endParaRPr lang="en-US" sz="2800" b="0" i="1" dirty="0" smtClean="0">
                  <a:latin typeface="Cambria Math"/>
                </a:endParaRPr>
              </a:p>
              <a:p>
                <a:pPr algn="l" rtl="0"/>
                <a:r>
                  <a:rPr lang="en-US" sz="2800" b="0" dirty="0" smtClean="0"/>
                  <a:t>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800" b="1" i="0" smtClean="0">
                            <a:latin typeface="Cambria Math"/>
                          </a:rPr>
                          <m:t>𝐯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800" b="1" i="0" smtClean="0">
                            <a:latin typeface="Cambria Math"/>
                          </a:rPr>
                          <m:t>𝐱</m:t>
                        </m:r>
                        <m:sSup>
                          <m:sSupPr>
                            <m:ctrlPr>
                              <a:rPr lang="en-US" sz="2800" b="1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sz="2800" b="1" i="0" smtClean="0">
                                <a:latin typeface="Cambria Math"/>
                              </a:rPr>
                              <m:t>𝐱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sz="2800" b="1" i="0" smtClean="0">
                        <a:latin typeface="Cambria Math"/>
                      </a:rPr>
                      <m:t>𝐯</m:t>
                    </m:r>
                    <m:r>
                      <a:rPr lang="en-US" sz="2800" b="1" i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800" b="1" i="0" smtClean="0">
                            <a:latin typeface="Cambria Math"/>
                          </a:rPr>
                          <m:t>𝐯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he-IL" sz="2800" i="1" smtClean="0">
                        <a:latin typeface="Cambria Math"/>
                        <a:sym typeface="Symbol"/>
                      </a:rPr>
                      <m:t></m:t>
                    </m:r>
                    <m:r>
                      <a:rPr lang="en-US" sz="2800" b="1" i="0" smtClean="0">
                        <a:latin typeface="Cambria Math"/>
                      </a:rPr>
                      <m:t>𝐯</m:t>
                    </m:r>
                  </m:oMath>
                </a14:m>
                <a:endParaRPr lang="he-IL" sz="28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268760"/>
                <a:ext cx="8208912" cy="1209177"/>
              </a:xfrm>
              <a:prstGeom prst="rect">
                <a:avLst/>
              </a:prstGeom>
              <a:blipFill rotWithShape="1">
                <a:blip r:embed="rId3"/>
                <a:stretch>
                  <a:fillRect l="-15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6388" y="2780928"/>
                <a:ext cx="4663541" cy="6726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⇒ </m:t>
                          </m:r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𝑃𝐶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800" b="1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𝐯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𝐯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sym typeface="Symbol"/>
                            </a:rPr>
                            <m:t></m:t>
                          </m:r>
                          <m:r>
                            <a:rPr lang="en-US" sz="2800" b="1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sym typeface="Symbol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he-IL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8" y="2780928"/>
                <a:ext cx="4663541" cy="6726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225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PCA across Science</a:t>
            </a:r>
            <a:endParaRPr lang="he-IL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525963"/>
          </a:xfrm>
        </p:spPr>
        <p:txBody>
          <a:bodyPr/>
          <a:lstStyle/>
          <a:p>
            <a:pPr marL="0" indent="0" algn="l" rtl="0">
              <a:buNone/>
            </a:pPr>
            <a:r>
              <a:rPr lang="en-US" dirty="0" smtClean="0"/>
              <a:t>	Genes </a:t>
            </a:r>
            <a:r>
              <a:rPr lang="en-US" dirty="0"/>
              <a:t>mirror geography within </a:t>
            </a:r>
            <a:r>
              <a:rPr lang="en-US" dirty="0" smtClean="0"/>
              <a:t>Europe</a:t>
            </a:r>
          </a:p>
          <a:p>
            <a:pPr marL="0" indent="0" algn="ctr" rtl="0">
              <a:buNone/>
            </a:pPr>
            <a:r>
              <a:rPr lang="en-US" sz="2800" dirty="0" err="1" smtClean="0"/>
              <a:t>Novembre</a:t>
            </a:r>
            <a:r>
              <a:rPr lang="en-US" sz="2800" dirty="0" smtClean="0"/>
              <a:t> </a:t>
            </a:r>
            <a:r>
              <a:rPr lang="en-US" sz="2800" i="1" dirty="0" smtClean="0"/>
              <a:t>et. al. </a:t>
            </a:r>
            <a:r>
              <a:rPr lang="en-US" sz="2800" dirty="0" smtClean="0"/>
              <a:t>, Nature 2008</a:t>
            </a:r>
            <a:endParaRPr lang="en-US" sz="2800" dirty="0"/>
          </a:p>
          <a:p>
            <a:pPr algn="l" rtl="0"/>
            <a:endParaRPr lang="he-IL" dirty="0"/>
          </a:p>
        </p:txBody>
      </p:sp>
      <p:pic>
        <p:nvPicPr>
          <p:cNvPr id="4098" name="Picture 2" descr="http://www.nature.com/nature/journal/v456/n7218/images/nature07331-f1.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8" b="39675"/>
          <a:stretch/>
        </p:blipFill>
        <p:spPr bwMode="auto">
          <a:xfrm>
            <a:off x="1835696" y="2119724"/>
            <a:ext cx="5718774" cy="462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02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Language Comparison</a:t>
            </a:r>
            <a:endParaRPr lang="he-IL" sz="4000" dirty="0"/>
          </a:p>
        </p:txBody>
      </p:sp>
      <p:pic>
        <p:nvPicPr>
          <p:cNvPr id="9218" name="Picture 2" descr="C:\Users\vilenchi\Documents\Dropbox\BGU\Students\נועם קפלן\udhr_red_blu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24744"/>
            <a:ext cx="6696744" cy="332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7504" y="4924325"/>
            <a:ext cx="8820472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-US" sz="2800" dirty="0" smtClean="0"/>
              <a:t>We trained </a:t>
            </a:r>
            <a:r>
              <a:rPr lang="en-US" sz="2800" dirty="0" err="1" smtClean="0"/>
              <a:t>Googl’es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word2vec </a:t>
            </a:r>
            <a:r>
              <a:rPr lang="en-US" sz="2800" dirty="0" smtClean="0"/>
              <a:t>(</a:t>
            </a:r>
            <a:r>
              <a:rPr lang="en-US" sz="2800" dirty="0" smtClean="0"/>
              <a:t>Tomas </a:t>
            </a:r>
            <a:r>
              <a:rPr lang="en-US" sz="2800" dirty="0" err="1" smtClean="0"/>
              <a:t>Mikolov</a:t>
            </a:r>
            <a:r>
              <a:rPr lang="en-US" sz="2800" dirty="0" smtClean="0"/>
              <a:t>)</a:t>
            </a:r>
            <a:r>
              <a:rPr lang="en-US" sz="2800" dirty="0" smtClean="0"/>
              <a:t> </a:t>
            </a:r>
            <a:r>
              <a:rPr lang="en-US" sz="2800" dirty="0" smtClean="0"/>
              <a:t>algorithm on various natural </a:t>
            </a:r>
            <a:r>
              <a:rPr lang="en-US" sz="2800" dirty="0" smtClean="0"/>
              <a:t>and </a:t>
            </a:r>
            <a:r>
              <a:rPr lang="en-US" sz="2800" dirty="0" smtClean="0"/>
              <a:t>constructed </a:t>
            </a:r>
            <a:r>
              <a:rPr lang="en-US" sz="2800" dirty="0" smtClean="0"/>
              <a:t>languages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-US" sz="2800" dirty="0" smtClean="0"/>
              <a:t>Figure shows PCA results on various languages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47072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Single Spike Model</a:t>
            </a:r>
            <a:br>
              <a:rPr lang="en-US" sz="4000" dirty="0" smtClean="0"/>
            </a:br>
            <a:r>
              <a:rPr lang="en-US" sz="2400" dirty="0" smtClean="0"/>
              <a:t> 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I. Johnstone (Annals of Stat. 2001)</a:t>
            </a:r>
            <a:endParaRPr lang="he-IL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124744"/>
                <a:ext cx="8229600" cy="5544616"/>
              </a:xfrm>
            </p:spPr>
            <p:txBody>
              <a:bodyPr>
                <a:noAutofit/>
              </a:bodyPr>
              <a:lstStyle/>
              <a:p>
                <a:pPr marL="0" indent="0" algn="l" rtl="0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i="1" smtClean="0">
                          <a:latin typeface="Cambria Math"/>
                          <a:sym typeface="Symbol"/>
                        </a:rPr>
                        <m:t></m:t>
                      </m:r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US" sz="2800" b="1" i="1" smtClean="0">
                          <a:latin typeface="Cambria Math"/>
                          <a:sym typeface="Symbol"/>
                        </a:rPr>
                        <m:t>𝒛</m:t>
                      </m:r>
                      <m:sSup>
                        <m:sSupPr>
                          <m:ctrlPr>
                            <a:rPr lang="en-US" sz="2800" b="1" i="1" smtClean="0">
                              <a:latin typeface="Cambria Math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/>
                              <a:sym typeface="Symbol"/>
                            </a:rPr>
                            <m:t>𝒛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2800" b="0" dirty="0" smtClean="0">
                  <a:sym typeface="Symbol"/>
                </a:endParaRPr>
              </a:p>
              <a:p>
                <a:pPr marL="0" indent="0" algn="l" rtl="0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  <a:sym typeface="Symbol"/>
                        </a:rPr>
                        <m:t>𝒛</m:t>
                      </m:r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charset="0"/>
                              <a:sym typeface="Symbol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800" b="0" i="1" smtClean="0">
                                  <a:latin typeface="Cambria Math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latin typeface="Cambria Math" charset="0"/>
                                      <a:sym typeface="Symbol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  <a:sym typeface="Symbol"/>
                                    </a:rPr>
                                    <m:t>𝑘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800" b="0" i="1" smtClean="0">
                                  <a:latin typeface="Cambria Math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latin typeface="Cambria Math" charset="0"/>
                                      <a:sym typeface="Symbol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  <a:sym typeface="Symbol"/>
                                    </a:rPr>
                                    <m:t>𝑘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,…,</m:t>
                          </m:r>
                          <m:f>
                            <m:fPr>
                              <m:type m:val="skw"/>
                              <m:ctrlPr>
                                <a:rPr lang="en-US" sz="2800" b="0" i="1" smtClean="0">
                                  <a:latin typeface="Cambria Math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latin typeface="Cambria Math" charset="0"/>
                                      <a:sym typeface="Symbol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  <a:sym typeface="Symbol"/>
                                    </a:rPr>
                                    <m:t>𝑘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0</m:t>
                          </m:r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0</m:t>
                          </m:r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0</m:t>
                          </m:r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,…,</m:t>
                          </m:r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800" b="0" dirty="0" smtClean="0">
                  <a:sym typeface="Symbol"/>
                </a:endParaRPr>
              </a:p>
              <a:p>
                <a:pPr marL="0" indent="0" algn="l" rtl="0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 smtClean="0"/>
                  <a:t> is the covariance matrix of multi-</a:t>
                </a:r>
                <a:r>
                  <a:rPr lang="en-US" sz="2800" dirty="0" err="1" smtClean="0"/>
                  <a:t>Gausssian</a:t>
                </a:r>
                <a:r>
                  <a:rPr lang="en-US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sz="2800" b="0" dirty="0" smtClean="0"/>
              </a:p>
              <a:p>
                <a:pPr marL="0" indent="0" algn="l" rtl="0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he-IL" sz="2800" i="1" smtClean="0">
                              <a:latin typeface="Cambria Math" charset="0"/>
                              <a:sym typeface="Symbol"/>
                            </a:rPr>
                          </m:ctrlPr>
                        </m:accPr>
                        <m:e>
                          <m:r>
                            <a:rPr lang="he-IL" sz="2800" i="1" smtClean="0">
                              <a:latin typeface="Cambria Math"/>
                              <a:sym typeface="Symbol"/>
                            </a:rPr>
                            <m:t></m:t>
                          </m:r>
                        </m:e>
                      </m:acc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US" sz="2800" b="1" i="1" smtClean="0">
                          <a:latin typeface="Cambria Math"/>
                          <a:sym typeface="Symbol"/>
                        </a:rPr>
                        <m:t>𝒛</m:t>
                      </m:r>
                      <m:sSup>
                        <m:sSupPr>
                          <m:ctrlPr>
                            <a:rPr lang="en-US" sz="2800" b="1" i="1" smtClean="0">
                              <a:latin typeface="Cambria Math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latin typeface="Cambria Math"/>
                              <a:sym typeface="Symbol"/>
                            </a:rPr>
                            <m:t>𝒛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𝑛</m:t>
                          </m:r>
                        </m:den>
                      </m:f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𝑋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𝑋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b="0" dirty="0" smtClean="0">
                  <a:sym typeface="Symbol"/>
                </a:endParaRPr>
              </a:p>
              <a:p>
                <a:pPr marL="0" indent="0" algn="l" rtl="0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𝑋</m:t>
                      </m:r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800" b="0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 smtClean="0"/>
              </a:p>
              <a:p>
                <a:pPr marL="0" indent="0" algn="l" rtl="0">
                  <a:buNone/>
                </a:pPr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124744"/>
                <a:ext cx="8229600" cy="5544616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04248" y="5435932"/>
                <a:ext cx="37984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5435932"/>
                <a:ext cx="379848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44008" y="6309320"/>
                <a:ext cx="38581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6309320"/>
                <a:ext cx="385810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29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Covariance vs. Adjacency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𝐴</m:t>
                      </m:r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𝐾</m:t>
                          </m:r>
                        </m:sub>
                      </m:sSub>
                      <m:sSubSup>
                        <m:sSubSup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en-US" sz="2800" i="1">
                          <a:latin typeface="Cambria Math"/>
                        </a:rPr>
                        <m:t>+</m:t>
                      </m:r>
                      <m:r>
                        <a:rPr lang="en-US" sz="2800" b="0" i="1" smtClean="0">
                          <a:latin typeface="Cambria Math"/>
                        </a:rPr>
                        <m:t>𝑊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𝐾</m:t>
                          </m:r>
                          <m:r>
                            <a:rPr lang="en-US" sz="2800" i="1">
                              <a:latin typeface="Cambria Math"/>
                            </a:rPr>
                            <m:t>,</m:t>
                          </m:r>
                          <m:r>
                            <a:rPr lang="en-US" sz="2800" i="1">
                              <a:latin typeface="Cambria Math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sz="2800" dirty="0" smtClean="0"/>
              </a:p>
              <a:p>
                <a:pPr marL="0" indent="0" algn="l" rtl="0">
                  <a:buNone/>
                </a:pPr>
                <a:endParaRPr lang="en-US" sz="2800" dirty="0" smtClean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𝐸</m:t>
                      </m:r>
                      <m:r>
                        <a:rPr lang="en-US" sz="2800" b="0" i="1" smtClean="0">
                          <a:latin typeface="Cambria Math"/>
                        </a:rPr>
                        <m:t>[</m:t>
                      </m:r>
                      <m:r>
                        <a:rPr lang="en-US" sz="2800" i="1">
                          <a:latin typeface="Cambria Math"/>
                        </a:rPr>
                        <m:t>𝐴</m:t>
                      </m:r>
                      <m:r>
                        <a:rPr lang="en-US" sz="2800" b="0" i="1" smtClean="0">
                          <a:latin typeface="Cambria Math"/>
                        </a:rPr>
                        <m:t>]</m:t>
                      </m:r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𝐾</m:t>
                          </m:r>
                        </m:sub>
                      </m:sSub>
                      <m:sSubSup>
                        <m:sSubSup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he-IL" sz="2800" dirty="0"/>
              </a:p>
              <a:p>
                <a:pPr marL="0" indent="0" algn="l" rtl="0">
                  <a:buNone/>
                </a:pPr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9512" y="3555013"/>
                <a:ext cx="8712968" cy="9541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800" dirty="0" smtClean="0"/>
                  <a:t>But entries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𝐴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are </a:t>
                </a:r>
                <a:r>
                  <a:rPr lang="en-US" sz="2800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independent</a:t>
                </a:r>
              </a:p>
              <a:p>
                <a:pPr algn="ctr" rtl="0"/>
                <a:r>
                  <a:rPr lang="en-US" sz="2800" dirty="0" smtClean="0"/>
                  <a:t> entries of</a:t>
                </a:r>
                <a14:m>
                  <m:oMath xmlns:m="http://schemas.openxmlformats.org/officeDocument/2006/math">
                    <m:r>
                      <a:rPr lang="he-IL" sz="2800" b="0" i="0" smtClean="0">
                        <a:latin typeface="Cambria Math"/>
                        <a:sym typeface="Symbol"/>
                      </a:rPr>
                      <m:t> </m:t>
                    </m:r>
                    <m:r>
                      <a:rPr lang="he-IL" sz="2800" i="1">
                        <a:latin typeface="Cambria Math"/>
                        <a:sym typeface="Symbol"/>
                      </a:rPr>
                      <m:t></m:t>
                    </m:r>
                    <m:r>
                      <a:rPr lang="en-US" sz="2800" b="0" i="1" smtClean="0">
                        <a:latin typeface="Cambria Math"/>
                        <a:sym typeface="Symbol"/>
                      </a:rPr>
                      <m:t> </m:t>
                    </m:r>
                  </m:oMath>
                </a14:m>
                <a:r>
                  <a:rPr lang="en-US" sz="2800" dirty="0" smtClean="0"/>
                  <a:t>are </a:t>
                </a:r>
                <a:r>
                  <a:rPr lang="en-US" sz="2800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not</a:t>
                </a:r>
                <a:r>
                  <a:rPr lang="en-US" sz="2800" dirty="0" smtClean="0"/>
                  <a:t>!</a:t>
                </a:r>
                <a:endParaRPr lang="he-IL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555013"/>
                <a:ext cx="8712968" cy="954107"/>
              </a:xfrm>
              <a:prstGeom prst="rect">
                <a:avLst/>
              </a:prstGeom>
              <a:blipFill rotWithShape="1"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92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What would a statistician ask?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9261"/>
                <a:ext cx="8229600" cy="5030019"/>
              </a:xfrm>
            </p:spPr>
            <p:txBody>
              <a:bodyPr>
                <a:normAutofit/>
              </a:bodyPr>
              <a:lstStyle/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r>
                  <a:rPr lang="en-US" sz="2800" dirty="0" smtClean="0"/>
                  <a:t>Statistical Consistency</a:t>
                </a:r>
                <a:endParaRPr lang="en-US" sz="2800" dirty="0"/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r>
                  <a:rPr lang="en-US" sz="2800" dirty="0" smtClean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𝑃𝐶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charset="0"/>
                              </a:rPr>
                              <m:t>argmax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charset="0"/>
                              </a:rPr>
                              <m:t>v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𝑝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v</m:t>
                        </m:r>
                      </m:e>
                    </m:func>
                  </m:oMath>
                </a14:m>
                <a:endParaRPr lang="en-US" sz="2800" b="0" dirty="0" smtClean="0"/>
              </a:p>
              <a:p>
                <a:pPr marL="0" indent="0" algn="l" rtl="0">
                  <a:buNone/>
                </a:pPr>
                <a:r>
                  <a:rPr lang="en-US" sz="28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8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𝑃𝐶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800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charset="0"/>
                              </a:rPr>
                              <m:t>argmax</m:t>
                            </m:r>
                          </m:e>
                          <m:lim/>
                        </m:limLow>
                      </m:fName>
                      <m:e>
                        <m:sSup>
                          <m:sSup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sz="2800" i="1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̅"/>
                            <m:ctrlPr>
                              <a:rPr lang="en-US" sz="28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sz="2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v</m:t>
                        </m:r>
                      </m:e>
                    </m:func>
                  </m:oMath>
                </a14:m>
                <a:endParaRPr lang="en-US" sz="2800" dirty="0"/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9261"/>
                <a:ext cx="8229600" cy="5030019"/>
              </a:xfrm>
              <a:blipFill rotWithShape="0">
                <a:blip r:embed="rId2"/>
                <a:stretch>
                  <a:fillRect l="-1481"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51520" y="6453336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MUIRHEAD, R. J. (1982). </a:t>
            </a:r>
            <a:r>
              <a:rPr lang="en-US" i="1" dirty="0" smtClean="0"/>
              <a:t>Aspects of Multivariate Statistical Theory</a:t>
            </a:r>
            <a:endParaRPr lang="he-IL" dirty="0"/>
          </a:p>
        </p:txBody>
      </p:sp>
      <p:sp>
        <p:nvSpPr>
          <p:cNvPr id="7" name="Rectangle 6"/>
          <p:cNvSpPr/>
          <p:nvPr/>
        </p:nvSpPr>
        <p:spPr>
          <a:xfrm>
            <a:off x="611560" y="6084004"/>
            <a:ext cx="7560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ANDERSON, T. W. (1984). </a:t>
            </a:r>
            <a:r>
              <a:rPr lang="en-US" i="1" dirty="0"/>
              <a:t>An Introduction to Multivariate Statistical </a:t>
            </a:r>
            <a:r>
              <a:rPr lang="en-US" i="1" dirty="0" smtClean="0"/>
              <a:t>Analysis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7544" y="3410997"/>
                <a:ext cx="8352928" cy="9541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:r>
                  <a:rPr lang="en-US" sz="2800" dirty="0" smtClean="0"/>
                  <a:t>True in the classical setting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𝑝</m:t>
                    </m:r>
                    <m:r>
                      <a:rPr lang="en-US" sz="2800" b="0" i="1" smtClean="0">
                        <a:latin typeface="Cambria Math"/>
                      </a:rPr>
                      <m:t>/</m:t>
                    </m:r>
                    <m:r>
                      <a:rPr lang="en-US" sz="2800" b="0" i="1" smtClean="0">
                        <a:latin typeface="Cambria Math"/>
                      </a:rPr>
                      <m:t>𝑛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r>
                  <a:rPr lang="en-US" sz="2800" dirty="0" smtClean="0"/>
                  <a:t> but </a:t>
                </a:r>
                <a:r>
                  <a:rPr lang="en-US" sz="2800" dirty="0"/>
                  <a:t>typically not </a:t>
                </a:r>
                <a:r>
                  <a:rPr lang="en-US" sz="2800" dirty="0" smtClean="0"/>
                  <a:t>true when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𝑝</m:t>
                    </m:r>
                    <m:r>
                      <a:rPr lang="en-US" sz="2800" i="1">
                        <a:latin typeface="Cambria Math"/>
                      </a:rPr>
                      <m:t>/</m:t>
                    </m:r>
                    <m:r>
                      <a:rPr lang="en-US" sz="2800" b="0" i="1" smtClean="0">
                        <a:latin typeface="Cambria Math"/>
                      </a:rPr>
                      <m:t>𝑛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en-US" sz="2800" dirty="0" smtClean="0"/>
                  <a:t> </a:t>
                </a:r>
                <a:endParaRPr lang="he-IL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410997"/>
                <a:ext cx="8352928" cy="954107"/>
              </a:xfrm>
              <a:prstGeom prst="rect">
                <a:avLst/>
              </a:prstGeom>
              <a:blipFill rotWithShape="1">
                <a:blip r:embed="rId7"/>
                <a:stretch>
                  <a:fillRect l="-1533" t="-5769" b="-1794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9" name="Picture 11" descr="http://statweb.stanford.edu/~donoho/img/donoho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404320"/>
            <a:ext cx="1235968" cy="154496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907704" y="4869160"/>
            <a:ext cx="705678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800" dirty="0" smtClean="0"/>
              <a:t>“the curse of dimensionality” </a:t>
            </a:r>
            <a:r>
              <a:rPr lang="en-US" sz="2000" dirty="0" smtClean="0"/>
              <a:t>(David </a:t>
            </a:r>
            <a:r>
              <a:rPr lang="en-US" sz="2000" dirty="0" err="1" smtClean="0"/>
              <a:t>Donoho</a:t>
            </a:r>
            <a:r>
              <a:rPr lang="en-US" sz="2000" dirty="0" smtClean="0"/>
              <a:t>)</a:t>
            </a:r>
            <a:endParaRPr lang="he-IL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33481" y="2688858"/>
                <a:ext cx="2070567" cy="524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i="1" smtClean="0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charset="0"/>
                                </a:rPr>
                                <m:t>𝑃𝐶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𝑃𝐶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charset="0"/>
                        </a:rPr>
                        <m:t>?</m:t>
                      </m:r>
                    </m:oMath>
                  </m:oMathPara>
                </a14:m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481" y="2688858"/>
                <a:ext cx="2070567" cy="52411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55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http://www.cts.cuni.cz/img/galleries/Summer%20School%202013/02%20Coj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275" y="3933056"/>
            <a:ext cx="4430363" cy="292494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Also in </a:t>
            </a:r>
            <a:r>
              <a:rPr lang="en-US" sz="4000" dirty="0" err="1" smtClean="0"/>
              <a:t>Erdos-Renyi</a:t>
            </a:r>
            <a:r>
              <a:rPr lang="en-US" sz="4000" dirty="0" smtClean="0"/>
              <a:t> Graphs …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08720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charset="0"/>
                      </a:rPr>
                      <m:t>𝐺</m:t>
                    </m:r>
                    <m:r>
                      <a:rPr lang="en-US" sz="2800" i="1" dirty="0" smtClean="0">
                        <a:latin typeface="Cambria Math" charset="0"/>
                      </a:rPr>
                      <m:t>~</m:t>
                    </m:r>
                    <m:r>
                      <a:rPr lang="en-US" sz="2800" i="1" dirty="0" smtClean="0">
                        <a:latin typeface="Cambria Math" charset="0"/>
                      </a:rPr>
                      <m:t>𝐺</m:t>
                    </m:r>
                    <m:r>
                      <a:rPr lang="en-US" sz="2800" i="1" dirty="0" smtClean="0">
                        <a:latin typeface="Cambria Math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2800" b="0" i="1" dirty="0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latin typeface="Cambria Math" charset="0"/>
                          </a:rPr>
                          <m:t>𝑑</m:t>
                        </m:r>
                      </m:num>
                      <m:den>
                        <m:r>
                          <a:rPr lang="en-US" sz="2800" i="1" dirty="0" err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en-US" sz="2800" b="0" i="1" dirty="0" smtClean="0">
                        <a:latin typeface="Cambria Math" charset="0"/>
                      </a:rPr>
                      <m:t>,</m:t>
                    </m:r>
                    <m:r>
                      <a:rPr lang="en-US" sz="2800" i="1" dirty="0" err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sz="2800" dirty="0" smtClean="0"/>
                  <a:t>)</a:t>
                </a:r>
              </a:p>
              <a:p>
                <a:pPr marL="0" indent="0" algn="l" rtl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𝑚𝑎𝑥</m:t>
                          </m:r>
                        </m:sub>
                      </m:sSub>
                      <m:d>
                        <m:dPr>
                          <m:ctrlPr>
                            <a:rPr lang="is-IS" sz="280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𝐸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charset="0"/>
                            </a:rPr>
                            <m:t>]</m:t>
                          </m:r>
                        </m:e>
                      </m:d>
                      <m:r>
                        <a:rPr lang="en-US" sz="2800" b="0" i="1" smtClean="0">
                          <a:latin typeface="Cambria Math" charset="0"/>
                        </a:rPr>
                        <m:t>=?</m:t>
                      </m:r>
                    </m:oMath>
                  </m:oMathPara>
                </a14:m>
                <a:endParaRPr lang="en-US" sz="2800" b="0" dirty="0" smtClean="0"/>
              </a:p>
              <a:p>
                <a:pPr marL="0" indent="0" algn="l" rtl="0">
                  <a:lnSpc>
                    <a:spcPct val="150000"/>
                  </a:lnSpc>
                  <a:buNone/>
                </a:pPr>
                <a:r>
                  <a:rPr lang="en-US" sz="2800" dirty="0" smtClean="0"/>
                  <a:t>Dense case: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𝑑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≫</m:t>
                    </m:r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charset="0"/>
                          </a:rPr>
                          <m:t>log</m:t>
                        </m:r>
                        <m:r>
                          <a:rPr lang="en-US" sz="2800" i="1">
                            <a:latin typeface="Cambria Math" charset="0"/>
                          </a:rPr>
                          <m:t>⁡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latin typeface="Cambria Math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800" dirty="0" smtClean="0"/>
              </a:p>
              <a:p>
                <a:pPr marL="0" indent="0" algn="l" rtl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latin typeface="Cambria Math" charset="0"/>
                            </a:rPr>
                            <m:t>𝑚𝑎𝑥</m:t>
                          </m:r>
                        </m:sub>
                      </m:sSub>
                      <m:d>
                        <m:dPr>
                          <m:ctrlPr>
                            <a:rPr lang="is-IS" sz="2800" i="1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sz="2800" i="1">
                              <a:latin typeface="Cambria Math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charset="0"/>
                            </a:rPr>
                            <m:t>𝐸</m:t>
                          </m:r>
                          <m:r>
                            <a:rPr lang="en-US" sz="2800" i="1">
                              <a:latin typeface="Cambria Math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sz="2800" i="1">
                              <a:latin typeface="Cambria Math" charset="0"/>
                            </a:rPr>
                            <m:t>]</m:t>
                          </m:r>
                        </m:e>
                      </m:d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≈</m:t>
                      </m:r>
                      <m:r>
                        <a:rPr lang="en-US" sz="2800" b="0" i="1" smtClean="0">
                          <a:latin typeface="Cambria Math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𝑑</m:t>
                          </m:r>
                        </m:e>
                      </m:rad>
                    </m:oMath>
                  </m:oMathPara>
                </a14:m>
                <a:endParaRPr lang="en-US" sz="2800" dirty="0"/>
              </a:p>
              <a:p>
                <a:pPr marL="0" indent="0" algn="l" rtl="0">
                  <a:lnSpc>
                    <a:spcPct val="150000"/>
                  </a:lnSpc>
                  <a:buNone/>
                </a:pPr>
                <a:r>
                  <a:rPr lang="en-US" sz="2800" dirty="0" smtClean="0"/>
                  <a:t>Sparse case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𝑑</m:t>
                    </m:r>
                    <m:r>
                      <a:rPr lang="en-US" sz="2800" b="0" i="1" smtClean="0">
                        <a:latin typeface="Cambria Math" charset="0"/>
                      </a:rPr>
                      <m:t>=</m:t>
                    </m:r>
                    <m:r>
                      <a:rPr lang="en-US" sz="2800" b="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endParaRPr lang="en-US" sz="2800" b="0" dirty="0" smtClean="0"/>
              </a:p>
              <a:p>
                <a:pPr marL="0" indent="0" algn="l" rtl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latin typeface="Cambria Math" charset="0"/>
                            </a:rPr>
                            <m:t>𝑚𝑎𝑥</m:t>
                          </m:r>
                        </m:sub>
                      </m:sSub>
                      <m:d>
                        <m:dPr>
                          <m:ctrlPr>
                            <a:rPr lang="is-IS" sz="2800" i="1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sz="2800" i="1">
                              <a:latin typeface="Cambria Math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charset="0"/>
                            </a:rPr>
                            <m:t>𝐸</m:t>
                          </m:r>
                          <m:r>
                            <a:rPr lang="en-US" sz="2800" i="1">
                              <a:latin typeface="Cambria Math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sz="2800" i="1">
                              <a:latin typeface="Cambria Math" charset="0"/>
                            </a:rPr>
                            <m:t>]</m:t>
                          </m:r>
                        </m:e>
                      </m:d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/</m:t>
                              </m:r>
                              <m:func>
                                <m:funcPr>
                                  <m:ctrlPr>
                                    <a:rPr lang="en-US" sz="2800" b="0" i="1" smtClean="0">
                                      <a:latin typeface="Cambria Math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charset="0"/>
                                    </a:rPr>
                                    <m:t>log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sz="2800" b="0" i="1" smtClean="0">
                                          <a:latin typeface="Cambria Math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0" smtClean="0">
                                          <a:latin typeface="Cambria Math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800" b="0" i="1" smtClean="0">
                                          <a:latin typeface="Cambria Math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rad>
                    </m:oMath>
                  </m:oMathPara>
                </a14:m>
                <a:endParaRPr lang="en-US" sz="2800" dirty="0"/>
              </a:p>
              <a:p>
                <a:pPr marL="0" indent="0" algn="l" rtl="0">
                  <a:lnSpc>
                    <a:spcPct val="150000"/>
                  </a:lnSpc>
                  <a:buNone/>
                </a:pPr>
                <a:endParaRPr lang="en-US" sz="2800" dirty="0"/>
              </a:p>
              <a:p>
                <a:pPr marL="0" indent="0" algn="l" rtl="0">
                  <a:lnSpc>
                    <a:spcPct val="150000"/>
                  </a:lnSpc>
                  <a:buNone/>
                </a:pPr>
                <a:endParaRPr lang="en-US" sz="2800" dirty="0" smtClean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08720"/>
                <a:ext cx="8229600" cy="4525963"/>
              </a:xfrm>
              <a:blipFill rotWithShape="0">
                <a:blip r:embed="rId3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131840" y="5991671"/>
            <a:ext cx="208823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 smtClean="0"/>
              <a:t>KS03; Vu05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32998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Half way through </a:t>
            </a:r>
            <a:r>
              <a:rPr lang="is-IS" sz="4000" dirty="0" smtClean="0"/>
              <a:t>… no phase transision?! </a:t>
            </a:r>
            <a:r>
              <a:rPr lang="is-IS" sz="4000" dirty="0" smtClean="0">
                <a:sym typeface="Wingdings"/>
              </a:rPr>
              <a:t>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9208" y="1061536"/>
                <a:ext cx="8229600" cy="4525963"/>
              </a:xfrm>
            </p:spPr>
            <p:txBody>
              <a:bodyPr/>
              <a:lstStyle/>
              <a:p>
                <a:pPr algn="l" rtl="0"/>
                <a:r>
                  <a:rPr lang="en-US" sz="2800" dirty="0" smtClean="0"/>
                  <a:t>There are 3 interesting parameters:</a:t>
                </a:r>
              </a:p>
              <a:p>
                <a:pPr lvl="1" algn="l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the dimension of the problem</a:t>
                </a:r>
              </a:p>
              <a:p>
                <a:pPr lvl="1" algn="l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the number of samples</a:t>
                </a:r>
              </a:p>
              <a:p>
                <a:pPr lvl="1" algn="l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the signal strength</a:t>
                </a:r>
              </a:p>
              <a:p>
                <a:pPr lvl="2" algn="l" rtl="0"/>
                <a:r>
                  <a:rPr lang="en-US" dirty="0" smtClean="0"/>
                  <a:t>Large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 smtClean="0"/>
                  <a:t> is “good” for clique, small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 smtClean="0"/>
                  <a:t> “good” for PCA</a:t>
                </a:r>
              </a:p>
              <a:p>
                <a:pPr algn="l" rtl="0"/>
                <a:r>
                  <a:rPr lang="en-US" sz="2800" dirty="0" smtClean="0"/>
                  <a:t>Assume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𝑝</m:t>
                    </m:r>
                    <m:r>
                      <a:rPr lang="en-US" sz="2800" i="1" dirty="0" smtClean="0">
                        <a:latin typeface="Cambria Math"/>
                      </a:rPr>
                      <m:t>=</m:t>
                    </m:r>
                    <m:r>
                      <a:rPr lang="en-US" sz="28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 smtClean="0"/>
                  <a:t> and vary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𝑘</m:t>
                    </m:r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208" y="1061536"/>
                <a:ext cx="8229600" cy="4525963"/>
              </a:xfrm>
              <a:blipFill rotWithShape="1">
                <a:blip r:embed="rId3"/>
                <a:stretch>
                  <a:fillRect l="-1333" t="-12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1331640" y="4797152"/>
            <a:ext cx="66247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331640" y="6309320"/>
            <a:ext cx="66247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87624" y="4941168"/>
            <a:ext cx="187220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Information </a:t>
            </a:r>
          </a:p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Threshold</a:t>
            </a:r>
            <a:endParaRPr lang="he-IL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84168" y="5589240"/>
            <a:ext cx="187220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Information </a:t>
            </a:r>
          </a:p>
          <a:p>
            <a:pPr algn="ctr"/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Threshold</a:t>
            </a:r>
            <a:endParaRPr lang="he-IL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956376" y="4612486"/>
                <a:ext cx="521948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376" y="4612486"/>
                <a:ext cx="52194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956376" y="6228020"/>
                <a:ext cx="521948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376" y="6228020"/>
                <a:ext cx="521948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491880" y="5230941"/>
            <a:ext cx="187220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Computational </a:t>
            </a:r>
          </a:p>
          <a:p>
            <a:pPr algn="ctr"/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Threshold</a:t>
            </a:r>
            <a:endParaRPr lang="he-IL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8" name="Straight Connector 17"/>
          <p:cNvCxnSpPr>
            <a:endCxn id="11" idx="0"/>
          </p:cNvCxnSpPr>
          <p:nvPr/>
        </p:nvCxnSpPr>
        <p:spPr>
          <a:xfrm>
            <a:off x="2123728" y="4612486"/>
            <a:ext cx="0" cy="328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027653" y="6196662"/>
            <a:ext cx="0" cy="328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443991" y="4653136"/>
            <a:ext cx="0" cy="328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427984" y="6165304"/>
            <a:ext cx="0" cy="328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547664" y="4211796"/>
                <a:ext cx="1296144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a:rPr lang="en-US" b="0" i="0" smtClean="0">
                              <a:latin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4211796"/>
                <a:ext cx="1296144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444208" y="6494193"/>
                <a:ext cx="1296144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latin typeface="Cambria Math"/>
                        </a:rPr>
                        <m:t>/</m:t>
                      </m:r>
                      <m:func>
                        <m:funcPr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08" y="6494193"/>
                <a:ext cx="1296144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211960" y="648602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6486022"/>
                <a:ext cx="576064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283968" y="4211796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4211796"/>
                <a:ext cx="576064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9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22" grpId="0"/>
      <p:bldP spid="23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Zoom in on computational threshold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268760"/>
                <a:ext cx="8856984" cy="4525963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:r>
                  <a:rPr lang="en-US" sz="2800" dirty="0" smtClean="0"/>
                  <a:t>Do we have an algorithmic complexity threshold?</a:t>
                </a:r>
              </a:p>
              <a:p>
                <a:pPr algn="l" rtl="0"/>
                <a:r>
                  <a:rPr lang="en-US" sz="28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𝑘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sz="2800" b="0" i="1" smtClean="0">
                            <a:latin typeface="Cambria Math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 smtClean="0"/>
                  <a:t> simple greedy algorithms work</a:t>
                </a:r>
              </a:p>
              <a:p>
                <a:pPr algn="l" rtl="0"/>
                <a:r>
                  <a:rPr lang="en-US" sz="28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𝑘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≫</m:t>
                    </m:r>
                    <m:sSub>
                      <m:sSubPr>
                        <m:ctrlPr>
                          <a:rPr lang="en-US" sz="2800" b="0" i="1" smtClean="0">
                            <a:latin typeface="Cambria Math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 smtClean="0"/>
                  <a:t> one needs fancy methods (SDP, Spectral, BP)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268760"/>
                <a:ext cx="8856984" cy="4525963"/>
              </a:xfrm>
              <a:blipFill rotWithShape="1">
                <a:blip r:embed="rId2"/>
                <a:stretch>
                  <a:fillRect l="-1376" t="-12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115616" y="3933056"/>
            <a:ext cx="66247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026492" y="3233017"/>
                <a:ext cx="1955112" cy="42774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𝑘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492" y="3233017"/>
                <a:ext cx="1955112" cy="427746"/>
              </a:xfrm>
              <a:prstGeom prst="rect">
                <a:avLst/>
              </a:prstGeom>
              <a:blipFill rotWithShape="1">
                <a:blip r:embed="rId3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>
            <a:off x="2339752" y="3717032"/>
            <a:ext cx="0" cy="4320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23928" y="4221088"/>
            <a:ext cx="324036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dirty="0" smtClean="0"/>
              <a:t>Counting degrees works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75656" y="3284984"/>
                <a:ext cx="1955112" cy="37241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𝑘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e>
                      </m:ra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284984"/>
                <a:ext cx="1955112" cy="3724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5004048" y="3717032"/>
            <a:ext cx="0" cy="4320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7584" y="4221088"/>
            <a:ext cx="324036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 smtClean="0"/>
              <a:t>Spectral algorithm (AKS98)</a:t>
            </a:r>
          </a:p>
          <a:p>
            <a:pPr algn="ctr" rtl="0"/>
            <a:r>
              <a:rPr lang="en-US" dirty="0" smtClean="0"/>
              <a:t>SDP (FK00)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297408" y="4121208"/>
                <a:ext cx="73097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408" y="4121208"/>
                <a:ext cx="73097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59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dirty="0" smtClean="0"/>
              <a:t>Algorithmic approaches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:r>
                  <a:rPr lang="en-US" sz="2800" dirty="0" err="1" smtClean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Obsv</a:t>
                </a:r>
                <a:r>
                  <a:rPr lang="en-US" sz="2800" dirty="0" smtClean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. 1.:</a:t>
                </a:r>
                <a:r>
                  <a:rPr lang="en-US" sz="2800" dirty="0" smtClean="0">
                    <a:latin typeface="Cambria" panose="020405030504060302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/>
                      </a:rPr>
                      <m:t>𝐱</m:t>
                    </m:r>
                    <m:r>
                      <a:rPr lang="en-US" sz="2800" b="0" i="0" smtClean="0">
                        <a:latin typeface="Cambria Math"/>
                      </a:rPr>
                      <m:t>~</m:t>
                    </m:r>
                    <m:r>
                      <a:rPr lang="en-US" sz="2800" b="0" i="1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 smtClean="0">
                    <a:latin typeface="Cambria" panose="02040503050406030204" pitchFamily="18" charset="0"/>
                  </a:rPr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800" b="1" i="0" smtClean="0">
                                <a:latin typeface="Cambria Math"/>
                              </a:rPr>
                              <m:t>𝐱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~</m:t>
                    </m:r>
                    <m:sSubSup>
                      <m:sSub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800" b="0" i="1" dirty="0" smtClean="0">
                            <a:latin typeface="Cambria Math"/>
                            <a:sym typeface="Symbol"/>
                          </a:rPr>
                          <m:t>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sub>
                      <m:sup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endParaRPr lang="he-IL" sz="2800" dirty="0">
                  <a:latin typeface="Cambria" panose="02040503050406030204" pitchFamily="18" charset="0"/>
                </a:endParaRPr>
              </a:p>
              <a:p>
                <a:pPr algn="l"/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229600" cy="4525963"/>
              </a:xfrm>
              <a:blipFill rotWithShape="0">
                <a:blip r:embed="rId2"/>
                <a:stretch>
                  <a:fillRect l="-1481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74010" y="2276872"/>
                <a:ext cx="3842206" cy="52899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sz="2800" i="1" smtClean="0"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he-IL" sz="280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800" b="1" i="0" smtClean="0">
                                  <a:latin typeface="Cambria Math"/>
                                </a:rPr>
                                <m:t>𝐱</m:t>
                              </m:r>
                            </m:e>
                          </m:d>
                        </m:e>
                        <m:sup>
                          <m:r>
                            <a:rPr lang="he-IL" sz="2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b="0" i="1" dirty="0" smtClean="0">
                              <a:latin typeface="Cambria Math"/>
                              <a:sym typeface="Symbol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b="0" i="1" dirty="0" smtClean="0">
                              <a:latin typeface="Cambria Math"/>
                              <a:sym typeface="Symbol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/>
                        </a:rPr>
                        <m:t>+…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010" y="2276872"/>
                <a:ext cx="3842206" cy="52899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http://images.books24x7.com/bookimages/id_19477/fig371_02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3" t="9278" r="593" b="-2662"/>
          <a:stretch/>
        </p:blipFill>
        <p:spPr bwMode="auto">
          <a:xfrm>
            <a:off x="1979712" y="3150130"/>
            <a:ext cx="5142447" cy="308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19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dirty="0" smtClean="0"/>
              <a:t>One more fact …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:r>
                  <a:rPr lang="en-US" sz="2800" dirty="0" smtClean="0">
                    <a:solidFill>
                      <a:srgbClr val="FF0000"/>
                    </a:solidFill>
                    <a:latin typeface="Cambria" panose="02040503050406030204" pitchFamily="18" charset="0"/>
                  </a:rPr>
                  <a:t>Obsv.2 :</a:t>
                </a:r>
                <a:r>
                  <a:rPr lang="en-US" sz="2800" dirty="0" smtClean="0">
                    <a:latin typeface="Cambria" panose="02040503050406030204" pitchFamily="18" charset="0"/>
                  </a:rPr>
                  <a:t> The product of two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 smtClean="0">
                    <a:latin typeface="Cambria" panose="02040503050406030204" pitchFamily="18" charset="0"/>
                  </a:rPr>
                  <a:t>-dimensional Gaussian vectors is distributed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∙</m:t>
                        </m:r>
                      </m:e>
                    </m:rad>
                    <m:r>
                      <a:rPr lang="en-US" sz="28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sz="2800" dirty="0" smtClean="0">
                    <a:latin typeface="Cambria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𝑏</m:t>
                    </m:r>
                    <m:r>
                      <a:rPr lang="en-US" sz="2800" b="0" i="1" smtClean="0">
                        <a:latin typeface="Cambria Math"/>
                      </a:rPr>
                      <m:t>~</m:t>
                    </m:r>
                    <m:r>
                      <a:rPr lang="en-US" sz="2800" b="0" i="1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800" dirty="0" smtClean="0">
                    <a:latin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𝑎</m:t>
                    </m:r>
                    <m:r>
                      <a:rPr lang="en-US" sz="2800" b="0" i="1" smtClean="0">
                        <a:latin typeface="Cambria Math"/>
                      </a:rPr>
                      <m:t>~</m:t>
                    </m:r>
                    <m:sSubSup>
                      <m:sSub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800" b="0" i="1" dirty="0" smtClean="0">
                            <a:latin typeface="Cambria Math"/>
                            <a:sym typeface="Symbol"/>
                          </a:rPr>
                          <m:t>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sub>
                      <m:sup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800" dirty="0" smtClean="0">
                    <a:latin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sz="2800" dirty="0" smtClean="0">
                    <a:latin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sz="2800" dirty="0" smtClean="0">
                    <a:latin typeface="Cambria" panose="02040503050406030204" pitchFamily="18" charset="0"/>
                  </a:rPr>
                  <a:t> are </a:t>
                </a:r>
                <a:r>
                  <a:rPr lang="en-US" sz="2800" dirty="0" err="1" smtClean="0">
                    <a:latin typeface="Cambria" panose="02040503050406030204" pitchFamily="18" charset="0"/>
                  </a:rPr>
                  <a:t>indep</a:t>
                </a:r>
                <a:r>
                  <a:rPr lang="en-US" sz="2800" dirty="0" smtClean="0">
                    <a:latin typeface="Cambria" panose="02040503050406030204" pitchFamily="18" charset="0"/>
                  </a:rPr>
                  <a:t>.</a:t>
                </a:r>
                <a:endParaRPr lang="he-IL" sz="280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229600" cy="4525963"/>
              </a:xfrm>
              <a:blipFill rotWithShape="0">
                <a:blip r:embed="rId2"/>
                <a:stretch>
                  <a:fillRect l="-1481" t="-1482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3275856" y="3789040"/>
            <a:ext cx="3312368" cy="1368152"/>
            <a:chOff x="3275856" y="3789040"/>
            <a:chExt cx="3312368" cy="1368152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4499992" y="4221088"/>
              <a:ext cx="2088232" cy="9361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flipH="1" flipV="1">
              <a:off x="3275856" y="3789040"/>
              <a:ext cx="1224136" cy="136815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53092" y="4319808"/>
                <a:ext cx="1654812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092" y="4319808"/>
                <a:ext cx="1654812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369" r="-369" b="-2133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19330" y="4581128"/>
                <a:ext cx="1640514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330" y="4581128"/>
                <a:ext cx="1640514" cy="461665"/>
              </a:xfrm>
              <a:prstGeom prst="rect">
                <a:avLst/>
              </a:prstGeom>
              <a:blipFill rotWithShape="1">
                <a:blip r:embed="rId4"/>
                <a:stretch>
                  <a:fillRect r="-370" b="-1973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3913924" y="3573016"/>
            <a:ext cx="2765604" cy="2374743"/>
            <a:chOff x="3913924" y="3582987"/>
            <a:chExt cx="2765604" cy="2374743"/>
          </a:xfrm>
        </p:grpSpPr>
        <p:cxnSp>
          <p:nvCxnSpPr>
            <p:cNvPr id="14" name="Straight Arrow Connector 13"/>
            <p:cNvCxnSpPr/>
            <p:nvPr/>
          </p:nvCxnSpPr>
          <p:spPr>
            <a:xfrm rot="2441665" flipV="1">
              <a:off x="4591296" y="5021626"/>
              <a:ext cx="2088232" cy="9361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2441665" flipH="1" flipV="1">
              <a:off x="3913924" y="3582987"/>
              <a:ext cx="1224136" cy="136815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644008" y="3212976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latin typeface="Cambria Math"/>
                            </a:rPr>
                            <m:t>𝐞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  <a:ea typeface="Cambria Math"/>
                        </a:rPr>
                        <m:t>∙</m:t>
                      </m:r>
                      <m:d>
                        <m:dPr>
                          <m:begChr m:val="‖"/>
                          <m:endChr m:val="‖"/>
                          <m:ctrlPr>
                            <a:rPr lang="he-IL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3212976"/>
                <a:ext cx="1368152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411760" y="3693058"/>
                <a:ext cx="4752528" cy="182550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800" i="1" smtClean="0"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</m:e>
                          </m:rad>
                          <m:r>
                            <a:rPr lang="en-US" sz="2800" b="0" i="1" smtClean="0">
                              <a:latin typeface="Cambria Math"/>
                            </a:rPr>
                            <m:t>𝑏</m:t>
                          </m:r>
                        </m:e>
                      </m:d>
                      <m:r>
                        <a:rPr lang="en-US" sz="2800" b="0" i="0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0</m:t>
                      </m:r>
                    </m:oMath>
                  </m:oMathPara>
                </a14:m>
                <a:endParaRPr lang="en-US" sz="2800" b="0" i="1" dirty="0" smtClean="0">
                  <a:latin typeface="Cambria Math"/>
                  <a:sym typeface="Symbol"/>
                </a:endParaRPr>
              </a:p>
              <a:p>
                <a:pPr algn="l" rtl="0"/>
                <a:endParaRPr lang="en-US" sz="2800" b="0" i="1" dirty="0" smtClean="0">
                  <a:latin typeface="Cambria Math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𝑆𝐷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800" i="1" smtClean="0"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</m:e>
                          </m:rad>
                          <m:r>
                            <a:rPr lang="en-US" sz="2800" b="0" i="1" smtClean="0">
                              <a:latin typeface="Cambria Math"/>
                            </a:rPr>
                            <m:t>𝑏</m:t>
                          </m:r>
                        </m:e>
                      </m:d>
                      <m:r>
                        <a:rPr lang="en-US" sz="2800" b="0" i="0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(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charset="0"/>
                              <a:sym typeface="Symbol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latin typeface="Cambria Math"/>
                              <a:sym typeface="Symbol"/>
                            </a:rPr>
                            <m:t>𝑛</m:t>
                          </m:r>
                        </m:e>
                      </m:rad>
                      <m:r>
                        <a:rPr lang="en-US" sz="2800" b="0" i="1" smtClean="0">
                          <a:latin typeface="Cambria Math"/>
                          <a:sym typeface="Symbol"/>
                        </a:rPr>
                        <m:t>)</m:t>
                      </m:r>
                    </m:oMath>
                  </m:oMathPara>
                </a14:m>
                <a:endParaRPr lang="en-US" sz="2800" dirty="0" smtClean="0"/>
              </a:p>
              <a:p>
                <a:pPr algn="l" rtl="0"/>
                <a:endParaRPr lang="he-IL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693058"/>
                <a:ext cx="4752528" cy="18255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99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8" grpId="0"/>
      <p:bldP spid="18" grpId="1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Greedy Rules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600200"/>
                <a:ext cx="8640960" cy="4525963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:r>
                  <a:rPr lang="en-US" sz="2800" dirty="0" smtClean="0"/>
                  <a:t>Greedy rule: </a:t>
                </a:r>
              </a:p>
              <a:p>
                <a:pPr marL="0" indent="0" algn="l" rtl="0">
                  <a:buNone/>
                </a:pPr>
                <a:r>
                  <a:rPr lang="en-US" sz="2800" dirty="0" smtClean="0">
                    <a:solidFill>
                      <a:srgbClr val="0070C0"/>
                    </a:solidFill>
                  </a:rPr>
                  <a:t>Clique: </a:t>
                </a:r>
                <a:r>
                  <a:rPr lang="en-US" sz="2800" dirty="0" smtClean="0"/>
                  <a:t>Pick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800" dirty="0" smtClean="0"/>
                  <a:t> vertices with largest degree</a:t>
                </a:r>
              </a:p>
              <a:p>
                <a:pPr marL="0" indent="0" algn="l" rtl="0">
                  <a:buNone/>
                </a:pPr>
                <a:r>
                  <a:rPr lang="en-US" sz="2800" dirty="0" smtClean="0">
                    <a:solidFill>
                      <a:srgbClr val="0070C0"/>
                    </a:solidFill>
                  </a:rPr>
                  <a:t>PCA: </a:t>
                </a:r>
                <a:r>
                  <a:rPr lang="en-US" sz="2800" dirty="0" smtClean="0"/>
                  <a:t>Pick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𝑘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diagonal entries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dirty="0" smtClean="0">
                            <a:latin typeface="Cambria Math" charset="0"/>
                            <a:sym typeface="Symbol"/>
                          </a:rPr>
                        </m:ctrlPr>
                      </m:accPr>
                      <m:e>
                        <m:r>
                          <a:rPr lang="en-US" sz="2800" i="1" dirty="0" smtClean="0">
                            <a:latin typeface="Cambria Math"/>
                            <a:sym typeface="Symbol"/>
                          </a:rPr>
                          <m:t></m:t>
                        </m:r>
                      </m:e>
                    </m:acc>
                  </m:oMath>
                </a14:m>
                <a:r>
                  <a:rPr lang="en-US" sz="2800" dirty="0" smtClean="0"/>
                  <a:t> with largest abs. value</a:t>
                </a:r>
              </a:p>
              <a:p>
                <a:pPr marL="0" indent="0" algn="l" rtl="0">
                  <a:buNone/>
                </a:pPr>
                <a:endParaRPr lang="en-US" sz="2800" dirty="0" smtClean="0"/>
              </a:p>
              <a:p>
                <a:pPr marL="0" indent="0" algn="l" rtl="0">
                  <a:buNone/>
                </a:pPr>
                <a:r>
                  <a:rPr lang="en-US" sz="2800" dirty="0" smtClean="0">
                    <a:solidFill>
                      <a:srgbClr val="FF0000"/>
                    </a:solidFill>
                  </a:rPr>
                  <a:t>Warning: </a:t>
                </a:r>
                <a:r>
                  <a:rPr lang="en-US" sz="2800" dirty="0" smtClean="0"/>
                  <a:t>in signal processing variance is not a source of trouble but rather it has energy units (it is called </a:t>
                </a:r>
                <a:r>
                  <a:rPr lang="en-US" sz="2800" i="1" dirty="0" smtClean="0"/>
                  <a:t>average power</a:t>
                </a:r>
                <a:r>
                  <a:rPr lang="en-US" sz="2800" dirty="0" smtClean="0"/>
                  <a:t>)</a:t>
                </a:r>
              </a:p>
              <a:p>
                <a:pPr marL="0" indent="0" algn="l" rtl="0">
                  <a:buNone/>
                </a:pPr>
                <a:endParaRPr lang="en-US" sz="2800" dirty="0" smtClean="0"/>
              </a:p>
              <a:p>
                <a:pPr marL="0" indent="0" algn="l" rtl="0">
                  <a:buNone/>
                </a:pPr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600200"/>
                <a:ext cx="8640960" cy="4525963"/>
              </a:xfrm>
              <a:blipFill rotWithShape="1">
                <a:blip r:embed="rId2"/>
                <a:stretch>
                  <a:fillRect l="-1410" t="-121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15816" y="5199014"/>
                <a:ext cx="3096344" cy="96629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𝑆𝑁𝑅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b="0" i="1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𝑠𝑖𝑔𝑛𝑎𝑙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400" b="0" i="1" smtClean="0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𝑛𝑜𝑖𝑠𝑒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199014"/>
                <a:ext cx="3096344" cy="9662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68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483768" y="4509120"/>
            <a:ext cx="432048" cy="36004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Oval 5"/>
          <p:cNvSpPr/>
          <p:nvPr/>
        </p:nvSpPr>
        <p:spPr>
          <a:xfrm>
            <a:off x="3275856" y="4869160"/>
            <a:ext cx="432048" cy="36004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When does greedy work?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760"/>
                <a:ext cx="8229600" cy="4525963"/>
              </a:xfrm>
            </p:spPr>
            <p:txBody>
              <a:bodyPr>
                <a:normAutofit/>
              </a:bodyPr>
              <a:lstStyle/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/>
                          </a:rPr>
                          <m:t>deg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𝑣</m:t>
                            </m:r>
                          </m:e>
                        </m:d>
                      </m:e>
                    </m:func>
                    <m:r>
                      <a:rPr lang="en-US" sz="2800" b="0" i="1" smtClean="0">
                        <a:latin typeface="Cambria Math"/>
                      </a:rPr>
                      <m:t>~</m:t>
                    </m:r>
                    <m:r>
                      <a:rPr lang="en-US" sz="2800" b="0" i="1" smtClean="0">
                        <a:latin typeface="Cambria Math"/>
                      </a:rPr>
                      <m:t>𝐵𝑖𝑛</m:t>
                    </m:r>
                    <m:d>
                      <m:d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/>
                          </a:rPr>
                          <m:t>,</m:t>
                        </m:r>
                        <m:f>
                          <m:fPr>
                            <m:type m:val="skw"/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rad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𝑘</m:t>
                    </m:r>
                  </m:oMath>
                </a14:m>
                <a:endParaRPr lang="en-US" sz="2800" b="0" dirty="0" smtClean="0">
                  <a:solidFill>
                    <a:srgbClr val="FF0000"/>
                  </a:solidFill>
                </a:endParaRP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b="0" dirty="0" smtClean="0"/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𝑘</m:t>
                    </m:r>
                    <m:r>
                      <a:rPr lang="en-US" sz="2800" b="0" i="1" smtClean="0">
                        <a:latin typeface="Cambria Math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func>
                          <m:funcPr>
                            <m:ctrlPr>
                              <a:rPr lang="en-US" sz="2800" b="0" i="1" smtClean="0">
                                <a:latin typeface="Cambria Math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/>
                                <a:ea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func>
                      </m:e>
                    </m:rad>
                  </m:oMath>
                </a14:m>
                <a:r>
                  <a:rPr lang="en-US" sz="2800" b="0" dirty="0" smtClean="0"/>
                  <a:t> then greedy is fine (</a:t>
                </a:r>
                <a:r>
                  <a:rPr lang="en-US" sz="2800" b="0" dirty="0" err="1" smtClean="0"/>
                  <a:t>Chernoff</a:t>
                </a:r>
                <a:r>
                  <a:rPr lang="en-US" sz="2800" b="0" dirty="0" smtClean="0"/>
                  <a:t>)</a:t>
                </a: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he-IL" sz="2800" i="1">
                            <a:latin typeface="Cambria Math"/>
                            <a:sym typeface="Symbol"/>
                          </a:rPr>
                          <m:t>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𝑖𝑖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~</m:t>
                    </m:r>
                    <m:f>
                      <m:fPr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sz="28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2800" i="1" dirty="0">
                            <a:latin typeface="Cambria Math"/>
                            <a:sym typeface="Symbol"/>
                          </a:rPr>
                          <m:t>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𝑘</m:t>
                        </m:r>
                      </m:den>
                    </m:f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den>
                    </m:f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rad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)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2800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𝑘</m:t>
                        </m:r>
                      </m:den>
                    </m:f>
                  </m:oMath>
                </a14:m>
                <a:endParaRPr lang="en-US" sz="2800" dirty="0" smtClean="0"/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 smtClean="0"/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𝑘</m:t>
                    </m:r>
                    <m:r>
                      <a:rPr lang="en-US" sz="2800" b="0" i="1" smtClean="0">
                        <a:latin typeface="Cambria Math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sz="2800" i="1">
                            <a:latin typeface="Cambria Math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/</m:t>
                        </m:r>
                        <m:func>
                          <m:funcPr>
                            <m:ctrlPr>
                              <a:rPr lang="en-US" sz="2800" i="1">
                                <a:latin typeface="Cambria Math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/>
                                <a:ea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func>
                      </m:e>
                    </m:rad>
                  </m:oMath>
                </a14:m>
                <a:r>
                  <a:rPr lang="en-US" sz="2800" dirty="0"/>
                  <a:t> then greedy is </a:t>
                </a:r>
                <a:r>
                  <a:rPr lang="en-US" sz="2800" dirty="0" smtClean="0"/>
                  <a:t>fine</a:t>
                </a:r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60"/>
                <a:ext cx="8229600" cy="4525963"/>
              </a:xfrm>
              <a:blipFill rotWithShape="1">
                <a:blip r:embed="rId3"/>
                <a:stretch>
                  <a:fillRect l="-12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266026"/>
              </p:ext>
            </p:extLst>
          </p:nvPr>
        </p:nvGraphicFramePr>
        <p:xfrm>
          <a:off x="2267744" y="4550331"/>
          <a:ext cx="4045794" cy="1758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name="Equation" r:id="rId4" imgW="2628720" imgH="1143000" progId="Equation.3">
                  <p:embed/>
                </p:oleObj>
              </mc:Choice>
              <mc:Fallback>
                <p:oleObj name="Equation" r:id="rId4" imgW="2628720" imgH="1143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4550331"/>
                        <a:ext cx="4045794" cy="1758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135" y="297567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algn="l" defTabSz="914400" rtl="0" eaLnBrk="1" latinLnBrk="0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05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726" y="3825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Spectral Approaches</a:t>
            </a:r>
            <a:endParaRPr lang="he-IL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4016" y="3861048"/>
                <a:ext cx="8964488" cy="3312368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800" dirty="0"/>
                  <a:t>[FK81</a:t>
                </a:r>
                <a:r>
                  <a:rPr lang="en-US" sz="2800" dirty="0" smtClean="0"/>
                  <a:t>]</a:t>
                </a:r>
                <a:endParaRPr lang="en-US" sz="2800" i="1" dirty="0" smtClean="0">
                  <a:latin typeface="Cambria Math" charset="0"/>
                </a:endParaRPr>
              </a:p>
              <a:p>
                <a:pPr algn="l" rtl="0"/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80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𝐾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 i="1">
                                <a:latin typeface="Cambria Math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2800" i="1">
                                <a:latin typeface="Cambria Math"/>
                              </a:rPr>
                              <m:t>𝑇</m:t>
                            </m:r>
                          </m:sup>
                        </m:sSubSup>
                      </m:e>
                    </m:d>
                    <m:r>
                      <a:rPr lang="en-US" sz="2800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/>
                                  </a:rPr>
                                  <m:t>𝐾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8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</a:rPr>
                      <m:t>=</m:t>
                    </m:r>
                    <m:r>
                      <a:rPr lang="en-US" sz="2800" b="0" i="1" smtClean="0">
                        <a:latin typeface="Cambria Math" charset="0"/>
                      </a:rPr>
                      <m:t>𝑘</m:t>
                    </m:r>
                  </m:oMath>
                </a14:m>
                <a:endParaRPr lang="en-US" sz="2800" b="0" dirty="0" smtClean="0"/>
              </a:p>
              <a:p>
                <a:pPr algn="l" rtl="0"/>
                <a:r>
                  <a:rPr lang="en-US" sz="2800" dirty="0" smtClean="0"/>
                  <a:t>Whenever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𝑘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≫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𝑐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2800" dirty="0" smtClean="0"/>
                  <a:t> then we are fine </a:t>
                </a:r>
                <a:r>
                  <a:rPr lang="en-US" sz="2800" dirty="0" smtClean="0"/>
                  <a:t>[AKS98]</a:t>
                </a:r>
              </a:p>
              <a:p>
                <a:pPr lvl="1" algn="l" rtl="0"/>
                <a:r>
                  <a:rPr lang="en-US" sz="2400" dirty="0" smtClean="0"/>
                  <a:t>Eigenvector gives a good approximation of clique</a:t>
                </a:r>
              </a:p>
              <a:p>
                <a:pPr lvl="1" algn="l" rtl="0"/>
                <a:r>
                  <a:rPr lang="en-US" sz="2400" dirty="0" smtClean="0"/>
                  <a:t>Complete the task with simple combinatorial steps</a:t>
                </a:r>
                <a:endParaRPr lang="en-US" sz="24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016" y="3861048"/>
                <a:ext cx="8964488" cy="3312368"/>
              </a:xfrm>
              <a:blipFill rotWithShape="0">
                <a:blip r:embed="rId2"/>
                <a:stretch>
                  <a:fillRect l="-1224" t="-1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27584" y="1396230"/>
                <a:ext cx="4943759" cy="562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𝐴</m:t>
                      </m:r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𝐾</m:t>
                          </m:r>
                        </m:sub>
                      </m:sSub>
                      <m:sSubSup>
                        <m:sSubSup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en-US" sz="2800" i="1">
                          <a:latin typeface="Cambria Math"/>
                        </a:rPr>
                        <m:t>+</m:t>
                      </m:r>
                      <m:r>
                        <a:rPr lang="en-US" sz="2800" i="1">
                          <a:latin typeface="Cambria Math"/>
                        </a:rPr>
                        <m:t>𝑊</m:t>
                      </m:r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𝐾</m:t>
                          </m:r>
                          <m:r>
                            <a:rPr lang="en-US" sz="2800" i="1">
                              <a:latin typeface="Cambria Math"/>
                            </a:rPr>
                            <m:t>,</m:t>
                          </m:r>
                          <m:r>
                            <a:rPr lang="en-US" sz="2800" i="1">
                              <a:latin typeface="Cambria Math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396230"/>
                <a:ext cx="4943759" cy="56227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796136" y="1400590"/>
                <a:ext cx="2300438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charset="0"/>
                            </a:rPr>
                            <m:t>𝑖𝑗</m:t>
                          </m:r>
                        </m:sub>
                      </m:sSub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∈{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,−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1400590"/>
                <a:ext cx="2300438" cy="5579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35696" y="2580714"/>
                <a:ext cx="5832648" cy="617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80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𝑊</m:t>
                          </m:r>
                        </m:e>
                      </m:d>
                      <m:r>
                        <a:rPr lang="en-US" sz="280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c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</m:rad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800" i="1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𝐾</m:t>
                              </m:r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𝐾</m:t>
                              </m:r>
                            </m:sub>
                          </m:sSub>
                        </m:e>
                      </m:d>
                      <m:r>
                        <a:rPr lang="en-US" sz="280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charset="0"/>
                          <a:ea typeface="Cambria Math" charset="0"/>
                          <a:cs typeface="Cambria Math" charset="0"/>
                        </a:rPr>
                        <m:t>c</m:t>
                      </m:r>
                      <m:rad>
                        <m:radPr>
                          <m:degHide m:val="on"/>
                          <m:ctrlPr>
                            <a:rPr lang="en-US" sz="2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𝑘</m:t>
                          </m:r>
                        </m:e>
                      </m:rad>
                      <m:r>
                        <a:rPr lang="en-US" sz="28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580714"/>
                <a:ext cx="5832648" cy="61709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849387" y="548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How about PCA?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59632" y="1052736"/>
                <a:ext cx="6408712" cy="1771715"/>
              </a:xfrm>
            </p:spPr>
            <p:txBody>
              <a:bodyPr>
                <a:normAutofit/>
              </a:bodyPr>
              <a:lstStyle/>
              <a:p>
                <a:pPr marL="0" lvl="1" indent="0" algn="ctr" rtl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  <a:sym typeface="Symbol"/>
                      </a:rPr>
                      <m:t>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 smtClean="0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sz="2400" b="1" i="1">
                        <a:latin typeface="Cambria Math"/>
                      </a:rPr>
                      <m:t>𝒛</m:t>
                    </m:r>
                    <m:sSup>
                      <m:sSupPr>
                        <m:ctrlPr>
                          <a:rPr lang="en-US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/>
                          </a:rPr>
                          <m:t>𝒛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 smtClean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𝑚𝑎𝑥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  <a:sym typeface="Symbol"/>
                          </a:rPr>
                          <m:t></m:t>
                        </m:r>
                      </m:e>
                    </m:d>
                    <m:r>
                      <a:rPr lang="en-US" sz="2400" b="0" i="1" smtClean="0">
                        <a:latin typeface="Cambria Math"/>
                        <a:sym typeface="Symbol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  <a:sym typeface="Symbol"/>
                      </a:rPr>
                      <m:t>1</m:t>
                    </m:r>
                    <m:r>
                      <a:rPr lang="en-US" sz="2400" b="0" i="1" smtClean="0">
                        <a:latin typeface="Cambria Math"/>
                        <a:sym typeface="Symbol"/>
                      </a:rPr>
                      <m:t>+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  <a:ea typeface="Cambria Math"/>
                      </a:rPr>
                      <m:t>, </m:t>
                    </m:r>
                    <m:f>
                      <m:fPr>
                        <m:type m:val="skw"/>
                        <m:ctrlPr>
                          <a:rPr lang="en-US" sz="2400" b="0" i="1" smtClean="0">
                            <a:latin typeface="Cambria Math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charset="0"/>
                            <a:ea typeface="Cambria Math"/>
                          </a:rPr>
                          <m:t>𝑝</m:t>
                        </m:r>
                      </m:num>
                      <m:den>
                        <m:r>
                          <a:rPr lang="en-US" sz="2400" b="0" i="1" smtClean="0">
                            <a:latin typeface="Cambria Math" charset="0"/>
                            <a:ea typeface="Cambria Math"/>
                          </a:rPr>
                          <m:t>𝑛</m:t>
                        </m:r>
                      </m:den>
                    </m:f>
                    <m:r>
                      <a:rPr lang="en-US" sz="2400" b="0" i="1" smtClean="0">
                        <a:latin typeface="Cambria Math" charset="0"/>
                        <a:ea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</m:oMath>
                </a14:m>
                <a:endParaRPr lang="en-US" sz="2400" b="0" dirty="0" smtClean="0">
                  <a:ea typeface="Cambria Math"/>
                </a:endParaRPr>
              </a:p>
              <a:p>
                <a:pPr marL="0" lvl="1" indent="0" algn="ctr" rtl="0">
                  <a:buNone/>
                </a:pPr>
                <a:endParaRPr lang="en-US" sz="2400" dirty="0" smtClean="0"/>
              </a:p>
              <a:p>
                <a:pPr marL="0" lvl="1" indent="0" algn="l" rtl="0">
                  <a:buNone/>
                </a:pPr>
                <a:endParaRPr lang="en-US" sz="2400" dirty="0"/>
              </a:p>
              <a:p>
                <a:pPr marL="0" lvl="1" indent="0" algn="l" rtl="0">
                  <a:buNone/>
                </a:pPr>
                <a:endParaRPr lang="en-US" sz="2400" dirty="0" smtClean="0"/>
              </a:p>
              <a:p>
                <a:pPr marL="0" lvl="1" indent="0" algn="l" rtl="0">
                  <a:buNone/>
                </a:pPr>
                <a:endParaRPr lang="en-US" sz="2400" dirty="0" smtClean="0"/>
              </a:p>
              <a:p>
                <a:pPr marL="0" lvl="1" indent="0" algn="l" rtl="0">
                  <a:buNone/>
                </a:pPr>
                <a:endParaRPr lang="en-US" sz="2400" dirty="0"/>
              </a:p>
              <a:p>
                <a:pPr marL="0" lvl="1" indent="0" algn="l" rtl="0">
                  <a:buNone/>
                </a:pPr>
                <a:endParaRPr lang="en-US" sz="2400" dirty="0"/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9632" y="1052736"/>
                <a:ext cx="6408712" cy="1771715"/>
              </a:xfrm>
              <a:blipFill rotWithShape="0">
                <a:blip r:embed="rId2"/>
                <a:stretch>
                  <a:fillRect t="-33103" r="-1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835696" y="2521381"/>
                <a:ext cx="5336012" cy="9796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  <a:sym typeface="Symbol"/>
                        </a:rPr>
                        <m:t>𝒛</m:t>
                      </m:r>
                      <m:r>
                        <a:rPr lang="en-US" sz="2400" i="1">
                          <a:latin typeface="Cambria Math"/>
                          <a:sym typeface="Symbol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  <a:sym typeface="Symbol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400" i="1">
                                  <a:latin typeface="Cambria Math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charset="0"/>
                                      <a:sym typeface="Symbol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/>
                                      <a:sym typeface="Symbol"/>
                                    </a:rPr>
                                    <m:t>𝑘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400" i="1">
                                  <a:latin typeface="Cambria Math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charset="0"/>
                                      <a:sym typeface="Symbol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/>
                                      <a:sym typeface="Symbol"/>
                                    </a:rPr>
                                    <m:t>𝑘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,…,</m:t>
                          </m:r>
                          <m:f>
                            <m:fPr>
                              <m:type m:val="skw"/>
                              <m:ctrlPr>
                                <a:rPr lang="en-US" sz="2400" i="1">
                                  <a:latin typeface="Cambria Math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charset="0"/>
                                      <a:sym typeface="Symbol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/>
                                      <a:sym typeface="Symbol"/>
                                    </a:rPr>
                                    <m:t>𝑘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0</m:t>
                          </m:r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0</m:t>
                          </m:r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0</m:t>
                          </m:r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,…,</m:t>
                          </m:r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400" dirty="0">
                  <a:sym typeface="Symbol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521381"/>
                <a:ext cx="5336012" cy="97962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134593" y="4137136"/>
                <a:ext cx="3958841" cy="12813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593" y="4137136"/>
                <a:ext cx="3958841" cy="128137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452" y="2636911"/>
            <a:ext cx="5848167" cy="2938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646931"/>
            <a:ext cx="5976664" cy="3014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976" y="2564904"/>
            <a:ext cx="6149392" cy="3256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66298" y="6165304"/>
            <a:ext cx="835417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 err="1" smtClean="0"/>
              <a:t>Baik</a:t>
            </a:r>
            <a:r>
              <a:rPr lang="en-US" dirty="0" smtClean="0"/>
              <a:t>-Silverstein, Paul, El-</a:t>
            </a:r>
            <a:r>
              <a:rPr lang="en-US" dirty="0" err="1" smtClean="0"/>
              <a:t>Karoui</a:t>
            </a:r>
            <a:r>
              <a:rPr lang="en-US" dirty="0" smtClean="0"/>
              <a:t>, Ma (~10 years ago)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007420" y="1628800"/>
                <a:ext cx="2673424" cy="786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lvl="1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>
                              <a:latin typeface="Cambria Math" charset="0"/>
                              <a:sym typeface="Symbol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</m:t>
                          </m:r>
                        </m:e>
                      </m:acc>
                      <m:r>
                        <a:rPr lang="en-US" sz="2400" b="1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  <a:sym typeface="Symbol"/>
                        </a:rPr>
                        <m:t>𝛽</m:t>
                      </m:r>
                      <m:r>
                        <a:rPr lang="en-US" sz="2400" b="1" i="1">
                          <a:latin typeface="Cambria Math"/>
                          <a:sym typeface="Symbol"/>
                        </a:rPr>
                        <m:t>𝒛</m:t>
                      </m:r>
                      <m:sSup>
                        <m:sSupPr>
                          <m:ctrlPr>
                            <a:rPr lang="en-US" sz="2400" b="1" i="1">
                              <a:latin typeface="Cambria Math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  <a:sym typeface="Symbol"/>
                            </a:rPr>
                            <m:t>𝒛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𝑇</m:t>
                          </m:r>
                        </m:sup>
                      </m:sSup>
                      <m:r>
                        <a:rPr lang="en-US" sz="2400" i="1">
                          <a:latin typeface="Cambria Math"/>
                          <a:sym typeface="Symbol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𝑛</m:t>
                          </m:r>
                        </m:den>
                      </m:f>
                      <m:r>
                        <a:rPr lang="en-US" sz="2400" i="1">
                          <a:latin typeface="Cambria Math"/>
                          <a:sym typeface="Symbol"/>
                        </a:rPr>
                        <m:t>𝑋</m:t>
                      </m:r>
                      <m:sSup>
                        <m:sSupPr>
                          <m:ctrlPr>
                            <a:rPr lang="en-US" sz="2400" i="1">
                              <a:latin typeface="Cambria Math" charset="0"/>
                              <a:sym typeface="Symbol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  <a:sym typeface="Symbol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a typeface="Cambria Math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420" y="1628800"/>
                <a:ext cx="2673424" cy="78624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82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2"/>
      <p:bldP spid="5" grpId="3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PCA contd.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 rtl="0"/>
                <a:r>
                  <a:rPr lang="en-US" sz="2800" dirty="0" smtClean="0"/>
                  <a:t>Let’s fix 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/>
                        <a:ea typeface="Cambria Math"/>
                      </a:rPr>
                      <m:t>and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  </m:t>
                    </m:r>
                    <m:f>
                      <m:fPr>
                        <m:ctrlPr>
                          <a:rPr lang="en-US" sz="2800" b="0" i="1" smtClean="0">
                            <a:latin typeface="Cambria Math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num>
                      <m:den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den>
                    </m:f>
                    <m:r>
                      <a:rPr lang="en-US" sz="28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sz="2800" b="0" dirty="0" smtClean="0">
                  <a:ea typeface="Cambria Math"/>
                </a:endParaRPr>
              </a:p>
              <a:p>
                <a:pPr algn="l" rtl="0"/>
                <a:r>
                  <a:rPr lang="en-US" sz="2800" dirty="0" smtClean="0"/>
                  <a:t>Largest eigenvalue (vector) comes from noise …</a:t>
                </a:r>
              </a:p>
              <a:p>
                <a:pPr algn="l" rtl="0"/>
                <a:r>
                  <a:rPr lang="en-US" sz="2800" dirty="0" smtClean="0"/>
                  <a:t>Now we use sparsity assumption</a:t>
                </a:r>
              </a:p>
              <a:p>
                <a:pPr algn="l" rtl="0"/>
                <a:r>
                  <a:rPr lang="en-US" sz="2800" dirty="0" smtClean="0">
                    <a:solidFill>
                      <a:srgbClr val="0070C0"/>
                    </a:solidFill>
                  </a:rPr>
                  <a:t>Naïve approach: </a:t>
                </a:r>
                <a:r>
                  <a:rPr lang="en-US" sz="2800" dirty="0" smtClean="0"/>
                  <a:t>go over al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𝑘</m:t>
                    </m:r>
                    <m:r>
                      <a:rPr lang="en-US" sz="2800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8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800" dirty="0" smtClean="0"/>
                  <a:t> submatrices and </a:t>
                </a:r>
              </a:p>
              <a:p>
                <a:pPr marL="0" indent="0" algn="l" rtl="0">
                  <a:buNone/>
                </a:pPr>
                <a:r>
                  <a:rPr lang="en-US" sz="2800" dirty="0" smtClean="0"/>
                  <a:t>	take one with largest eigenvalue</a:t>
                </a:r>
              </a:p>
              <a:p>
                <a:pPr algn="l" rtl="0"/>
                <a:r>
                  <a:rPr lang="en-US" sz="2800" dirty="0" smtClean="0">
                    <a:solidFill>
                      <a:srgbClr val="00B050"/>
                    </a:solidFill>
                  </a:rPr>
                  <a:t>Statistically consistent </a:t>
                </a:r>
                <a:r>
                  <a:rPr lang="en-US" sz="2800" dirty="0" smtClean="0"/>
                  <a:t>but </a:t>
                </a:r>
                <a:r>
                  <a:rPr lang="en-US" sz="2800" dirty="0" smtClean="0">
                    <a:solidFill>
                      <a:srgbClr val="FF0000"/>
                    </a:solidFill>
                  </a:rPr>
                  <a:t>NP-hard</a:t>
                </a:r>
                <a:r>
                  <a:rPr lang="en-US" sz="2800" dirty="0" smtClean="0"/>
                  <a:t> </a:t>
                </a:r>
                <a:r>
                  <a:rPr lang="en-US" sz="2800" dirty="0" smtClean="0">
                    <a:sym typeface="Wingdings" panose="05000000000000000000" pitchFamily="2" charset="2"/>
                  </a:rPr>
                  <a:t></a:t>
                </a:r>
                <a:endParaRPr lang="en-US" sz="2800" dirty="0" smtClean="0"/>
              </a:p>
              <a:p>
                <a:pPr algn="l" rtl="0"/>
                <a:r>
                  <a:rPr lang="en-US" sz="2800" dirty="0" smtClean="0"/>
                  <a:t>Planted clique can always be solved in 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funcPr>
                          <m:fName>
                            <m:r>
                              <a:rPr lang="en-US" sz="2800" b="0" i="1" smtClean="0">
                                <a:latin typeface="Cambria Math"/>
                              </a:rPr>
                              <m:t>𝑂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)</m:t>
                            </m:r>
                          </m:e>
                        </m:func>
                      </m:sup>
                    </m:sSup>
                  </m:oMath>
                </a14:m>
                <a:endParaRPr lang="en-US" sz="2800" b="0" dirty="0" smtClean="0"/>
              </a:p>
              <a:p>
                <a:pPr algn="l" rtl="0"/>
                <a:r>
                  <a:rPr lang="en-US" sz="2800" dirty="0" smtClean="0"/>
                  <a:t>Single Spike PCA? Still open …</a:t>
                </a:r>
              </a:p>
              <a:p>
                <a:pPr marL="0" indent="0" algn="l" rtl="0">
                  <a:buNone/>
                </a:pPr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705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66" name="Picture 170" descr="http://cdn1.moneywise.co.uk/files/imagecache/article_header/images/articles/no_entry_sig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694" y="3341283"/>
            <a:ext cx="673098" cy="44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US" dirty="0" smtClean="0"/>
              <a:t>Semi-definite Programming Approach</a:t>
            </a:r>
            <a:endParaRPr lang="he-IL" dirty="0"/>
          </a:p>
        </p:txBody>
      </p:sp>
      <p:sp>
        <p:nvSpPr>
          <p:cNvPr id="7" name="TextBox 6"/>
          <p:cNvSpPr txBox="1"/>
          <p:nvPr/>
        </p:nvSpPr>
        <p:spPr>
          <a:xfrm>
            <a:off x="4932040" y="3041084"/>
            <a:ext cx="3600400" cy="11079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200" dirty="0" smtClean="0"/>
              <a:t>SDP Relaxation </a:t>
            </a:r>
          </a:p>
          <a:p>
            <a:pPr algn="l" rtl="0"/>
            <a:r>
              <a:rPr lang="en-US" sz="2200" dirty="0" smtClean="0"/>
              <a:t>[</a:t>
            </a:r>
            <a:r>
              <a:rPr lang="en-US" sz="2200" dirty="0" err="1" smtClean="0"/>
              <a:t>d`Aspremont</a:t>
            </a:r>
            <a:r>
              <a:rPr lang="en-US" sz="2200" dirty="0" smtClean="0"/>
              <a:t> </a:t>
            </a:r>
            <a:r>
              <a:rPr lang="en-US" sz="2200" dirty="0"/>
              <a:t>et al. </a:t>
            </a:r>
            <a:r>
              <a:rPr lang="en-US" sz="2200" dirty="0" smtClean="0"/>
              <a:t>2004]</a:t>
            </a:r>
            <a:endParaRPr lang="he-IL" sz="2200" dirty="0"/>
          </a:p>
          <a:p>
            <a:pPr algn="l" rtl="0"/>
            <a:endParaRPr lang="he-IL" sz="2200" dirty="0"/>
          </a:p>
        </p:txBody>
      </p:sp>
      <p:sp>
        <p:nvSpPr>
          <p:cNvPr id="8" name="Down Arrow 7"/>
          <p:cNvSpPr/>
          <p:nvPr/>
        </p:nvSpPr>
        <p:spPr>
          <a:xfrm>
            <a:off x="4376518" y="3096836"/>
            <a:ext cx="398515" cy="86409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39552" y="1556792"/>
                <a:ext cx="2016224" cy="9541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en-US" sz="2800" dirty="0" smtClean="0"/>
                  <a:t>Feasible solution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𝑎</m:t>
                    </m:r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556792"/>
                <a:ext cx="2016224" cy="954107"/>
              </a:xfrm>
              <a:prstGeom prst="rect">
                <a:avLst/>
              </a:prstGeom>
              <a:blipFill rotWithShape="0"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own Arrow 12"/>
          <p:cNvSpPr/>
          <p:nvPr/>
        </p:nvSpPr>
        <p:spPr>
          <a:xfrm>
            <a:off x="827584" y="3068960"/>
            <a:ext cx="398515" cy="86409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-180528" y="4347101"/>
                <a:ext cx="3312368" cy="9541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800" dirty="0" smtClean="0"/>
                  <a:t>Feasible solution </a:t>
                </a: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𝑋</m:t>
                      </m:r>
                      <m:r>
                        <a:rPr lang="en-US" sz="2800" b="0" i="0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𝑎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528" y="4347101"/>
                <a:ext cx="3312368" cy="954107"/>
              </a:xfrm>
              <a:prstGeom prst="rect">
                <a:avLst/>
              </a:prstGeom>
              <a:blipFill rotWithShape="0">
                <a:blip r:embed="rId4"/>
                <a:stretch>
                  <a:fillRect t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own Arrow 14"/>
          <p:cNvSpPr/>
          <p:nvPr/>
        </p:nvSpPr>
        <p:spPr>
          <a:xfrm rot="10800000">
            <a:off x="1691680" y="3026088"/>
            <a:ext cx="398515" cy="86409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AutoShape 166" descr="data:image/jpeg;base64,/9j/4AAQSkZJRgABAQAAAQABAAD/2wCEAAkGBxQSEhIUEhQVFBUUFBgXFBQXFRcVFRUXFBQXFhYVFBQYHSggGBolHBQUIjEhJSkrLi4uFx8zODMsNygtLisBCgoKDg0OGhAQGywlHyQsLCwsLCwsLCwsLSwsLCwsLCwsLC8sLCwsLCwsLCwsLCwsLCwsLCwsLCwsLCwsLCwsLP/AABEIAOEA4AMBEQACEQEDEQH/xAAcAAEAAgMBAQEAAAAAAAAAAAAABAUDBgcCAQj/xABIEAABAwEFBAYHBQYDBwUAAAABAAIDBAURITFBBhJRYQcTIjJxgTNCUpGhscEUI0NicjRTY4KSsiSD0RVUdKKjwuEWJURkc//EABoBAQACAwEAAAAAAAAAAAAAAAACAwEEBQb/xAAyEQACAgEDAgQEBAYDAAAAAAAAAQIDEQQSMSFBBRNRYSIycYGRobHRI0JSweHwFBUz/9oADAMBAAIRAxEAPwDuKAIAgCAIAgCAIAgItfaMUDd6aRkY4ucG/NYbS5JxrlN4ismo1/SjRMvEXWTn+Gzs/wBTrgq3bHsbUdBY/mwikqOlGd3oqRjBxllx9zQo+a/QvWgh3k/siDLt3XvylpouQYX/ABJWPMkTWkqXZv7nxm1Fa7Otb5QNTe/Uz/x6/wCj8yRFb1dpXN84GpufqRdFf9H5k6n2gtIfjUsvIscz5FZUpEHRT6Nfcnw7Y1zMZaJsg4wS3n+lwClvl6Fb0tT+WWPqifSdIdITdN1tM7hNGWi/9YvCyrF3K5aKz+XD+hs1HWxytDonte06tcHD4KaafBrShKLxJYJCyRCAIAgCAIAgCAIAgCAIAgCAIAgNd2l20pKEXSyXv0iZ2pD5aeahKaibFOlst6pdPU5dtD0p1U14hupY+PelI8cmqiVrZ1afD4R56v8AI0KrtMyO3nl0r/blcXnyvyVW43lVhY4+gZWPPrXDgMEyZ2JEiJ/ErJFonwShZINFjBOEyRcSxp5wpZIOJZ08wWclbiWlLNwKzkqcS0ZLvC54a8cHAO+alkqcccEI7LU5dvwGSkk9qBxaL+bMim1djPnTSxLqvcmRWpaNGPvGtr4Rm9lzJwObcnfBZ3SXuVOqizj4X+RsdgbUU1YD1L+2O9E8bkrfFhxVkZqXBrW6edXzLp69i6UigIAgCAIAgCAIAgCAIAgI9oV0cEbpJntYxovLnG4BYbS5JQhKb2xXU41tl0qyTb0dFfFFkZiPvH/oHqjnmtad2eDtabw5R6z6v8v8nNZKgkk3kk5ucb3HxJVDZ1o1JGA81glg+LJFkiFhKyV4LKmoyVkw0WtNZyyVstKezOSzgg5FjDZvJZwQciZFZyzgg5kuKjIyWcEXJE2FrgslbwWNPKpJlUolnTycFJFEkQ7X2bgqrnOBjmHdniO5I08yM/NHFMQunXx1XoyFDb9VZxDLQBnp77mVkbcWj+OwfMJucfmJOmu7rV0fp+xu9LUska18bg9rhe1zTeCORVqeTQlFxeGZUMBAEAQBAEAQBAEBTbU7SwUERkmdngxg7zzwaPqoymorqX0aed0sRPz/ALW7VT18m/MbmA/dwg9hg0v9p3NaU7HJnptNoo0xNeOKrNtIbiwSwfHBZMNHyKIuOAvUiiRbUcLQQHOvd7DAXO9wWcFbsXY3KytnauS7qqJ93tTOEY8bjirVW/Q0rNXBcyX26mx0uxFoHN9LD4NdIforFUzUlrq/d/kWDNhav/fmjwpx9XLPlv1KnrYf0v8AH/Bl/wDRlaO7XMP6qcEfByz5b9TH/Lr7xf4/4MbrBtNmRpJxza6InlqsbJElqKn6r8yNJXzRftNBOwDN8V0zB47uKxxyixNS+WSf5EyzLSpqjCGZjnasJ3XjkWlFh8GJbo/MizNJdmLlnBDee44iEMNpk2FykiqSJe4HAtcA5pFxaReCOYUil9HlGo1NjTWa91RZ4MkBN89GTkNXwcDyVbi49Ym1G2F62W89n+5tdgW3DWRCWB14ycMnMdq17dCrIyUllGpbTKqW2RZKRUEAQBAEAQBAUu1m0kVBAZZcTlGwd57tGj/VRnNRWS/T0SuntR+eLetiasmdNOb3HutHdjbo1oXPnY5M9fpdJGmCSRVvCgjYkfGtWTCR7DVgzgkWfZsk8gjhjdLIfUaMubjkArIxbNS++MFnJ07ZvohJudXS3D9xFgPB0n+i2Y0+pw7vEf6Fn3f7HSrH2fpqVt0ELI+YHaPi44q5RS4ObZdZZ8zLNSKggCAIAgCAprZ2Wpar00LS7R47LxzDxjeouCfJdXqLK/lf27GvS2DXUeNJL9qiH/x58HgcI5dfNQ2yXHU2VdVZ8y2v1XH4EmxdoYahxiIdBO3vU8vZeP0394cwiaYsrlBZ5Xqi76tZK8maPBZIMlMKkVM07aKwpaWU19ngb93+Ip8mTtGZHB44quUWnuiblN0bI+Vbx2fobLs/bUVZC2aE3g5tPeY4ZtcNCFOMlJZRq3VSqltkWSkVBAEAQBARbUtBlPFJNKd1kbS5x8NBzWG8LLJ1wc5KMeWfnbai3pK+czyXhowhj0Yy/wDuOq59tm5nsfD9FGmBTOCpOi0YHtWUVSQasmEZWXXtvvLQ4b4bg4t13TxWYtZ6lV8ZuPwn6L2EhohSsdQBojcMT65dr1hz3l0YbcdDx2qdu/Fn+PsbGpmsEAQBAEAQBAEAQBAU+0OzcFY0CVtz29yVvZkYeLXjHyUZQUi6nUTq449OxrcVqVFnvbFaB62Bx3Yq0DK/JtQPVPNV5cekvxNrZC1bque8f2NtYQQCCCCLwRiCOIVhrGRrkMNGUPWSGDSLdp3WbOa6nbfBIQKyBoy/jsHEaqqXwvcjdqkr4eVPn+V/2N4pKlsrGyMIc17Q5pGRBF4KtTyaMouLaZlWSIQBAEBxbpS2k+1TmmjP3FO77wg4SSj1eYb81p32dkej8J0XTfLv+n+TRnrTPS4MbmIYML2LJBowltyyVtHphQyi/wBktpZbPm6yK90bvTQ6PHtNGjgrarXFnP12hjfHK5P0DYVsxVcLJoHBzHDzadWuGhC6EZJrKPJW1SqltkWCyVhAEAQBAEAQBAEAQGGrpWSsdHI0PY4EOa4Xgg6ELDWSUZOLzHk0QdZY8gY8uks6R1zHm9zqRxODXHMx6A6Kr5OnY3+mpW6PSa5Xr7/U3IOBAIIIIvBGRB1CsNU+dZcsGdp9fc4FrgC1wucDkQcwVkjhrqjU9m5TZ9WaF5P2ecmSjcTgw5ug+oUI/C9ptXLzq/NXK6P9ze1ac8IAgNY6Q9oDR0jnM9NKerhH5nZu8hefJV2S2xNvRUedal2XJwt0e6A3O7Fx1LjmSVzJPLPc01qEcGIhRLT6GrJgxXgm64gE3NeR2XEZtByvCk4NLJrx1EJTcDxJColziRnMuUiprBkjcsEky+2U2kls+brIr3Ru9NDo8e03g4K6q1xZz9doI3xyuTv1h2xFVwsmgcHMcPMHVrhoRwXQjJNZR5C2qVctsiwWSsIAgCAIAgCAIAgCAw1dMyVjo5GhzHghzSLwQdCsNZJRk4vK5NJseR1n1IoZiTBJjRSuN92roHO4jRVL4Xtf2N6eLYebHn+Zf3NmlUipGNsqZMuJV7VWX9qpy1p3ZYz1kD9WyMxF3jksSWUSpn5c8vjhlpsfbYrKWOU4PF7JW6tkZg8EeOPmpwluRRqKvKsce3b6F0pFAQHFOkG1vtNdJdjHSDq2cDI7vu8slo6ifXB6jwfTYipPv1NRkK1D0JhKAlUFA+eSKCL0kzt0H2W+s88gFbXDczR1uoVUG2dxl2LpnULaIt7DG9l2Tw/94D7V+K6Plrbg8atXYrfMX++xxfaCw5aKbqJ8b/RS3XNlb9HDgufbU4M9doNdG+OHyVEsSqN9oiObuqRW1gyxuWCSZsGyu0EtBL1sN7mO9PBo8e0zg8K6q1xZzNfoY3RyuTvVh2xFVwtmgcHMd7wdWuGhC6EZJrKPJW1SrltkT1krCAIAgCAIAgCAIAgKjaqw21lO+Indd3onjNkjcWOHmoyjuRdRb5U89u/0KbZm1nVEBEo3Z4HGKdvB7fW8CMVBPKNmyChLpw+qJUz7isEksnuOZZyQcSmsmT7JabmZQ17d9o0bPGO0P5h8liPSX1JWrzKM94/ob4rjnlbtJaYpaWec/hxkjmbsB77lGTwsltNfmWKPqcDLC1jQ7Fzr3vPFzzvH5rmTeWe60sNsCFKVWbZjiF5AWURk8LJ1LocsW8S1rxjJ93DfpG09pw/UfkuhRDCyeP8AFtS5z2L6v+x01bBxyr2jsGKthdDM28HFrh3mO0c06FRlFSWGW03SqluicJt+xJaKbqZ8b/RS+rK36O4hc62pwZ7LQ66N8cdyomhVR0GiG5u6VIqxglUsqwZfU2LZu3JaGXroBvMd6eDR49tnB4V9Vjizla7RRuj7ncrDtiKrhZNA7eY4eYOrXDQjgt+Mk1lHlbapVy2yJ6yVhAEAQBAEAQBAEAQGjbSxfY6+GqGEVUBT1HJ/4Uh+I9yqksSz6m/RLzKnDvHqvp3J9aLrxwWGTgQ4Z1hMnKJXbXNcabro/SUsjZ2XZ3MPbA8W3pLgU4U9r4fQ3+gqmyxxyNN7XtDgRzF6uTyjmTi4ycX2NK6Wqm+KmpwfTzAuH5Ihvn47vvVV7wsHR8Lr3WOXp/c5nXuvc481zXye0rWIpFVJiVEsPcVK5wDWd6V7YmeLzdf8VbWss0tbaoQP0hZFA2nhihYLmxsa0eQuXUSwsHhLJucnJ9yWskAgKvaOwYa2F0MzbwcWu9ZjtHNOhUZRUlhltN0qpbonCresWWim6ioF9/opfVlb46O4hc62pxZ7LQ6+N8fcqZ4VUb7RCILSpFbWCyo6hERaL/Z+2ZaGXroO0x3p4NJB7bBkHj4q+uxxZy9Zo42xO2WJa8VXCyaB28xw8wdWuGhC3oyTWUeXtqlXLbInrJWEAQBAEAQBAEAQFPtbZIqqSeHVzCWHg9uLHDmCAozWVgu09nl2KX+4NZsi0ftFJBKe85l0g1D2YOB53hVZysm/t2zcSM6W5yiW46EuGQO7JycC0+DhcpIpku5N6MJz9jMLj2qaWSIjgA69g/pcFOvjBr61fxN3qk/3Nb6RJi60GDSClLh+qV93yYqNQ+p0/B4fDn1f6Gj1QWiz1USA1t5WCbNt2As7rbQpgRhCx0zuTj2WX+8rc08ep53xm7EGvXodtW8eVCAIAgKvaOwYa2F0UzbwcWuHeY7RzToVGUVJYZbTdKqW6Jwq3bFmo5uonF9/opbuzM3x0cNQudbU4s9loddG+OG+pUzQqo32iK0lpUitotqKpWUVyReWFbEtDKZ4BvMd+0U+jx7cY0ePir67HFnL1mkjbE7RYlrxVcLZoHBzHDzadWuGhHBbsZJrKPM21SrltkT1krCAIAgCAIAgCAIDm1nx9TUWjT3XBkwmjH5Jhef+beVHDaOqnujCXqsfgRa6S4qDNiK6HuGoyWUVyiWexM25aFdH6sscU7RzuLHn4NVkPmZrapZqi/RtGubUP366vdnd1UY5brbyPeSta99WdjwmOIR+5q1WFqM9DEiwMWESkdH6KqYGprZPYZFF8C8/RdHTo8f4xPLS+p0xbJxAgCAIAgKraSwIa2F0MwvBxa4d5jtHNOhUZRUlhltN0qpbonDLdsaWjm6ioz/ClybK3TwdxC59tTiz2Oh10b4+5UzQqk6DRgY4tKkVNFvRVWSkmVSiXNiWvLQymenG8x37RT6PGr2cHge9XV2OLOZq9JG2J2axLXiq4WTQODmOHmDq1w0I4LdjJNZR5q2qVctsieslYQBAEAQBAEAQGgbTN3LUYQLuvo3Bx4mJ4u+DlTP5jo6Z5q+j/UoLUkVTN+CMME+CyiMkXGzcwFp0x/e0sjPNjmuH1U4/MjUvX8GXs0UloYzV5/8Atke5oWvdyzs+G/JH6FFXNWszuVmKiZi3xHzWEZsfRnUOiuIBlY7V1SQf5Y2D6rp0L4TxPiks2pexvKuOYEAQBAEAQFVtJYMVbC6GYYHFrh3mO0c08QoyipLDLabpVS3ROGW5Y8tHN1FRiT6KXJsrR8ncQufbU4s9joddG+PuVUsSpOg0YWOLSpFTRbUVXkpJlUolxYlsS0MpnpxvMd+0U9+Eg9tnB4+KurscWczV6SNsep2axLXiq4WTQO3mOHmDq1w0I4LdjJNZR5q2qVctsieslYQBAEAQBAEBo23vZrLOdx69vluA/RVWco39J8sl9DTrVlzVDOnFEKmnwWUJIvdnX319nH/9x/yKceUad/8A5z+xGqm/e1//ABh+LQqbuWdXw5/BH6FJXsWrI7dTMdA3FviPmkSVvDOm9GDuxWN1bVOJ/mjYQulR8p4nxNfxU/Y3VXHNCAIAgCAIAgKraSwIa2F0MzbwcWuHeY7RzToVGUVJYZbTdKqW6Jwy27Hmo5uoqMSfRSjuzN+juIXPtqcWey0OujfH3KuaJUm+0YGOLSpFTRa0lXzUkyqUS3sO2ZKGUzwDeY79op8g8e3GNHj4q6uzazm6vRxtidosS14quFk0Dg5jh5g6tcNCOC3YyTWUeZtqlXLbInrJWEAQBAEAQGh9Izv8TZ3J0x/6YH1VVnKN/RfLL7Gg2tPmtdnXiiDTTYLKMSRsuyT766z/ABmP/TVkOUaWoX8Of2/UmWpFdV2kz+JFJ/Wz/wAKq5dWbvh0vgh9yiro8FqyO9UyJRjLxWEW2G/9HEgbVV8ftdVKByLS0/2roUPk8d4rHrF/VHQFsHICAIAgCAIAgCAqtpLAhroXRTNvGbXDvMdo5p0KjKKksMupulVLdE4Zbdjy0cxgqBj+FL6srdMdHcQufbU4s9joddG+K69SqmiVJvtEdry0qRU0WVJV81nJBxLiwLcloZTNAC5jj9/T34PGsjODx8VdXY4s5us0cbY+52yxLXiq4WTQODmOHmDq1w0I4LejJNZR5e2qVctsieslYQBAEAQHM+kSf/3CAX4R0sjruBe8AfAKi19TqaGPwP3Zz21KjNUHVSIsM2CyRaN16PY9+0Kb+HTyv/qLWj5lW1/MjQ1bxVL3aLvaiHdtN4uwqKQEc3QuP0cFi5dSzw6f8P6P9TXqyPBackeirl1K6mbcSFBGzPg2nZep6q0KZ2AbUwOhJ/PGd9g/uW7Q+p5nxOvMH7PJ1FbZ54IAgCAIAgCAIAgKraSwIa2F0Uwwza4YOY4ZOadCoyipLDLqbpVS3ROGW5ZEtHMYKgY/hS3dmZvEHRw1C51tTiz2Oh10b4+5UzRKo32iIHFpUiton01UmSLRc7O7QSUEpmhvdG4/fwaPHtxjR4+KvrtcWc3W6GN0fc7lYlrxVcLZoHBzHDzB1a4aEcFvRkmso8rbVKuW2RPWSsIAgCA4htfaO/XVz9G7kDeHYF5I8ytSx9Wd/R14rivv+JpddUXlVm80Y2SrJDB1Hojg3qqqk/dwxRg83FziPgFfVycrXvFcV6tl90jRbklDU6RymJ50DJ23Xn+YN96zcuGQ8On1lD1WfwNfrqa4uHArTkj0dNmUmUvV3PVXc385iTawubB1rPSUsjZ2cw3vt8xePNXweDlaqCk8PhrB16iqmyxskab2vaHA8nC9b6eVk8lKLjJxfYzrJEIAgCAIAgCAIAgKraWwIa6F0MwwOLXDvMdo5p0KjKKksMupulVLdE4XblkS0cxgqM84pfVmby4O4hc62pxZ7HQ66N8fcqZ4lUb7RCN7SpFbWCVBUrBnGS62Y2lkoJjLF2o3H7+DRw9tnB4+KvqtcWc3XaCN0crk71YtrRVcLJoHBzHjDiDqHDQjgt+Mk1lHkrK5Vy2yJyyVhAQbctFtNTzTOyjY53uGA96xJ4WSyqDsmorufmqorTuje7zy6R/6nm8/NaMmepqikslXJNeVgyzPROve0c7z4BZRGfRHdOh2j3aN8xzqJnPH6W3Mb5dm/wA1tVLpk4OvlmxR9F/k2Ta6yvtVHPF6xZew53Pb2mn3gKc1lYNfT2eXYpGi0NR19PDLkXN3Xjg9nZcD5habWep6SuW1uJArqe43qmSOjVZlYJdmkX44gi5w4g4FTgUaiOUzYejesMYmoZD26Z18d/rQPJLCPDEe5bdT6YPOeIV/ErFw/wBTdVcc4IAgCAIAgCAIAgCAqtpLAiroXRTDDNrh3mO0c06FRlFSWGXU3SqluicKtyx5aOYwVGf4UvqytGvJ3ELnW1OLPY6HXRvj7lTPEqjfaIThulSK+DIx6wSTL3ZPaeWz5usjvdE8/fQ34OHts4OCuqtcWc3X6CN0crk79YtrxVcLJoHBzHjDiDq1w0I4LoRkmso8jbVKuW2ROWSs5V03W8AyKjacXkSTcmNPZB8SPgqLpdjq+HUt5n9l/c4xPMXElap3cdMHhDGCbZkLnEhuLnkRs/U83fVSRVY13P1JYlninp4YW5Rxtb7hj8b1vRWFg8tbNzm5PuTlkgc1jpfs9bVUpwZKftNPw7XpWDwdj5rVlHDaO7RburjP06M+1VNeFU0dCuzBCgjuNygjYm8rJmtFz4nQ1sIJkpuzKwZyQO7w5kYEeCui8dTm21qSdb4fHszpFn1rJ42SxneZI0OaeIK208rKPPTg4ScZcokLJEIAgCAIAgCAIAgCAqdpdn4a6ExTNv1Y4d5jtHNOhUZRUlhl1N8qpbonCrdseajmMFQMfwpR3Zm6EHR12YXOtqcWey0OujfFdepUzxKo3miE4bpUitrB6a9YM5L3ZHaiWz5t+O90Tj99Do4e2zg4fFX1WuLOZr9DG6OVydzO1dN9idWtkBhDN6/W/wBi72r8Llu71tyeX/41nm+Xjr/vU/Olu2m+qmlnl78rr7vZaMGtHgLlpTllnqdNp1CCwVRCgXtHkhZK2dE6I7C6+sa8jsUo3zwMjsGDyxK2Ko5Zydfdtra9en7neltHBCA1PpCsx74mVMIvnpHdY0DN7MpGebbz4hV2RysrsbuitUZ7JcS6fsRIJWTxsmjxZI0OHK/MeIKpaz1OlGTi9r7EKpprjeqnE3K7MrBmpTdzGRHEagqSK7FlYMNg13+zqgQPP+DqHEwPOUEpN5icdGk5c1bCW147HP1VPmx3JfEufdHRFsHICAIAgCAIAgCAIAgCAqdpdn4a6ExTDmx47zHaOadCoyipLDLqL5Uy3ROE27Y8tHMYKgY/hSZNlboR+biFzranFnstDro3wXXqVE0SqN5ohPbcpFTWA16BMydc7dLA9wjc4OdECdxzhk67ipqbxg1p6aMp7jA83qJczA9ZK5H2BuN91/AaknIBTRr2PofpHo62e+xUbGuH3sn3kp/M7JvkLgt6uO1Hl9Zd5tnThdEbQpmqEB8IvQHPI4P9nVhp3YUtW4vp3aRynvReBOI8VrtbXjszsQs86vcvmjz7ou6ilWHElC0rjFunkoYwbW7cj1U0rJo3RSjejeLiNRwI4ELJU8p5XJj2bt59HI2jrX7zHG6lqjk8aRSnR4yB1VkJ4+GRqanTKxO2pfVf3RvivOWEAQBAEAQBAEAQBAEBU7S7PxV0LophzY8d5jtHNKjKKksMuovlTLdE4Pb9jS0cxgqBjnFJd2ZmjUcHcQudbU4M9loddHUQ9ymmjVRvSREcLlIpawfN5ZMZPDnLJFsxnFZKmzovRDsp9on+0yD7mA9gEYPl0PMNz8bls0wy8nF8R1OyO1cv9Duq2jghAEAQFXtJYrKyB8L8Lxex47zHjuvaeIKjKO5YLaLnVNSRrezNpvcXUlV2aqAXHhMz1ZWcb1VH0fJ0LUklZD5X+TLaopr0cTNdmCuc3dzyVfBtp7jFWU0c0bopmh8bswcxzadCn1I4ae6PJDs63ZrNuZUkz0eTKkYyQjRszdWj2lOM3Hng1rtLG7Lh0l6dn9DfqOrZKxr43NexwvDmm8HzV6eeDlyi4vElhmZZIhAEAQBAEAQBAEAQGv7b2fSzUrxWOaxgxEhIBY7RzTx5aqE0mupsaWdkbF5fV+h+fCb97HeDXENku3esaMnbui5s0k+h7fTWTnH4kRpGqJa0YHMWclbieCxZyR2ltsvs/JXVDYIhnjI/SNmpPPgFbXByZoazURqi2z9J2PZkdLDHDE3dZG0Ac+JPEnNb6SSwjydlkrJOUu5NWSAQBAEAQGubYbNmqaySF3V1UOMMv/Y/i0qE4Z45NrTajy3iXWL5RD2bt8VQdHK3qqqLCaE4G/2mcWnioRlno+TYtq8vEovMXwybVwXrEkWVWYKiYFvgqn0N6OJGIVF1+RBzBxB8QsbiTqT5K2KhfA8yWfKIXE3vp33mnk8B6p5hSjLHBVbUprFiz790X9n7exgiOtjdSyZbzu1C4/llH1uV0bV3ObZoJrrX1X5m2wTteA5jg5pyLSCPeFaaLTXRmRDAQBAEAQBAYaqqZG0ukc1jRmXEAe8rDeCUYuTwkaFb/SlCy9lGw1D/AG+7C3nvZu8uCpnelwdLT+F2WP4un6nMratSarfv1UhkIN7WDCJn6W/Vac7XI9HpfD4VLj/fcgPdeqjoYI72oYMLmrJjBnsyzJamVsMDd+R3uaNXOOgCshByZparURqi22fobYvZaOz4BGztPdjLJq93+g0C6EIKKPIanUSunl8djYFM1ggCAIAgCAIDXNqtlhUls0Lupqo/RzDX8kg9ZqhOGeq5NrT6l1/DLrF9iqsjaEveaasb1FW31T3JgPXidkQeCrUuz5NuVSS31vMf0J9ZAoyRbVMpKuAjJUtHRrmnyV0k5Gahk2lBPgOrbxuuAe32XC8fFZ3kXp0yDFTxxnep5JaR38Jx6s+MZ7PwUlZjgqs0jmviSZb0m1FoR5up6oc74nn3YfBWq5nPs8Mg+E1+ZYRdIT2+loZhzjcyQfMFTV69DVl4XLtJfmSB0k0/rQ1Lf8kn5KXnRK/+tu9jzJ0l03qw1LvCIj+65Y86IXhlz9CBUdJrvwqKXxkexnyJUXqEXw8Im+WUFpdIFe+8B0FOPyjrH+92HwVUtSzeq8Fj36mm2lWOlO9NLLUH+I4lvkzJUStbOtToK4diP1pOGQ4DAKtvJuRgo9EfFgkfCEB5LVkwyTYlizVkwhp27zvXee5GOLj9FbXU5M52r10KY8/77Hd9jNkYbPi3WDekd6SU95x4Dg3kuhCCijyOp1U75ZfHobEpmsEAQBAEAQBAEAQFVtBs/BWM3Zm4jFkjezJGdHMcMQoyipcl1N86nmJp9RUVVndmsDqmmHdqmNvfGOEzR/cqWnHng6Vcq7usOkvT1+hPa9kzA+JzZGH1mm/38FFrPBfCTi8S6MrKqmBVTRvV2YKappSMlU4m/C1PkgSlwUOpsJRZGdU8VjJPyzz9tIycR5puMeUvQ8vtF3tn3puY8mPoR5K93tH3puZJVR9CJLUE5k+9YyTUERnvvWDODEWkoYPbY1kwetxDB8kaGi953Rz18AsqLZCdsY8mzbLbB1Fbc94dT0/tOF0sg/I05DmVtV0Z6s4Ot8VUfhj1f+8nZbDsWGkiEUDAxo97jxc7MlbsYqKwjzdts7ZbpMsFkrCAIAgCAIAgCAIAgCA+OaCLjiDmEBqNqbCs3zLRSOpJTidzGJ5/PFl5hVSqXK6G9VrpJbbFuX5lBWVlTT4V1MS3/eKe97DzczNqqlFrlHQqthL/AM5fZnmmnhqBfBKyTkDc4eLVW4+huRt2/MsEWqpCMwQq3E3K7U+GV0tICoOJsxsaIklEo7S1WkWSiWNpNWmF1GsYJeYYjSpgbzyadMDcfW0hOQJWcGHJLk8zRtj9I8N5ZuPgApKDZTPUQiXFi7LVdVd1MPVR/vpsPNrMyr4UNnK1Pi0IdE/wOibNdHdNTESS31Ew9eQdlp/IzILahVGJwdR4hbb04RuStNAIAgCAIAgCAIAgCAIAgCAIAgCAobX2Oo6k70kLQ/SRnYeP5mqDhFmxXqra+ifQo59iamP9mrSW6MnYJB4b4uKrdPozbh4gv5o/gVlRYtoNPbpYJh7UUu6T4NcFB0v0NyHiNf8AU19UV0sMo79BVN5tDXj4FVup+hsx18P60RHkawVY/wAkqPlFy1y9V+Ji3Ae7T1R/ySM/FPKZL/sIruvxMsdlVDz2KCoPN5awfNZVD9CEvFIL+ZE6n2NtB/4NPCOL5C8+5oU1p2a0/GIdm2W9J0aOdcamre4asiaI2/1Ym5WKhdzSs8Wm/lX4mz2NshR0txigbv8A7x3bf/U7FWqEVwaFmqts+Zl6pmuEAQBAEAQBAEAQBAEAQBAEAQBAEAQBAEAQBAfCgCA+oAgCAIAgCAIAgCAIAgCAID//2Q==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6" name="AutoShape 168" descr="data:image/jpeg;base64,/9j/4AAQSkZJRgABAQAAAQABAAD/2wCEAAkGBxQSEhIUEhQVFBUUFBgXFBQXFRcVFRUXFBQXFhYVFBQYHSggGBolHBQUIjEhJSkrLi4uFx8zODMsNygtLisBCgoKDg0OGhAQGywlHyQsLCwsLCwsLCwsLSwsLCwsLCwsLC8sLCwsLCwsLCwsLCwsLCwsLCwsLCwsLCwsLCwsLP/AABEIAOEA4AMBEQACEQEDEQH/xAAcAAEAAgMBAQEAAAAAAAAAAAAABAUDBgcCAQj/xABIEAABAwEFBAYHBQYDBwUAAAABAAIDBAURITFBBhJRYQcTIjJxgTNCUpGhscEUI0NicjRTY4KSsiSD0RVUdKKjwuEWJURkc//EABoBAQACAwEAAAAAAAAAAAAAAAACAwEEBQb/xAAyEQACAgEDAgQEBAYDAAAAAAAAAQIDEQQSMSFBBRNRYSIycYGRobHRI0JSweHwFBUz/9oADAMBAAIRAxEAPwDuKAIAgCAIAgCAIAgItfaMUDd6aRkY4ucG/NYbS5JxrlN4ismo1/SjRMvEXWTn+Gzs/wBTrgq3bHsbUdBY/mwikqOlGd3oqRjBxllx9zQo+a/QvWgh3k/siDLt3XvylpouQYX/ABJWPMkTWkqXZv7nxm1Fa7Otb5QNTe/Uz/x6/wCj8yRFb1dpXN84GpufqRdFf9H5k6n2gtIfjUsvIscz5FZUpEHRT6Nfcnw7Y1zMZaJsg4wS3n+lwClvl6Fb0tT+WWPqifSdIdITdN1tM7hNGWi/9YvCyrF3K5aKz+XD+hs1HWxytDonte06tcHD4KaafBrShKLxJYJCyRCAIAgCAIAgCAIAgCAIAgCAIAgNd2l20pKEXSyXv0iZ2pD5aeahKaibFOlst6pdPU5dtD0p1U14hupY+PelI8cmqiVrZ1afD4R56v8AI0KrtMyO3nl0r/blcXnyvyVW43lVhY4+gZWPPrXDgMEyZ2JEiJ/ErJFonwShZINFjBOEyRcSxp5wpZIOJZ08wWclbiWlLNwKzkqcS0ZLvC54a8cHAO+alkqcccEI7LU5dvwGSkk9qBxaL+bMim1djPnTSxLqvcmRWpaNGPvGtr4Rm9lzJwObcnfBZ3SXuVOqizj4X+RsdgbUU1YD1L+2O9E8bkrfFhxVkZqXBrW6edXzLp69i6UigIAgCAIAgCAIAgCAIAgI9oV0cEbpJntYxovLnG4BYbS5JQhKb2xXU41tl0qyTb0dFfFFkZiPvH/oHqjnmtad2eDtabw5R6z6v8v8nNZKgkk3kk5ucb3HxJVDZ1o1JGA81glg+LJFkiFhKyV4LKmoyVkw0WtNZyyVstKezOSzgg5FjDZvJZwQciZFZyzgg5kuKjIyWcEXJE2FrgslbwWNPKpJlUolnTycFJFEkQ7X2bgqrnOBjmHdniO5I08yM/NHFMQunXx1XoyFDb9VZxDLQBnp77mVkbcWj+OwfMJucfmJOmu7rV0fp+xu9LUska18bg9rhe1zTeCORVqeTQlFxeGZUMBAEAQBAEAQBAEBTbU7SwUERkmdngxg7zzwaPqoymorqX0aed0sRPz/ALW7VT18m/MbmA/dwg9hg0v9p3NaU7HJnptNoo0xNeOKrNtIbiwSwfHBZMNHyKIuOAvUiiRbUcLQQHOvd7DAXO9wWcFbsXY3KytnauS7qqJ93tTOEY8bjirVW/Q0rNXBcyX26mx0uxFoHN9LD4NdIforFUzUlrq/d/kWDNhav/fmjwpx9XLPlv1KnrYf0v8AH/Bl/wDRlaO7XMP6qcEfByz5b9TH/Lr7xf4/4MbrBtNmRpJxza6InlqsbJElqKn6r8yNJXzRftNBOwDN8V0zB47uKxxyixNS+WSf5EyzLSpqjCGZjnasJ3XjkWlFh8GJbo/MizNJdmLlnBDee44iEMNpk2FykiqSJe4HAtcA5pFxaReCOYUil9HlGo1NjTWa91RZ4MkBN89GTkNXwcDyVbi49Ym1G2F62W89n+5tdgW3DWRCWB14ycMnMdq17dCrIyUllGpbTKqW2RZKRUEAQBAEAQBAUu1m0kVBAZZcTlGwd57tGj/VRnNRWS/T0SuntR+eLetiasmdNOb3HutHdjbo1oXPnY5M9fpdJGmCSRVvCgjYkfGtWTCR7DVgzgkWfZsk8gjhjdLIfUaMubjkArIxbNS++MFnJ07ZvohJudXS3D9xFgPB0n+i2Y0+pw7vEf6Fn3f7HSrH2fpqVt0ELI+YHaPi44q5RS4ObZdZZ8zLNSKggCAIAgCAprZ2Wpar00LS7R47LxzDxjeouCfJdXqLK/lf27GvS2DXUeNJL9qiH/x58HgcI5dfNQ2yXHU2VdVZ8y2v1XH4EmxdoYahxiIdBO3vU8vZeP0394cwiaYsrlBZ5Xqi76tZK8maPBZIMlMKkVM07aKwpaWU19ngb93+Ip8mTtGZHB44quUWnuiblN0bI+Vbx2fobLs/bUVZC2aE3g5tPeY4ZtcNCFOMlJZRq3VSqltkWSkVBAEAQBARbUtBlPFJNKd1kbS5x8NBzWG8LLJ1wc5KMeWfnbai3pK+czyXhowhj0Yy/wDuOq59tm5nsfD9FGmBTOCpOi0YHtWUVSQasmEZWXXtvvLQ4b4bg4t13TxWYtZ6lV8ZuPwn6L2EhohSsdQBojcMT65dr1hz3l0YbcdDx2qdu/Fn+PsbGpmsEAQBAEAQBAEAQBAU+0OzcFY0CVtz29yVvZkYeLXjHyUZQUi6nUTq449OxrcVqVFnvbFaB62Bx3Yq0DK/JtQPVPNV5cekvxNrZC1bque8f2NtYQQCCCCLwRiCOIVhrGRrkMNGUPWSGDSLdp3WbOa6nbfBIQKyBoy/jsHEaqqXwvcjdqkr4eVPn+V/2N4pKlsrGyMIc17Q5pGRBF4KtTyaMouLaZlWSIQBAEBxbpS2k+1TmmjP3FO77wg4SSj1eYb81p32dkej8J0XTfLv+n+TRnrTPS4MbmIYML2LJBowltyyVtHphQyi/wBktpZbPm6yK90bvTQ6PHtNGjgrarXFnP12hjfHK5P0DYVsxVcLJoHBzHDzadWuGhC6EZJrKPJW1SqltkWCyVhAEAQBAEAQBAEAQGGrpWSsdHI0PY4EOa4Xgg6ELDWSUZOLzHk0QdZY8gY8uks6R1zHm9zqRxODXHMx6A6Kr5OnY3+mpW6PSa5Xr7/U3IOBAIIIIvBGRB1CsNU+dZcsGdp9fc4FrgC1wucDkQcwVkjhrqjU9m5TZ9WaF5P2ecmSjcTgw5ug+oUI/C9ptXLzq/NXK6P9ze1ac8IAgNY6Q9oDR0jnM9NKerhH5nZu8hefJV2S2xNvRUedal2XJwt0e6A3O7Fx1LjmSVzJPLPc01qEcGIhRLT6GrJgxXgm64gE3NeR2XEZtByvCk4NLJrx1EJTcDxJColziRnMuUiprBkjcsEky+2U2kls+brIr3Ru9NDo8e03g4K6q1xZz9doI3xyuTv1h2xFVwsmgcHMcPMHVrhoRwXQjJNZR5C2qVctsiwWSsIAgCAIAgCAIAgCAw1dMyVjo5GhzHghzSLwQdCsNZJRk4vK5NJseR1n1IoZiTBJjRSuN92roHO4jRVL4Xtf2N6eLYebHn+Zf3NmlUipGNsqZMuJV7VWX9qpy1p3ZYz1kD9WyMxF3jksSWUSpn5c8vjhlpsfbYrKWOU4PF7JW6tkZg8EeOPmpwluRRqKvKsce3b6F0pFAQHFOkG1vtNdJdjHSDq2cDI7vu8slo6ifXB6jwfTYipPv1NRkK1D0JhKAlUFA+eSKCL0kzt0H2W+s88gFbXDczR1uoVUG2dxl2LpnULaIt7DG9l2Tw/94D7V+K6Plrbg8atXYrfMX++xxfaCw5aKbqJ8b/RS3XNlb9HDgufbU4M9doNdG+OHyVEsSqN9oiObuqRW1gyxuWCSZsGyu0EtBL1sN7mO9PBo8e0zg8K6q1xZzNfoY3RyuTvVh2xFVwtmgcHMd7wdWuGhC6EZJrKPJW1SrltkT1krCAIAgCAIAgCAIAgKjaqw21lO+Indd3onjNkjcWOHmoyjuRdRb5U89u/0KbZm1nVEBEo3Z4HGKdvB7fW8CMVBPKNmyChLpw+qJUz7isEksnuOZZyQcSmsmT7JabmZQ17d9o0bPGO0P5h8liPSX1JWrzKM94/ob4rjnlbtJaYpaWec/hxkjmbsB77lGTwsltNfmWKPqcDLC1jQ7Fzr3vPFzzvH5rmTeWe60sNsCFKVWbZjiF5AWURk8LJ1LocsW8S1rxjJ93DfpG09pw/UfkuhRDCyeP8AFtS5z2L6v+x01bBxyr2jsGKthdDM28HFrh3mO0c06FRlFSWGW03SqluicJt+xJaKbqZ8b/RS+rK36O4hc62pwZ7LQ66N8cdyomhVR0GiG5u6VIqxglUsqwZfU2LZu3JaGXroBvMd6eDR49tnB4V9Vjizla7RRuj7ncrDtiKrhZNA7eY4eYOrXDQjgt+Mk1lHlbapVy2yJ6yVhAEAQBAEAQBAEAQGjbSxfY6+GqGEVUBT1HJ/4Uh+I9yqksSz6m/RLzKnDvHqvp3J9aLrxwWGTgQ4Z1hMnKJXbXNcabro/SUsjZ2XZ3MPbA8W3pLgU4U9r4fQ3+gqmyxxyNN7XtDgRzF6uTyjmTi4ycX2NK6Wqm+KmpwfTzAuH5Ihvn47vvVV7wsHR8Lr3WOXp/c5nXuvc481zXye0rWIpFVJiVEsPcVK5wDWd6V7YmeLzdf8VbWss0tbaoQP0hZFA2nhihYLmxsa0eQuXUSwsHhLJucnJ9yWskAgKvaOwYa2F0MzbwcWu9ZjtHNOhUZRUlhltN0qpbonCresWWim6ioF9/opfVlb46O4hc62pxZ7LQ6+N8fcqZ4VUb7RCILSpFbWCyo6hERaL/Z+2ZaGXroO0x3p4NJB7bBkHj4q+uxxZy9Zo42xO2WJa8VXCyaB28xw8wdWuGhC3oyTWUeXtqlXLbInrJWEAQBAEAQBAEAQFPtbZIqqSeHVzCWHg9uLHDmCAozWVgu09nl2KX+4NZsi0ftFJBKe85l0g1D2YOB53hVZysm/t2zcSM6W5yiW46EuGQO7JycC0+DhcpIpku5N6MJz9jMLj2qaWSIjgA69g/pcFOvjBr61fxN3qk/3Nb6RJi60GDSClLh+qV93yYqNQ+p0/B4fDn1f6Gj1QWiz1USA1t5WCbNt2As7rbQpgRhCx0zuTj2WX+8rc08ep53xm7EGvXodtW8eVCAIAgKvaOwYa2F0UzbwcWuHeY7RzToVGUVJYZbTdKqW6Jwq3bFmo5uonF9/opbuzM3x0cNQudbU4s9loddG+OG+pUzQqo32iK0lpUitotqKpWUVyReWFbEtDKZ4BvMd+0U+jx7cY0ePir67HFnL1mkjbE7RYlrxVcLZoHBzHDzadWuGhHBbsZJrKPM21SrltkT1krCAIAgCAIAgCAIDm1nx9TUWjT3XBkwmjH5Jhef+beVHDaOqnujCXqsfgRa6S4qDNiK6HuGoyWUVyiWexM25aFdH6sscU7RzuLHn4NVkPmZrapZqi/RtGubUP366vdnd1UY5brbyPeSta99WdjwmOIR+5q1WFqM9DEiwMWESkdH6KqYGprZPYZFF8C8/RdHTo8f4xPLS+p0xbJxAgCAIAgKraSwIa2F0MwvBxa4d5jtHNOhUZRUlhltN0qpbonDLdsaWjm6ioz/ClybK3TwdxC59tTiz2Oh10b4+5UzQqk6DRgY4tKkVNFvRVWSkmVSiXNiWvLQymenG8x37RT6PGr2cHge9XV2OLOZq9JG2J2axLXiq4WTQODmOHmDq1w0I4LdjJNZR5q2qVctsieslYQBAEAQBAEAQGgbTN3LUYQLuvo3Bx4mJ4u+DlTP5jo6Z5q+j/UoLUkVTN+CMME+CyiMkXGzcwFp0x/e0sjPNjmuH1U4/MjUvX8GXs0UloYzV5/8Atke5oWvdyzs+G/JH6FFXNWszuVmKiZi3xHzWEZsfRnUOiuIBlY7V1SQf5Y2D6rp0L4TxPiks2pexvKuOYEAQBAEAQFVtJYMVbC6GYYHFrh3mO0c08QoyipLDLabpVS3ROGW5Y8tHN1FRiT6KXJsrR8ncQufbU4s9joddG+PuVUsSpOg0YWOLSpFTRbUVXkpJlUolxYlsS0MpnpxvMd+0U9+Eg9tnB4+KurscWczV6SNsep2axLXiq4WTQO3mOHmDq1w0I4LdjJNZR5q2qVctsieslYQBAEAQBAEBo23vZrLOdx69vluA/RVWco39J8sl9DTrVlzVDOnFEKmnwWUJIvdnX319nH/9x/yKceUad/8A5z+xGqm/e1//ABh+LQqbuWdXw5/BH6FJXsWrI7dTMdA3FviPmkSVvDOm9GDuxWN1bVOJ/mjYQulR8p4nxNfxU/Y3VXHNCAIAgCAIAgKraSwIa2F0MzbwcWuHeY7RzToVGUVJYZbTdKqW6Jwy27Hmo5uoqMSfRSjuzN+juIXPtqcWey0OujfH3KuaJUm+0YGOLSpFTRa0lXzUkyqUS3sO2ZKGUzwDeY79op8g8e3GNHj4q6uzazm6vRxtidosS14quFk0Dg5jh5g6tcNCOC3YyTWUeZtqlXLbInrJWEAQBAEAQGh9Izv8TZ3J0x/6YH1VVnKN/RfLL7Gg2tPmtdnXiiDTTYLKMSRsuyT766z/ABmP/TVkOUaWoX8Of2/UmWpFdV2kz+JFJ/Wz/wAKq5dWbvh0vgh9yiro8FqyO9UyJRjLxWEW2G/9HEgbVV8ftdVKByLS0/2roUPk8d4rHrF/VHQFsHICAIAgCAIAgCAqtpLAhroXRTNvGbXDvMdo5p0KjKKksMupulVLdE4Zbdjy0cxgqBj+FL6srdMdHcQufbU4s9joddG+K69SqmiVJvtEdry0qRU0WVJV81nJBxLiwLcloZTNAC5jj9/T34PGsjODx8VdXY4s5us0cbY+52yxLXiq4WTQODmOHmDq1w0I4LejJNZR5e2qVctsieslYQBAEAQHM+kSf/3CAX4R0sjruBe8AfAKi19TqaGPwP3Zz21KjNUHVSIsM2CyRaN16PY9+0Kb+HTyv/qLWj5lW1/MjQ1bxVL3aLvaiHdtN4uwqKQEc3QuP0cFi5dSzw6f8P6P9TXqyPBackeirl1K6mbcSFBGzPg2nZep6q0KZ2AbUwOhJ/PGd9g/uW7Q+p5nxOvMH7PJ1FbZ54IAgCAIAgCAIAgKraSwIa2F0Uwwza4YOY4ZOadCoyipLDLqbpVS3ROGW5ZEtHMYKgY/hS3dmZvEHRw1C51tTiz2Oh10b4+5UzRKo32iIHFpUiton01UmSLRc7O7QSUEpmhvdG4/fwaPHtxjR4+KvrtcWc3W6GN0fc7lYlrxVcLZoHBzHDzB1a4aEcFvRkmso8rbVKuW2RPWSsIAgCA4htfaO/XVz9G7kDeHYF5I8ytSx9Wd/R14rivv+JpddUXlVm80Y2SrJDB1Hojg3qqqk/dwxRg83FziPgFfVycrXvFcV6tl90jRbklDU6RymJ50DJ23Xn+YN96zcuGQ8On1lD1WfwNfrqa4uHArTkj0dNmUmUvV3PVXc385iTawubB1rPSUsjZ2cw3vt8xePNXweDlaqCk8PhrB16iqmyxskab2vaHA8nC9b6eVk8lKLjJxfYzrJEIAgCAIAgCAIAgKraWwIa6F0MwwOLXDvMdo5p0KjKKksMupulVLdE4XblkS0cxgqM84pfVmby4O4hc62pxZ7HQ66N8fcqZ4lUb7RCN7SpFbWCVBUrBnGS62Y2lkoJjLF2o3H7+DRw9tnB4+KvqtcWc3XaCN0crk71YtrRVcLJoHBzHjDiDqHDQjgt+Mk1lHkrK5Vy2yJyyVhAQbctFtNTzTOyjY53uGA96xJ4WSyqDsmorufmqorTuje7zy6R/6nm8/NaMmepqikslXJNeVgyzPROve0c7z4BZRGfRHdOh2j3aN8xzqJnPH6W3Mb5dm/wA1tVLpk4OvlmxR9F/k2Ta6yvtVHPF6xZew53Pb2mn3gKc1lYNfT2eXYpGi0NR19PDLkXN3Xjg9nZcD5habWep6SuW1uJArqe43qmSOjVZlYJdmkX44gi5w4g4FTgUaiOUzYejesMYmoZD26Z18d/rQPJLCPDEe5bdT6YPOeIV/ErFw/wBTdVcc4IAgCAIAgCAIAgCAqtpLAiroXRTDDNrh3mO0c06FRlFSWGXU3SqluicKtyx5aOYwVGf4UvqytGvJ3ELnW1OLPY6HXRvj7lTPEqjfaIThulSK+DIx6wSTL3ZPaeWz5usjvdE8/fQ34OHts4OCuqtcWc3X6CN0crk79YtrxVcLJoHBzHjDiDq1w0I4LoRkmso8jbVKuW2ROWSs5V03W8AyKjacXkSTcmNPZB8SPgqLpdjq+HUt5n9l/c4xPMXElap3cdMHhDGCbZkLnEhuLnkRs/U83fVSRVY13P1JYlninp4YW5Rxtb7hj8b1vRWFg8tbNzm5PuTlkgc1jpfs9bVUpwZKftNPw7XpWDwdj5rVlHDaO7RburjP06M+1VNeFU0dCuzBCgjuNygjYm8rJmtFz4nQ1sIJkpuzKwZyQO7w5kYEeCui8dTm21qSdb4fHszpFn1rJ42SxneZI0OaeIK208rKPPTg4ScZcokLJEIAgCAIAgCAIAgCAqdpdn4a6ExTNv1Y4d5jtHNOhUZRUlhl1N8qpbonCrdseajmMFQMfwpR3Zm6EHR12YXOtqcWey0OujfFdepUzxKo3miE4bpUitrB6a9YM5L3ZHaiWz5t+O90Tj99Do4e2zg4fFX1WuLOZr9DG6OVydzO1dN9idWtkBhDN6/W/wBi72r8Llu71tyeX/41nm+Xjr/vU/Olu2m+qmlnl78rr7vZaMGtHgLlpTllnqdNp1CCwVRCgXtHkhZK2dE6I7C6+sa8jsUo3zwMjsGDyxK2Ko5Zydfdtra9en7neltHBCA1PpCsx74mVMIvnpHdY0DN7MpGebbz4hV2RysrsbuitUZ7JcS6fsRIJWTxsmjxZI0OHK/MeIKpaz1OlGTi9r7EKpprjeqnE3K7MrBmpTdzGRHEagqSK7FlYMNg13+zqgQPP+DqHEwPOUEpN5icdGk5c1bCW147HP1VPmx3JfEufdHRFsHICAIAgCAIAgCAIAgCAqdpdn4a6ExTDmx47zHaOadCoyipLDLqL5Uy3ROE27Y8tHMYKgY/hSZNlboR+biFzranFnstDro3wXXqVE0SqN5ohPbcpFTWA16BMydc7dLA9wjc4OdECdxzhk67ipqbxg1p6aMp7jA83qJczA9ZK5H2BuN91/AaknIBTRr2PofpHo62e+xUbGuH3sn3kp/M7JvkLgt6uO1Hl9Zd5tnThdEbQpmqEB8IvQHPI4P9nVhp3YUtW4vp3aRynvReBOI8VrtbXjszsQs86vcvmjz7ou6ilWHElC0rjFunkoYwbW7cj1U0rJo3RSjejeLiNRwI4ELJU8p5XJj2bt59HI2jrX7zHG6lqjk8aRSnR4yB1VkJ4+GRqanTKxO2pfVf3RvivOWEAQBAEAQBAEAQBAEBU7S7PxV0LophzY8d5jtHNKjKKksMuovlTLdE4Pb9jS0cxgqBjnFJd2ZmjUcHcQudbU4M9loddHUQ9ymmjVRvSREcLlIpawfN5ZMZPDnLJFsxnFZKmzovRDsp9on+0yD7mA9gEYPl0PMNz8bls0wy8nF8R1OyO1cv9Duq2jghAEAQFXtJYrKyB8L8Lxex47zHjuvaeIKjKO5YLaLnVNSRrezNpvcXUlV2aqAXHhMz1ZWcb1VH0fJ0LUklZD5X+TLaopr0cTNdmCuc3dzyVfBtp7jFWU0c0bopmh8bswcxzadCn1I4ae6PJDs63ZrNuZUkz0eTKkYyQjRszdWj2lOM3Hng1rtLG7Lh0l6dn9DfqOrZKxr43NexwvDmm8HzV6eeDlyi4vElhmZZIhAEAQBAEAQBAEAQGv7b2fSzUrxWOaxgxEhIBY7RzTx5aqE0mupsaWdkbF5fV+h+fCb97HeDXENku3esaMnbui5s0k+h7fTWTnH4kRpGqJa0YHMWclbieCxZyR2ltsvs/JXVDYIhnjI/SNmpPPgFbXByZoazURqi2z9J2PZkdLDHDE3dZG0Ac+JPEnNb6SSwjydlkrJOUu5NWSAQBAEAQGubYbNmqaySF3V1UOMMv/Y/i0qE4Z45NrTajy3iXWL5RD2bt8VQdHK3qqqLCaE4G/2mcWnioRlno+TYtq8vEovMXwybVwXrEkWVWYKiYFvgqn0N6OJGIVF1+RBzBxB8QsbiTqT5K2KhfA8yWfKIXE3vp33mnk8B6p5hSjLHBVbUprFiz790X9n7exgiOtjdSyZbzu1C4/llH1uV0bV3ObZoJrrX1X5m2wTteA5jg5pyLSCPeFaaLTXRmRDAQBAEAQBAYaqqZG0ukc1jRmXEAe8rDeCUYuTwkaFb/SlCy9lGw1D/AG+7C3nvZu8uCpnelwdLT+F2WP4un6nMratSarfv1UhkIN7WDCJn6W/Vac7XI9HpfD4VLj/fcgPdeqjoYI72oYMLmrJjBnsyzJamVsMDd+R3uaNXOOgCshByZparURqi22fobYvZaOz4BGztPdjLJq93+g0C6EIKKPIanUSunl8djYFM1ggCAIAgCAIDXNqtlhUls0Lupqo/RzDX8kg9ZqhOGeq5NrT6l1/DLrF9iqsjaEveaasb1FW31T3JgPXidkQeCrUuz5NuVSS31vMf0J9ZAoyRbVMpKuAjJUtHRrmnyV0k5Gahk2lBPgOrbxuuAe32XC8fFZ3kXp0yDFTxxnep5JaR38Jx6s+MZ7PwUlZjgqs0jmviSZb0m1FoR5up6oc74nn3YfBWq5nPs8Mg+E1+ZYRdIT2+loZhzjcyQfMFTV69DVl4XLtJfmSB0k0/rQ1Lf8kn5KXnRK/+tu9jzJ0l03qw1LvCIj+65Y86IXhlz9CBUdJrvwqKXxkexnyJUXqEXw8Im+WUFpdIFe+8B0FOPyjrH+92HwVUtSzeq8Fj36mm2lWOlO9NLLUH+I4lvkzJUStbOtToK4diP1pOGQ4DAKtvJuRgo9EfFgkfCEB5LVkwyTYlizVkwhp27zvXee5GOLj9FbXU5M52r10KY8/77Hd9jNkYbPi3WDekd6SU95x4Dg3kuhCCijyOp1U75ZfHobEpmsEAQBAEAQBAEAQFVtBs/BWM3Zm4jFkjezJGdHMcMQoyipcl1N86nmJp9RUVVndmsDqmmHdqmNvfGOEzR/cqWnHng6Vcq7usOkvT1+hPa9kzA+JzZGH1mm/38FFrPBfCTi8S6MrKqmBVTRvV2YKappSMlU4m/C1PkgSlwUOpsJRZGdU8VjJPyzz9tIycR5puMeUvQ8vtF3tn3puY8mPoR5K93tH3puZJVR9CJLUE5k+9YyTUERnvvWDODEWkoYPbY1kwetxDB8kaGi953Rz18AsqLZCdsY8mzbLbB1Fbc94dT0/tOF0sg/I05DmVtV0Z6s4Ot8VUfhj1f+8nZbDsWGkiEUDAxo97jxc7MlbsYqKwjzdts7ZbpMsFkrCAIAgCAIAgCAIAgCA+OaCLjiDmEBqNqbCs3zLRSOpJTidzGJ5/PFl5hVSqXK6G9VrpJbbFuX5lBWVlTT4V1MS3/eKe97DzczNqqlFrlHQqthL/AM5fZnmmnhqBfBKyTkDc4eLVW4+huRt2/MsEWqpCMwQq3E3K7U+GV0tICoOJsxsaIklEo7S1WkWSiWNpNWmF1GsYJeYYjSpgbzyadMDcfW0hOQJWcGHJLk8zRtj9I8N5ZuPgApKDZTPUQiXFi7LVdVd1MPVR/vpsPNrMyr4UNnK1Pi0IdE/wOibNdHdNTESS31Ew9eQdlp/IzILahVGJwdR4hbb04RuStNAIAgCAIAgCAIAgCAIAgCAIAgCAobX2Oo6k70kLQ/SRnYeP5mqDhFmxXqra+ifQo59iamP9mrSW6MnYJB4b4uKrdPozbh4gv5o/gVlRYtoNPbpYJh7UUu6T4NcFB0v0NyHiNf8AU19UV0sMo79BVN5tDXj4FVup+hsx18P60RHkawVY/wAkqPlFy1y9V+Ji3Ae7T1R/ySM/FPKZL/sIruvxMsdlVDz2KCoPN5awfNZVD9CEvFIL+ZE6n2NtB/4NPCOL5C8+5oU1p2a0/GIdm2W9J0aOdcamre4asiaI2/1Ym5WKhdzSs8Wm/lX4mz2NshR0txigbv8A7x3bf/U7FWqEVwaFmqts+Zl6pmuEAQBAEAQBAEAQBAEAQBAEAQBAEAQBAEAQBAfCgCA+oAgCAIAgCAIAgCAIAgCAID//2Q=="/>
          <p:cNvSpPr>
            <a:spLocks noChangeAspect="1" noChangeArrowheads="1"/>
          </p:cNvSpPr>
          <p:nvPr/>
        </p:nvSpPr>
        <p:spPr bwMode="auto">
          <a:xfrm>
            <a:off x="9075738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763688" y="1722550"/>
                <a:ext cx="5770984" cy="7940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>
                  <a:spcBef>
                    <a:spcPct val="20000"/>
                  </a:spcBef>
                </a:pPr>
                <a:r>
                  <a:rPr lang="en-US" sz="2800" dirty="0" smtClean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𝑃𝐶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800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charset="0"/>
                              </a:rPr>
                              <m:t>argmax</m:t>
                            </m:r>
                          </m:e>
                          <m:lim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80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charset="0"/>
                                  </a:rPr>
                                  <m:t>v</m:t>
                                </m:r>
                              </m:e>
                            </m:d>
                            <m:r>
                              <a:rPr lang="en-US" sz="2800" b="0" i="1" smtClean="0">
                                <a:latin typeface="Cambria Math" charset="0"/>
                              </a:rPr>
                              <m:t>=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8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charset="0"/>
                                      </a:rPr>
                                      <m:t>v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≤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𝑘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sz="2800" i="1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̅"/>
                            <m:ctrlPr>
                              <a:rPr lang="en-US" sz="28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sz="28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v</m:t>
                        </m:r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1722550"/>
                <a:ext cx="5770984" cy="79406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331640" y="4509120"/>
                <a:ext cx="7231658" cy="7927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>
                  <a:spcBef>
                    <a:spcPct val="20000"/>
                  </a:spcBef>
                </a:pPr>
                <a:r>
                  <a:rPr lang="en-US" sz="2800" dirty="0" smtClean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𝑋</m:t>
                        </m:r>
                      </m:e>
                      <m:sup>
                        <m:r>
                          <a:rPr lang="en-US" sz="2800" b="0" i="1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800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sz="280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sz="2800" b="0" i="1" smtClean="0">
                                <a:latin typeface="Cambria Math" charset="0"/>
                              </a:rPr>
                              <m:t>=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8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charset="0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≤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𝑋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≽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𝑡𝑟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sz="28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X</m:t>
                        </m:r>
                        <m:r>
                          <a:rPr lang="en-US" sz="28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4509120"/>
                <a:ext cx="7231658" cy="79271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2366" y="6146140"/>
                <a:ext cx="84661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914400" rtl="0" eaLnBrk="1" latinLnBrk="0" hangingPunct="1"/>
                <a:r>
                  <a:rPr lang="en-US" sz="2800" dirty="0" smtClean="0"/>
                  <a:t>How to round a solution? Take leading eigenvector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charset="0"/>
                      </a:rPr>
                      <m:t>𝑋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66" y="6146140"/>
                <a:ext cx="8466138" cy="523220"/>
              </a:xfrm>
              <a:prstGeom prst="rect">
                <a:avLst/>
              </a:prstGeom>
              <a:blipFill rotWithShape="0">
                <a:blip r:embed="rId7"/>
                <a:stretch>
                  <a:fillRect l="-1440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70" descr="http://cdn1.moneywise.co.uk/files/imagecache/article_header/images/articles/no_entry_sig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" y="6149595"/>
            <a:ext cx="673098" cy="44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15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3" grpId="0"/>
      <p:bldP spid="13" grpId="0" animBg="1"/>
      <p:bldP spid="14" grpId="0"/>
      <p:bldP spid="15" grpId="0" animBg="1"/>
      <p:bldP spid="4" grpId="0"/>
      <p:bldP spid="18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SDP Dual</a:t>
            </a:r>
            <a:endParaRPr lang="he-IL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23528" y="3284984"/>
                <a:ext cx="8496944" cy="417005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marL="457200" indent="-457200" algn="l" rtl="0">
                  <a:buFont typeface="Arial" charset="0"/>
                  <a:buChar char="•"/>
                </a:pPr>
                <a:r>
                  <a:rPr lang="en-US" sz="2800" dirty="0" smtClean="0"/>
                  <a:t>SD in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 charset="0"/>
                            <a:sym typeface="Symbol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  <a:sym typeface="Symbol"/>
                          </a:rPr>
                          <m:t></m:t>
                        </m:r>
                      </m:e>
                    </m:acc>
                  </m:oMath>
                </a14:m>
                <a:r>
                  <a:rPr lang="en-US" sz="2800" dirty="0" smtClean="0"/>
                  <a:t> are of order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1</m:t>
                    </m:r>
                    <m:r>
                      <a:rPr lang="en-US" sz="2800" b="0" i="1" smtClean="0">
                        <a:latin typeface="Cambria Math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2800" dirty="0" smtClean="0"/>
                  <a:t>, therefore</a:t>
                </a:r>
              </a:p>
              <a:p>
                <a:pPr algn="l" rtl="0"/>
                <a:endParaRPr lang="en-US" sz="2800" dirty="0" smtClean="0"/>
              </a:p>
              <a:p>
                <a:pPr marL="457200" indent="-457200" algn="l" rtl="0">
                  <a:buFont typeface="Arial" charset="0"/>
                  <a:buChar char="•"/>
                </a:pPr>
                <a:r>
                  <a:rPr lang="en-US" sz="2800" dirty="0" smtClean="0"/>
                  <a:t>If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𝑘</m:t>
                    </m:r>
                    <m:r>
                      <a:rPr lang="en-US" sz="2800" i="1" dirty="0" smtClean="0">
                        <a:latin typeface="Cambria Math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sz="2800" i="1" dirty="0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/</m:t>
                        </m:r>
                        <m:func>
                          <m:funcPr>
                            <m:ctrlPr>
                              <a:rPr lang="en-US" sz="2800" b="0" i="1" dirty="0" smtClean="0">
                                <a:latin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dirty="0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rad>
                  </m:oMath>
                </a14:m>
                <a:r>
                  <a:rPr lang="en-US" sz="2800" dirty="0" smtClean="0"/>
                  <a:t> 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𝑈</m:t>
                    </m:r>
                    <m:r>
                      <a:rPr lang="en-US" sz="2800" b="0" i="1" smtClean="0">
                        <a:latin typeface="Cambria Math"/>
                      </a:rPr>
                      <m:t>=−</m:t>
                    </m:r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charset="0"/>
                            <a:sym typeface="Symbol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  <a:sym typeface="Symbol"/>
                          </a:rPr>
                          <m:t></m:t>
                        </m:r>
                      </m:e>
                    </m:acc>
                  </m:oMath>
                </a14:m>
                <a:r>
                  <a:rPr lang="en-US" sz="2800" dirty="0" smtClean="0"/>
                  <a:t> is a feasible dual</a:t>
                </a:r>
              </a:p>
              <a:p>
                <a:pPr marL="457200" indent="-457200" algn="l" rtl="0">
                  <a:buFont typeface="Arial" charset="0"/>
                  <a:buChar char="•"/>
                </a:pPr>
                <a:endParaRPr lang="en-US" sz="2800" dirty="0"/>
              </a:p>
              <a:p>
                <a:pPr marL="457200" indent="-457200" algn="l" rtl="0">
                  <a:buFont typeface="Arial" charset="0"/>
                  <a:buChar char="•"/>
                </a:pPr>
                <a:r>
                  <a:rPr lang="en-US" sz="2800" dirty="0" smtClean="0"/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η</m:t>
                        </m:r>
                      </m:e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800" dirty="0">
                        <a:latin typeface="Cambria Math" charset="0"/>
                      </a:rPr>
                      <m:t>≤</m:t>
                    </m:r>
                    <m:r>
                      <a:rPr lang="en-US" sz="2800" b="0" i="0" dirty="0" smtClean="0">
                        <a:latin typeface="Cambria Math" charset="0"/>
                      </a:rPr>
                      <m:t>1</m:t>
                    </m:r>
                    <m:r>
                      <a:rPr lang="en-US" sz="2800" b="0" i="0" dirty="0" smtClean="0">
                        <a:latin typeface="Cambria Math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sz="28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β</m:t>
                    </m:r>
                  </m:oMath>
                </a14:m>
                <a:r>
                  <a:rPr lang="en-US" sz="2800" dirty="0" smtClean="0"/>
                  <a:t>,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800" i="1" smtClean="0">
                            <a:latin typeface="Cambria Math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𝑟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sz="2800" b="1" i="0">
                                <a:latin typeface="Cambria Math" charset="0"/>
                              </a:rPr>
                              <m:t>𝐳</m:t>
                            </m:r>
                          </m:e>
                          <m:sup>
                            <m:r>
                              <a:rPr lang="en-US" sz="2800" i="1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̅"/>
                            <m:ctrlPr>
                              <a:rPr lang="en-US" sz="2800" b="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Σ</m:t>
                            </m:r>
                          </m:e>
                        </m:acc>
                        <m:r>
                          <a:rPr lang="en-US" sz="2800" b="1" i="0" smtClean="0">
                            <a:latin typeface="Cambria Math" charset="0"/>
                          </a:rPr>
                          <m:t>𝐳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)</m:t>
                        </m:r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≈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1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  <m:sup/>
                    </m:sSup>
                  </m:oMath>
                </a14:m>
                <a:endParaRPr lang="en-US" sz="2800" dirty="0" smtClean="0"/>
              </a:p>
              <a:p>
                <a:pPr algn="l" rtl="0"/>
                <a:endParaRPr lang="en-US" sz="2800" dirty="0"/>
              </a:p>
              <a:p>
                <a:pPr algn="l" rtl="0"/>
                <a:r>
                  <a:rPr lang="en-US" sz="2800" dirty="0" smtClean="0"/>
                  <a:t> </a:t>
                </a:r>
              </a:p>
              <a:p>
                <a:pPr algn="l" rtl="0"/>
                <a:endParaRPr lang="en-US" sz="2800" dirty="0"/>
              </a:p>
              <a:p>
                <a:pPr algn="l" rtl="0"/>
                <a:endParaRPr lang="he-IL" sz="28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284984"/>
                <a:ext cx="8496944" cy="4170052"/>
              </a:xfrm>
              <a:prstGeom prst="rect">
                <a:avLst/>
              </a:prstGeom>
              <a:blipFill rotWithShape="0">
                <a:blip r:embed="rId3"/>
                <a:stretch>
                  <a:fillRect l="-1291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23528" y="1052736"/>
                <a:ext cx="7231658" cy="7927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>
                  <a:spcBef>
                    <a:spcPct val="20000"/>
                  </a:spcBef>
                </a:pPr>
                <a:r>
                  <a:rPr lang="en-US" sz="2800" dirty="0" smtClean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𝑋</m:t>
                        </m:r>
                      </m:e>
                      <m:sup>
                        <m:r>
                          <a:rPr lang="en-US" sz="2800" b="0" i="1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800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sz="2800" i="1" smtClean="0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sz="2800" b="0" i="1" smtClean="0">
                                <a:latin typeface="Cambria Math" charset="0"/>
                              </a:rPr>
                              <m:t>=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1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800" b="0" i="1" smtClean="0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charset="0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≤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𝑋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≽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𝑡𝑟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sz="28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X</m:t>
                        </m:r>
                        <m:r>
                          <a:rPr lang="en-US" sz="28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052736"/>
                <a:ext cx="7231658" cy="79271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23528" y="2132856"/>
                <a:ext cx="7231658" cy="7997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>
                  <a:spcBef>
                    <a:spcPct val="20000"/>
                  </a:spcBef>
                </a:pPr>
                <a:r>
                  <a:rPr lang="en-US" sz="2800" dirty="0" smtClean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η</m:t>
                        </m:r>
                      </m:e>
                      <m:sup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800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800" i="1" smtClean="0">
                                <a:latin typeface="Cambria Math" charset="0"/>
                              </a:rPr>
                              <m:t>𝑈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hr-HR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sz="2800" b="0" i="1" smtClean="0">
                                        <a:latin typeface="Cambria Math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hr-HR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≤</m:t>
                            </m:r>
                            <m:r>
                              <a:rPr lang="hr-HR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/(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lim>
                        </m:limLow>
                        <m:sSub>
                          <m:sSubPr>
                            <m:ctrlPr>
                              <a:rPr lang="en-US" sz="28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</m:fName>
                      <m:e>
                        <m:acc>
                          <m:accPr>
                            <m:chr m:val="̅"/>
                            <m:ctrlPr>
                              <a:rPr lang="en-US" sz="28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Σ</m:t>
                            </m:r>
                          </m:e>
                        </m:acc>
                        <m:r>
                          <a:rPr lang="en-US" sz="2800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𝑈</m:t>
                        </m:r>
                        <m:r>
                          <a:rPr lang="en-US" sz="28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132856"/>
                <a:ext cx="7231658" cy="79970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81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 sz="4000" dirty="0" smtClean="0"/>
              <a:t>SDP Duality contd.</a:t>
            </a:r>
            <a:endParaRPr 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l" rtl="0">
                  <a:spcBef>
                    <a:spcPts val="672"/>
                  </a:spcBef>
                  <a:spcAft>
                    <a:spcPts val="600"/>
                  </a:spcAft>
                </a:pPr>
                <a:r>
                  <a:rPr lang="en-US" sz="2800" dirty="0" err="1" smtClean="0"/>
                  <a:t>Amini</a:t>
                </a:r>
                <a:r>
                  <a:rPr lang="en-US" sz="2800" dirty="0" smtClean="0"/>
                  <a:t> &amp; </a:t>
                </a:r>
                <a:r>
                  <a:rPr lang="en-US" sz="2800" dirty="0" err="1" smtClean="0"/>
                  <a:t>Wainright</a:t>
                </a:r>
                <a:r>
                  <a:rPr lang="en-US" sz="2800" dirty="0" smtClean="0"/>
                  <a:t> proved </a:t>
                </a:r>
                <a:r>
                  <a:rPr lang="en-US" sz="2800" dirty="0" smtClean="0"/>
                  <a:t>that for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𝑘</m:t>
                    </m:r>
                    <m:r>
                      <a:rPr lang="en-US" sz="2800" i="1" dirty="0">
                        <a:latin typeface="Cambria Math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sz="2800" i="1" dirty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 dirty="0">
                            <a:latin typeface="Cambria Math"/>
                          </a:rPr>
                          <m:t>𝑛</m:t>
                        </m:r>
                        <m:r>
                          <a:rPr lang="en-US" sz="2800" i="1" dirty="0">
                            <a:latin typeface="Cambria Math"/>
                          </a:rPr>
                          <m:t>/</m:t>
                        </m:r>
                        <m:func>
                          <m:funcPr>
                            <m:ctrlPr>
                              <a:rPr lang="en-US" sz="2800" i="1" dirty="0">
                                <a:latin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 dirty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rad>
                  </m:oMath>
                </a14:m>
                <a:r>
                  <a:rPr lang="en-US" sz="2800" dirty="0" smtClean="0"/>
                  <a:t> the SDP finds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latin typeface="Cambria Math" charset="0"/>
                      </a:rPr>
                      <m:t>𝐳</m:t>
                    </m:r>
                  </m:oMath>
                </a14:m>
                <a:endParaRPr lang="en-US" sz="2800" b="1" dirty="0" smtClean="0"/>
              </a:p>
              <a:p>
                <a:pPr marL="342900" indent="-342900" algn="l" defTabSz="914400" rtl="0" eaLnBrk="1" latinLnBrk="0" hangingPunct="1">
                  <a:spcBef>
                    <a:spcPts val="672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 smtClean="0"/>
                  <a:t>They conjectured that SDP works up to the information threshold</a:t>
                </a:r>
              </a:p>
              <a:p>
                <a:pPr algn="l" rtl="0">
                  <a:spcBef>
                    <a:spcPts val="672"/>
                  </a:spcBef>
                  <a:spcAft>
                    <a:spcPts val="600"/>
                  </a:spcAft>
                </a:pPr>
                <a:r>
                  <a:rPr lang="en-US" sz="2800" dirty="0" smtClean="0"/>
                  <a:t>For </a:t>
                </a:r>
                <a:r>
                  <a:rPr lang="en-US" sz="2800" dirty="0" smtClean="0"/>
                  <a:t>these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US" sz="2800" dirty="0" smtClean="0"/>
                  <a:t> values </a:t>
                </a:r>
                <a:r>
                  <a:rPr lang="en-US" sz="2800" dirty="0" smtClean="0"/>
                  <a:t>simple greedy works as well</a:t>
                </a:r>
              </a:p>
              <a:p>
                <a:pPr lvl="1" algn="l" rtl="0">
                  <a:spcBef>
                    <a:spcPts val="672"/>
                  </a:spcBef>
                  <a:spcAft>
                    <a:spcPts val="600"/>
                  </a:spcAft>
                </a:pPr>
                <a:r>
                  <a:rPr lang="en-US" dirty="0" smtClean="0"/>
                  <a:t>A bit disappointing </a:t>
                </a:r>
                <a:r>
                  <a:rPr lang="en-US" dirty="0" smtClean="0">
                    <a:sym typeface="Wingdings"/>
                  </a:rPr>
                  <a:t>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r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4509120"/>
            <a:ext cx="3004840" cy="22536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895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44624"/>
                <a:ext cx="8229600" cy="1143000"/>
              </a:xfrm>
            </p:spPr>
            <p:txBody>
              <a:bodyPr>
                <a:normAutofit/>
              </a:bodyPr>
              <a:lstStyle/>
              <a:p>
                <a:pPr algn="ctr" defTabSz="914400" rtl="0" eaLnBrk="1" latinLnBrk="0" hangingPunct="1">
                  <a:spcBef>
                    <a:spcPct val="0"/>
                  </a:spcBef>
                  <a:buNone/>
                </a:pPr>
                <a:r>
                  <a:rPr lang="en-US" sz="4000" dirty="0" smtClean="0"/>
                  <a:t>Does SDP work for larger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US" sz="4000" dirty="0" smtClean="0"/>
                  <a:t>?</a:t>
                </a:r>
                <a:endParaRPr lang="en-US" sz="4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44624"/>
                <a:ext cx="8229600" cy="1143000"/>
              </a:xfrm>
              <a:blipFill rotWithShape="0">
                <a:blip r:embed="rId2"/>
                <a:stretch>
                  <a:fillRect b="-3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647453"/>
                <a:ext cx="8363272" cy="3733875"/>
              </a:xfrm>
            </p:spPr>
            <p:txBody>
              <a:bodyPr>
                <a:normAutofit/>
              </a:bodyPr>
              <a:lstStyle/>
              <a:p>
                <a:pPr algn="l" rtl="0">
                  <a:spcAft>
                    <a:spcPts val="600"/>
                  </a:spcAft>
                </a:pPr>
                <a:r>
                  <a:rPr lang="en-US" sz="2800" dirty="0" smtClean="0"/>
                  <a:t>If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𝑘</m:t>
                    </m:r>
                    <m:r>
                      <a:rPr lang="en-US" sz="2800" i="1" dirty="0">
                        <a:latin typeface="Cambria Math"/>
                      </a:rPr>
                      <m:t>&lt;</m:t>
                    </m:r>
                    <m:r>
                      <a:rPr lang="en-US" sz="2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𝜀</m:t>
                    </m:r>
                    <m:rad>
                      <m:radPr>
                        <m:degHide m:val="on"/>
                        <m:ctrlPr>
                          <a:rPr lang="en-US" sz="2800" i="1" dirty="0">
                            <a:latin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i="1" dirty="0">
                            <a:latin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2800" dirty="0"/>
                  <a:t> then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charset="0"/>
                      </a:rPr>
                      <m:t>𝑈</m:t>
                    </m:r>
                  </m:oMath>
                </a14:m>
                <a:r>
                  <a:rPr lang="en-US" sz="2800" dirty="0" smtClean="0"/>
                  <a:t> can </a:t>
                </a:r>
                <a:r>
                  <a:rPr lang="en-US" sz="2800" dirty="0" smtClean="0"/>
                  <a:t>cancel most </a:t>
                </a:r>
                <a:r>
                  <a:rPr lang="en-US" sz="2800" dirty="0"/>
                  <a:t>noise </a:t>
                </a:r>
                <a:endParaRPr lang="en-US" sz="2800" dirty="0" smtClean="0"/>
              </a:p>
              <a:p>
                <a:pPr lvl="1" algn="l" rtl="0">
                  <a:spcAft>
                    <a:spcPts val="600"/>
                  </a:spcAft>
                </a:pPr>
                <a:r>
                  <a:rPr lang="en-US" sz="2400" dirty="0" smtClean="0"/>
                  <a:t>Fluctuations are typically smaller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charset="0"/>
                      </a:rPr>
                      <m:t>1</m:t>
                    </m:r>
                    <m:r>
                      <a:rPr lang="en-US" sz="2400" i="1" dirty="0" smtClean="0">
                        <a:latin typeface="Cambria Math" charset="0"/>
                      </a:rPr>
                      <m:t>/</m:t>
                    </m:r>
                    <m:r>
                      <a:rPr lang="en-US" sz="2400" i="1" dirty="0" smtClean="0">
                        <a:latin typeface="Cambria Math" charset="0"/>
                      </a:rPr>
                      <m:t>𝑘</m:t>
                    </m:r>
                  </m:oMath>
                </a14:m>
                <a:endParaRPr lang="en-US" sz="2400" dirty="0"/>
              </a:p>
              <a:p>
                <a:pPr algn="l" rtl="0">
                  <a:spcAft>
                    <a:spcPts val="600"/>
                  </a:spcAft>
                </a:pPr>
                <a:r>
                  <a:rPr lang="en-US" sz="2800" dirty="0" smtClean="0"/>
                  <a:t>Let</a:t>
                </a:r>
                <a:r>
                  <a:rPr lang="en-US" sz="2800" b="1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charset="0"/>
                          </a:rPr>
                          <m:t>𝒛</m:t>
                        </m:r>
                      </m:e>
                    </m:acc>
                  </m:oMath>
                </a14:m>
                <a:r>
                  <a:rPr lang="en-US" sz="2800" dirty="0" smtClean="0"/>
                  <a:t> be leading eigenvector of SDP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charset="0"/>
                          </a:rPr>
                          <m:t>𝑋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800" dirty="0" smtClean="0"/>
              </a:p>
              <a:p>
                <a:pPr algn="l" rtl="0"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800" b="1" i="1">
                            <a:latin typeface="Cambria Math" charset="0"/>
                          </a:rPr>
                          <m:t>𝒛</m:t>
                        </m:r>
                      </m:e>
                    </m:acc>
                  </m:oMath>
                </a14:m>
                <a:r>
                  <a:rPr lang="en-US" sz="2800" dirty="0" smtClean="0"/>
                  <a:t> gives a good approximation of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charset="0"/>
                      </a:rPr>
                      <m:t>𝒛</m:t>
                    </m:r>
                  </m:oMath>
                </a14:m>
                <a:endParaRPr lang="en-US" sz="2800" b="1" dirty="0" smtClean="0"/>
              </a:p>
              <a:p>
                <a:pPr marL="342900" indent="-342900" algn="l" defTabSz="9144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 smtClean="0"/>
                  <a:t>Similar idea: Covariance </a:t>
                </a:r>
                <a:r>
                  <a:rPr lang="en-US" sz="2800" dirty="0" err="1" smtClean="0"/>
                  <a:t>Thersholding</a:t>
                </a:r>
                <a:r>
                  <a:rPr lang="en-US" sz="2800" dirty="0" smtClean="0"/>
                  <a:t> (</a:t>
                </a:r>
                <a:r>
                  <a:rPr lang="en-US" sz="2800" dirty="0" err="1" smtClean="0"/>
                  <a:t>Montanari</a:t>
                </a:r>
                <a:r>
                  <a:rPr lang="en-US" sz="2800" dirty="0" smtClean="0"/>
                  <a:t>, Deshpande </a:t>
                </a:r>
                <a:r>
                  <a:rPr lang="en-US" sz="2800" dirty="0" smtClean="0"/>
                  <a:t>2013)</a:t>
                </a:r>
                <a:endParaRPr lang="en-US" sz="28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647453"/>
                <a:ext cx="8363272" cy="3733875"/>
              </a:xfrm>
              <a:blipFill rotWithShape="0">
                <a:blip r:embed="rId3"/>
                <a:stretch>
                  <a:fillRect l="-1312" t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79512" y="1405158"/>
                <a:ext cx="7231658" cy="7997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>
                  <a:spcBef>
                    <a:spcPct val="20000"/>
                  </a:spcBef>
                </a:pPr>
                <a:r>
                  <a:rPr lang="en-US" sz="2800" dirty="0" smtClean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η</m:t>
                        </m:r>
                      </m:e>
                      <m:sup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800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800" i="1" smtClean="0">
                                <a:latin typeface="Cambria Math" charset="0"/>
                              </a:rPr>
                              <m:t>𝑈</m:t>
                            </m:r>
                            <m:r>
                              <a:rPr lang="en-US" sz="2800" b="0" i="1" smtClean="0">
                                <a:latin typeface="Cambria Math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hr-HR" sz="2800" b="0" i="1" smtClean="0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sz="2800" b="0" i="1" smtClean="0">
                                        <a:latin typeface="Cambria Math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hr-HR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≤</m:t>
                            </m:r>
                            <m:r>
                              <a:rPr lang="hr-HR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/(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lim>
                        </m:limLow>
                        <m:sSub>
                          <m:sSubPr>
                            <m:ctrlPr>
                              <a:rPr lang="en-US" sz="28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</m:fName>
                      <m:e>
                        <m:acc>
                          <m:accPr>
                            <m:chr m:val="̅"/>
                            <m:ctrlPr>
                              <a:rPr lang="en-US" sz="28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Σ</m:t>
                            </m:r>
                          </m:e>
                        </m:acc>
                        <m:r>
                          <a:rPr lang="en-US" sz="2800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charset="0"/>
                          </a:rPr>
                          <m:t>𝑈</m:t>
                        </m:r>
                        <m:r>
                          <a:rPr lang="en-US" sz="28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405158"/>
                <a:ext cx="7231658" cy="79970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436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44624"/>
                <a:ext cx="8229600" cy="1143000"/>
              </a:xfrm>
            </p:spPr>
            <p:txBody>
              <a:bodyPr>
                <a:normAutofit/>
              </a:bodyPr>
              <a:lstStyle/>
              <a:p>
                <a:pPr algn="ctr" defTabSz="914400" rtl="0" eaLnBrk="1" latinLnBrk="0" hangingPunct="1">
                  <a:spcBef>
                    <a:spcPct val="0"/>
                  </a:spcBef>
                  <a:buNone/>
                </a:pPr>
                <a:r>
                  <a:rPr lang="en-US" sz="4000" dirty="0" smtClean="0"/>
                  <a:t>Does SDP work for larger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US" sz="4000" dirty="0" smtClean="0"/>
                  <a:t>?</a:t>
                </a:r>
                <a:endParaRPr lang="he-IL" sz="4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44624"/>
                <a:ext cx="8229600" cy="1143000"/>
              </a:xfrm>
              <a:blipFill rotWithShape="0">
                <a:blip r:embed="rId2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7293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r>
                  <a:rPr lang="en-US" sz="2800" dirty="0" err="1" smtClean="0"/>
                  <a:t>Thm</a:t>
                </a:r>
                <a:r>
                  <a:rPr lang="en-US" sz="2800" dirty="0" smtClean="0"/>
                  <a:t> [</a:t>
                </a:r>
                <a:r>
                  <a:rPr lang="en-US" sz="2800" dirty="0" err="1" smtClean="0"/>
                  <a:t>Krauthgammer</a:t>
                </a:r>
                <a:r>
                  <a:rPr lang="en-US" sz="2800" dirty="0" smtClean="0"/>
                  <a:t>, Nadler, V. 2015</a:t>
                </a:r>
                <a:r>
                  <a:rPr lang="en-US" sz="2800" dirty="0" smtClean="0"/>
                  <a:t>] (Integrality Gap)</a:t>
                </a:r>
                <a:endParaRPr lang="en-US" sz="2800" dirty="0" smtClean="0"/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r>
                  <a:rPr lang="en-US" sz="2800" dirty="0" smtClean="0"/>
                  <a:t>Assume: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charset="0"/>
                          </a:rPr>
                          <m:t>𝑝</m:t>
                        </m:r>
                      </m:num>
                      <m:den>
                        <m:r>
                          <a:rPr lang="en-US" sz="2800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en-US" sz="2800" b="0" i="1" smtClean="0">
                        <a:latin typeface="Cambria Math" charset="0"/>
                      </a:rPr>
                      <m:t>→</m:t>
                    </m:r>
                    <m:r>
                      <a:rPr lang="en-US" sz="2800" b="0" i="1" smtClean="0">
                        <a:latin typeface="Cambria Math" charset="0"/>
                      </a:rPr>
                      <m:t>𝑐</m:t>
                    </m:r>
                    <m:r>
                      <a:rPr lang="en-US" sz="2800" b="0" i="1" smtClean="0">
                        <a:latin typeface="Cambria Math" charset="0"/>
                      </a:rPr>
                      <m:t>, 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2800" dirty="0" smtClean="0"/>
                  <a:t>,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𝑘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≥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2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𝑝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e>
                    </m:rad>
                  </m:oMath>
                </a14:m>
                <a:endParaRPr lang="en-US" sz="2800" dirty="0" smtClean="0"/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r>
                  <a:rPr lang="en-US" sz="2800" dirty="0" smtClean="0"/>
                  <a:t>Then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sz="2800" i="1" dirty="0" err="1" smtClean="0">
                            <a:latin typeface="Cambria Math" charset="0"/>
                          </a:rPr>
                          <m:t>𝑛</m:t>
                        </m:r>
                        <m:r>
                          <a:rPr lang="en-US" sz="2800" i="1" dirty="0" err="1" smtClean="0">
                            <a:latin typeface="Cambria Math" charset="0"/>
                          </a:rPr>
                          <m:t>,</m:t>
                        </m:r>
                        <m:r>
                          <a:rPr lang="en-US" sz="2800" i="1" dirty="0" err="1" smtClean="0">
                            <a:latin typeface="Cambria Math" charset="0"/>
                          </a:rPr>
                          <m:t>𝑝</m:t>
                        </m:r>
                        <m:r>
                          <a:rPr lang="en-US" sz="2800" i="1" dirty="0" err="1" smtClean="0">
                            <a:latin typeface="Cambria Math" charset="0"/>
                          </a:rPr>
                          <m:t>,</m:t>
                        </m:r>
                        <m:r>
                          <a:rPr lang="en-US" sz="2800" i="1" dirty="0" err="1" smtClean="0">
                            <a:latin typeface="Cambria Math" charset="0"/>
                          </a:rPr>
                          <m:t>𝑘</m:t>
                        </m:r>
                      </m:e>
                    </m:d>
                    <m:r>
                      <a:rPr lang="en-US" sz="2800" b="0" i="1" dirty="0" smtClean="0">
                        <a:latin typeface="Cambria Math" charset="0"/>
                      </a:rPr>
                      <m:t>→</m:t>
                    </m:r>
                    <m:r>
                      <a:rPr lang="en-US" sz="28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∞</m:t>
                    </m:r>
                  </m:oMath>
                </a14:m>
                <a:endParaRPr lang="en-US" sz="2800" dirty="0" smtClean="0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hr-HR" sz="280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hr-HR" sz="280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latin typeface="Cambria Math" charset="0"/>
                                    </a:rPr>
                                    <m:t>𝐳</m:t>
                                  </m:r>
                                  <m:r>
                                    <a:rPr lang="en-US" sz="2800" b="0" i="1" smtClean="0">
                                      <a:latin typeface="Cambria Math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800" b="1" smtClean="0">
                                          <a:latin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b="1" i="0">
                                          <a:latin typeface="Cambria Math" charset="0"/>
                                        </a:rPr>
                                        <m:t>𝐳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f>
                        <m:fPr>
                          <m:ctrlPr>
                            <a:rPr lang="bg-BG" sz="2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  <m:r>
                            <a:rPr lang="en-US" sz="2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𝛽</m:t>
                              </m:r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US" sz="2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bg-BG" sz="2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bg-BG" sz="28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bg-BG" sz="28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𝑝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8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7293"/>
                <a:ext cx="8229600" cy="4525963"/>
              </a:xfrm>
              <a:blipFill rotWithShape="0">
                <a:blip r:embed="rId3"/>
                <a:stretch>
                  <a:fillRect l="-1481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57200" y="4365104"/>
                <a:ext cx="799288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1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charset="0"/>
                          </a:rPr>
                          <m:t>𝒛</m:t>
                        </m:r>
                      </m:e>
                    </m:acc>
                  </m:oMath>
                </a14:m>
                <a:r>
                  <a:rPr lang="en-US" sz="2800" dirty="0" smtClean="0"/>
                  <a:t> is the leading eigenvector of the SDP solution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charset="0"/>
                      </a:rPr>
                      <m:t>𝑋</m:t>
                    </m:r>
                  </m:oMath>
                </a14:m>
                <a:r>
                  <a:rPr lang="en-US" sz="28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𝜆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 smtClean="0"/>
                  <a:t> is the corresponding eigenvalue </a:t>
                </a:r>
                <a:endParaRPr lang="en-US" sz="28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65104"/>
                <a:ext cx="7992888" cy="954107"/>
              </a:xfrm>
              <a:prstGeom prst="rect">
                <a:avLst/>
              </a:prstGeom>
              <a:blipFill rotWithShape="0">
                <a:blip r:embed="rId4"/>
                <a:stretch>
                  <a:fillRect t="-5732" r="-160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57200" y="5752925"/>
            <a:ext cx="8496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800" dirty="0" err="1" smtClean="0"/>
              <a:t>Feige-Krauthgammer</a:t>
            </a:r>
            <a:r>
              <a:rPr lang="en-US" sz="2800" dirty="0" smtClean="0"/>
              <a:t> </a:t>
            </a:r>
            <a:r>
              <a:rPr lang="en-US" sz="2800" dirty="0" smtClean="0"/>
              <a:t>proved similar result in </a:t>
            </a:r>
            <a:r>
              <a:rPr lang="en-US" sz="2800" dirty="0" smtClean="0"/>
              <a:t>2000 for </a:t>
            </a:r>
            <a:r>
              <a:rPr lang="en-US" sz="2800" dirty="0" err="1" smtClean="0"/>
              <a:t>Clqiue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681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 dirty="0" smtClean="0"/>
              <a:t>Proof Ideas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/>
              <a:lstStyle/>
              <a:p>
                <a: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SDP value of </a:t>
                </a:r>
                <a:r>
                  <a:rPr lang="en-US" dirty="0"/>
                  <a:t>a</a:t>
                </a:r>
                <a:r>
                  <a:rPr lang="en-US" dirty="0" smtClean="0"/>
                  <a:t> rank </a:t>
                </a:r>
                <a:r>
                  <a:rPr lang="en-US" dirty="0" smtClean="0"/>
                  <a:t>one solutions is small</a:t>
                </a:r>
              </a:p>
              <a:p>
                <a:pPr lvl="1" indent="-342900" algn="l" rtl="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charset="0"/>
                          </a:rPr>
                          <m:t>𝐲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Σ</m:t>
                        </m:r>
                      </m:e>
                    </m:acc>
                    <m:r>
                      <a:rPr lang="en-US" b="1" i="0" smtClean="0">
                        <a:latin typeface="Cambria Math" charset="0"/>
                      </a:rPr>
                      <m:t>𝐲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9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den>
                    </m:f>
                  </m:oMath>
                </a14:m>
                <a:endParaRPr lang="en-US" b="0" dirty="0" smtClean="0">
                  <a:ea typeface="Cambria Math" charset="0"/>
                  <a:cs typeface="Cambria Math" charset="0"/>
                </a:endParaRPr>
              </a:p>
              <a:p>
                <a:pPr lvl="1" indent="-342900" algn="l" rtl="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ea typeface="Cambria Math" charset="0"/>
                    <a:cs typeface="Cambria Math" charset="0"/>
                  </a:rPr>
                  <a:t>Proven via an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𝜀</m:t>
                    </m:r>
                  </m:oMath>
                </a14:m>
                <a:r>
                  <a:rPr lang="en-US" b="0" dirty="0" smtClean="0">
                    <a:ea typeface="Cambria Math" charset="0"/>
                    <a:cs typeface="Cambria Math" charset="0"/>
                  </a:rPr>
                  <a:t>-net type argument</a:t>
                </a:r>
              </a:p>
              <a:p>
                <a:pPr algn="l" rtl="0"/>
                <a:r>
                  <a:rPr lang="en-US" b="0" dirty="0" smtClean="0">
                    <a:ea typeface="Cambria Math" charset="0"/>
                    <a:cs typeface="Cambria Math" charset="0"/>
                  </a:rPr>
                  <a:t>On the other hand there exists a solution whose value is larger</a:t>
                </a:r>
              </a:p>
              <a:p>
                <a:pPr lvl="1" algn="l" rtl="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𝑡𝑟</m:t>
                    </m:r>
                    <m:d>
                      <m:dPr>
                        <m:ctrlP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Σ</m:t>
                            </m:r>
                          </m:e>
                        </m:acc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f>
                      <m:fPr>
                        <m:ctrlPr>
                          <a:rPr lang="bg-BG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den>
                    </m:f>
                  </m:oMath>
                </a14:m>
                <a:endParaRPr lang="en-US" b="0" dirty="0" smtClean="0">
                  <a:ea typeface="Cambria Math" charset="0"/>
                  <a:cs typeface="Cambria Math" charset="0"/>
                </a:endParaRPr>
              </a:p>
              <a:p>
                <a:pPr algn="l" rtl="0">
                  <a:buFont typeface="Arial" charset="0"/>
                  <a:buChar char="•"/>
                </a:pPr>
                <a:r>
                  <a:rPr lang="en-US" dirty="0" smtClean="0">
                    <a:ea typeface="Cambria Math" charset="0"/>
                    <a:cs typeface="Cambria Math" charset="0"/>
                  </a:rPr>
                  <a:t>Another phase transition – rigidity of SDP</a:t>
                </a:r>
              </a:p>
              <a:p>
                <a:pPr lvl="1" algn="l" rtl="0">
                  <a:buFont typeface="Arial" charset="0"/>
                  <a:buChar char="•"/>
                </a:pPr>
                <a:r>
                  <a:rPr lang="en-US" b="0" dirty="0" smtClean="0">
                    <a:ea typeface="Cambria Math" charset="0"/>
                    <a:cs typeface="Cambria Math" charset="0"/>
                  </a:rPr>
                  <a:t>When does SDP has low-rank solutions?</a:t>
                </a:r>
              </a:p>
              <a:p>
                <a:pPr lvl="1" algn="l" rtl="0">
                  <a:buFont typeface="Arial" charset="0"/>
                  <a:buChar char="•"/>
                </a:pPr>
                <a:r>
                  <a:rPr lang="en-US" dirty="0" smtClean="0">
                    <a:ea typeface="Cambria Math" charset="0"/>
                    <a:cs typeface="Cambria Math" charset="0"/>
                  </a:rPr>
                  <a:t>Same questions for random CSP’s</a:t>
                </a:r>
                <a:endParaRPr lang="en-US" b="0" dirty="0" smtClean="0">
                  <a:ea typeface="Cambria Math" charset="0"/>
                  <a:cs typeface="Cambria Math" charset="0"/>
                </a:endParaRPr>
              </a:p>
              <a:p>
                <a:pPr lvl="1" algn="l" rtl="0"/>
                <a:endParaRPr lang="en-US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 rotWithShape="0">
                <a:blip r:embed="rId2"/>
                <a:stretch>
                  <a:fillRect l="-1704" t="-1508" b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24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Greedy approach revisited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2800" dirty="0" smtClean="0"/>
              <a:t>So what have we seen so far?</a:t>
            </a:r>
          </a:p>
          <a:p>
            <a:pPr algn="l" rtl="0"/>
            <a:r>
              <a:rPr lang="en-US" sz="2800" dirty="0" smtClean="0"/>
              <a:t>When signal is stronger than standard deviations – </a:t>
            </a:r>
            <a:r>
              <a:rPr lang="en-US" sz="2800" dirty="0" smtClean="0">
                <a:solidFill>
                  <a:srgbClr val="0070C0"/>
                </a:solidFill>
              </a:rPr>
              <a:t>simple greedy </a:t>
            </a:r>
            <a:r>
              <a:rPr lang="en-US" sz="2800" dirty="0" smtClean="0"/>
              <a:t>works</a:t>
            </a:r>
          </a:p>
          <a:p>
            <a:pPr algn="l" rtl="0"/>
            <a:r>
              <a:rPr lang="en-US" sz="2800" dirty="0" smtClean="0"/>
              <a:t>When signal is on par with standard deviations – </a:t>
            </a:r>
            <a:r>
              <a:rPr lang="en-US" sz="2800" dirty="0" smtClean="0">
                <a:solidFill>
                  <a:srgbClr val="0070C0"/>
                </a:solidFill>
              </a:rPr>
              <a:t>spectral/SDP</a:t>
            </a:r>
            <a:r>
              <a:rPr lang="en-US" sz="2800" dirty="0" smtClean="0"/>
              <a:t> works</a:t>
            </a:r>
          </a:p>
          <a:p>
            <a:pPr algn="l" rtl="0"/>
            <a:r>
              <a:rPr lang="en-US" sz="2800" dirty="0" smtClean="0"/>
              <a:t>When signal is smaller than standard deviations – still can be solved, but maybe not efficiently …</a:t>
            </a:r>
          </a:p>
          <a:p>
            <a:pPr algn="l" rtl="0"/>
            <a:endParaRPr lang="en-US" sz="2800" dirty="0"/>
          </a:p>
          <a:p>
            <a:pPr marL="0" indent="0" algn="l" rtl="0">
              <a:buNone/>
            </a:pPr>
            <a:r>
              <a:rPr lang="en-US" sz="2800" dirty="0" smtClean="0"/>
              <a:t>Is this really so? …</a:t>
            </a:r>
          </a:p>
          <a:p>
            <a:pPr marL="0" indent="0" algn="l" rtl="0">
              <a:buNone/>
            </a:pP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248870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entirely so…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 rtl="0"/>
                <a:r>
                  <a:rPr lang="en-US" sz="2800" dirty="0" smtClean="0"/>
                  <a:t>Reverse greedy approach</a:t>
                </a:r>
              </a:p>
              <a:p>
                <a:pPr lvl="1" algn="l" rtl="0"/>
                <a:r>
                  <a:rPr lang="en-US" dirty="0" smtClean="0"/>
                  <a:t>Order vertices in </a:t>
                </a:r>
                <a:r>
                  <a:rPr lang="en-US" dirty="0" smtClean="0">
                    <a:solidFill>
                      <a:srgbClr val="0070C0"/>
                    </a:solidFill>
                  </a:rPr>
                  <a:t>decreasing</a:t>
                </a:r>
                <a:r>
                  <a:rPr lang="en-US" dirty="0" smtClean="0"/>
                  <a:t> order of likelihood of being part of the solution</a:t>
                </a:r>
              </a:p>
              <a:p>
                <a:pPr lvl="1" algn="l" rtl="0"/>
                <a:r>
                  <a:rPr lang="en-US" dirty="0" smtClean="0"/>
                  <a:t>Remove most unlikely vertex</a:t>
                </a:r>
              </a:p>
              <a:p>
                <a:pPr lvl="1" algn="l" rtl="0"/>
                <a:r>
                  <a:rPr lang="en-US" dirty="0" smtClean="0"/>
                  <a:t>Repeat</a:t>
                </a:r>
              </a:p>
              <a:p>
                <a:pPr algn="l" rtl="0"/>
                <a:r>
                  <a:rPr lang="en-US" sz="2800" dirty="0" smtClean="0"/>
                  <a:t>Planted clique: Feige Ron 2010</a:t>
                </a:r>
              </a:p>
              <a:p>
                <a:pPr lvl="1" algn="l" rtl="0"/>
                <a:r>
                  <a:rPr lang="en-US" dirty="0" smtClean="0"/>
                  <a:t>Remove vertex with least degree, repeat.</a:t>
                </a:r>
              </a:p>
              <a:p>
                <a:pPr algn="l" rtl="0"/>
                <a:r>
                  <a:rPr lang="en-US" sz="28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𝑘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2800" dirty="0" smtClean="0"/>
                  <a:t> this algorithm finds a clique </a:t>
                </a:r>
                <a:r>
                  <a:rPr lang="en-US" sz="2800" i="1" dirty="0" smtClean="0">
                    <a:latin typeface="Cambria" panose="02040503050406030204" pitchFamily="18" charset="0"/>
                  </a:rPr>
                  <a:t>whp</a:t>
                </a:r>
              </a:p>
              <a:p>
                <a:pPr marL="457200" lvl="1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 r="-44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01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Reverse Greedy on </a:t>
            </a:r>
            <a:r>
              <a:rPr lang="en-US" sz="4000" dirty="0" err="1" smtClean="0"/>
              <a:t>Cov</a:t>
            </a:r>
            <a:r>
              <a:rPr lang="en-US" sz="4000" dirty="0" smtClean="0"/>
              <a:t>. Matrix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76"/>
                <a:ext cx="8229600" cy="4525963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800" dirty="0" smtClean="0"/>
                  <a:t>Consider the following algorithm</a:t>
                </a:r>
              </a:p>
              <a:p>
                <a:pPr lvl="1" algn="l" rtl="0"/>
                <a:r>
                  <a:rPr lang="en-US" dirty="0" smtClean="0"/>
                  <a:t>Each time remove a row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charset="0"/>
                            <a:sym typeface="Symbol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/>
                            <a:sym typeface="Symbol"/>
                          </a:rPr>
                          <m:t></m:t>
                        </m:r>
                      </m:e>
                    </m:acc>
                  </m:oMath>
                </a14:m>
                <a:r>
                  <a:rPr lang="en-US" dirty="0" smtClean="0"/>
                  <a:t> with lowest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norm</a:t>
                </a:r>
              </a:p>
              <a:p>
                <a:pPr lvl="1" algn="l" rtl="0"/>
                <a:r>
                  <a:rPr lang="en-US" dirty="0" smtClean="0"/>
                  <a:t>Remove its corresponding column</a:t>
                </a:r>
              </a:p>
              <a:p>
                <a:pPr lvl="1" algn="l" rtl="0"/>
                <a:r>
                  <a:rPr lang="en-US" dirty="0" smtClean="0"/>
                  <a:t>Repeat</a:t>
                </a:r>
              </a:p>
              <a:p>
                <a:pPr algn="l" rtl="0"/>
                <a:r>
                  <a:rPr lang="en-US" sz="2800" dirty="0" smtClean="0"/>
                  <a:t>Executions show that this algorithm works the same as SDP</a:t>
                </a:r>
              </a:p>
              <a:p>
                <a:pPr algn="l" rtl="0"/>
                <a:r>
                  <a:rPr lang="en-US" sz="2800" dirty="0" smtClean="0"/>
                  <a:t>Proof?</a:t>
                </a:r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76"/>
                <a:ext cx="8229600" cy="4525963"/>
              </a:xfrm>
              <a:blipFill rotWithShape="1">
                <a:blip r:embed="rId2"/>
                <a:stretch>
                  <a:fillRect l="-1259" t="-1213" r="-7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26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25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Time-data tradeoffs </a:t>
            </a:r>
            <a:endParaRPr lang="he-IL" sz="4000" dirty="0"/>
          </a:p>
        </p:txBody>
      </p:sp>
      <p:sp>
        <p:nvSpPr>
          <p:cNvPr id="7" name="Rectangle 6"/>
          <p:cNvSpPr/>
          <p:nvPr/>
        </p:nvSpPr>
        <p:spPr>
          <a:xfrm>
            <a:off x="1331640" y="4561964"/>
            <a:ext cx="6984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dirty="0" smtClean="0"/>
              <a:t>Algorithmic weakening vs SDP hierarchies</a:t>
            </a:r>
            <a:endParaRPr lang="he-IL" sz="2800" dirty="0"/>
          </a:p>
        </p:txBody>
      </p:sp>
      <p:sp>
        <p:nvSpPr>
          <p:cNvPr id="8" name="Rectangle 7"/>
          <p:cNvSpPr/>
          <p:nvPr/>
        </p:nvSpPr>
        <p:spPr>
          <a:xfrm>
            <a:off x="395536" y="5817458"/>
            <a:ext cx="80681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en-US" sz="2000" dirty="0"/>
              <a:t>Computational and Statistical Tradeoffs via Convex Relaxation</a:t>
            </a:r>
          </a:p>
          <a:p>
            <a:pPr algn="ctr" rtl="0"/>
            <a:r>
              <a:rPr lang="en-US" sz="2000" dirty="0" err="1" smtClean="0"/>
              <a:t>Chandrasekaran</a:t>
            </a:r>
            <a:r>
              <a:rPr lang="en-US" sz="2000" dirty="0" smtClean="0"/>
              <a:t> </a:t>
            </a:r>
            <a:r>
              <a:rPr lang="en-US" sz="2000" dirty="0"/>
              <a:t>and </a:t>
            </a:r>
            <a:r>
              <a:rPr lang="en-US" sz="2000" dirty="0" smtClean="0"/>
              <a:t> Jordan, PNAS 2013</a:t>
            </a:r>
            <a:endParaRPr lang="he-IL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3568" y="1196752"/>
                <a:ext cx="7632848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:r>
                  <a:rPr lang="en-US" sz="2800" dirty="0" smtClean="0">
                    <a:solidFill>
                      <a:srgbClr val="FF0000"/>
                    </a:solidFill>
                  </a:rPr>
                  <a:t>Risk</a:t>
                </a:r>
                <a:r>
                  <a:rPr lang="en-US" sz="2800" dirty="0" smtClean="0"/>
                  <a:t> of a binary classifier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𝑔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/>
                          </a:rPr>
                          <m:t>𝑃𝑟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sz="2800" b="0" i="1" dirty="0" smtClean="0">
                        <a:latin typeface="Cambria Math"/>
                      </a:rPr>
                      <m:t> </m:t>
                    </m:r>
                    <m:r>
                      <a:rPr lang="en-US" sz="2800" i="1" dirty="0" smtClean="0">
                        <a:latin typeface="Cambria Math"/>
                      </a:rPr>
                      <m:t>[</m:t>
                    </m:r>
                    <m:r>
                      <a:rPr lang="en-US" sz="2800" i="1" dirty="0" smtClean="0">
                        <a:latin typeface="Cambria Math"/>
                      </a:rPr>
                      <m:t>𝑔</m:t>
                    </m:r>
                    <m:r>
                      <a:rPr lang="en-US" sz="2800" i="1" dirty="0" smtClean="0">
                        <a:latin typeface="Cambria Math"/>
                      </a:rPr>
                      <m:t>(</m:t>
                    </m:r>
                    <m:r>
                      <a:rPr lang="en-US" sz="2800" i="1" dirty="0" smtClean="0">
                        <a:latin typeface="Cambria Math"/>
                      </a:rPr>
                      <m:t>𝑋</m:t>
                    </m:r>
                    <m:r>
                      <a:rPr lang="en-US" sz="2800" i="1" dirty="0" smtClean="0">
                        <a:latin typeface="Cambria Math"/>
                      </a:rPr>
                      <m:t>) ≠ </m:t>
                    </m:r>
                    <m:r>
                      <a:rPr lang="en-US" sz="2800" i="1" dirty="0" smtClean="0">
                        <a:latin typeface="Cambria Math"/>
                      </a:rPr>
                      <m:t>𝑌</m:t>
                    </m:r>
                    <m:r>
                      <a:rPr lang="en-US" sz="2800" i="1" dirty="0" smtClean="0">
                        <a:latin typeface="Cambria Math"/>
                      </a:rPr>
                      <m:t>]</m:t>
                    </m:r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196752"/>
                <a:ext cx="7632848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597" t="-10465" b="-3255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83568" y="2017983"/>
                <a:ext cx="7784608" cy="9541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:r>
                  <a:rPr lang="en-US" sz="2800" dirty="0" smtClean="0"/>
                  <a:t>Game 1: train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𝑔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on a set of points such that as you  </a:t>
                </a:r>
              </a:p>
              <a:p>
                <a:pPr algn="l" rtl="0"/>
                <a:r>
                  <a:rPr lang="en-US" sz="2800" dirty="0"/>
                  <a:t> </a:t>
                </a:r>
                <a:r>
                  <a:rPr lang="en-US" sz="2800" dirty="0" smtClean="0"/>
                  <a:t>	get more data the </a:t>
                </a:r>
                <a:r>
                  <a:rPr lang="en-US" sz="2800" dirty="0" smtClean="0">
                    <a:solidFill>
                      <a:srgbClr val="0070C0"/>
                    </a:solidFill>
                  </a:rPr>
                  <a:t>risk reduces</a:t>
                </a:r>
                <a:endParaRPr lang="he-IL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017983"/>
                <a:ext cx="7784608" cy="954107"/>
              </a:xfrm>
              <a:prstGeom prst="rect">
                <a:avLst/>
              </a:prstGeom>
              <a:blipFill rotWithShape="0">
                <a:blip r:embed="rId3"/>
                <a:stretch>
                  <a:fillRect l="-1566"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79029" y="3122965"/>
                <a:ext cx="7784608" cy="9541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:r>
                  <a:rPr lang="en-US" sz="2800" dirty="0" smtClean="0"/>
                  <a:t>Game 2: train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𝑔</m:t>
                    </m:r>
                    <m:r>
                      <a:rPr lang="en-US" sz="28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on a set of points such that as you  </a:t>
                </a:r>
              </a:p>
              <a:p>
                <a:pPr algn="l" rtl="0"/>
                <a:r>
                  <a:rPr lang="en-US" sz="2800" dirty="0"/>
                  <a:t> </a:t>
                </a:r>
                <a:r>
                  <a:rPr lang="en-US" sz="2800" dirty="0" smtClean="0"/>
                  <a:t>	get more data it takes </a:t>
                </a:r>
                <a:r>
                  <a:rPr lang="en-US" sz="2800" dirty="0" smtClean="0">
                    <a:solidFill>
                      <a:srgbClr val="0070C0"/>
                    </a:solidFill>
                  </a:rPr>
                  <a:t>less time</a:t>
                </a:r>
                <a:r>
                  <a:rPr lang="en-US" sz="2800" dirty="0" smtClean="0"/>
                  <a:t> to train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𝑔</m:t>
                    </m:r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29" y="3122965"/>
                <a:ext cx="7784608" cy="954107"/>
              </a:xfrm>
              <a:prstGeom prst="rect">
                <a:avLst/>
              </a:prstGeom>
              <a:blipFill rotWithShape="0">
                <a:blip r:embed="rId4"/>
                <a:stretch>
                  <a:fillRect l="-1566"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78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645224"/>
          </a:xfrm>
        </p:spPr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 smtClean="0"/>
              <a:t>High-dimensional statistics is a very hot topic 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US" dirty="0" smtClean="0"/>
              <a:t>Big-data, genetics, </a:t>
            </a:r>
            <a:r>
              <a:rPr lang="en-US" dirty="0" err="1" smtClean="0"/>
              <a:t>algo</a:t>
            </a:r>
            <a:r>
              <a:rPr lang="en-US" dirty="0" smtClean="0"/>
              <a:t>-trading</a:t>
            </a:r>
          </a:p>
          <a:p>
            <a:pPr algn="l" rtl="0"/>
            <a:r>
              <a:rPr lang="en-US" sz="2800" dirty="0" smtClean="0"/>
              <a:t>The nature of the problems requires interdisciplinary solutions</a:t>
            </a:r>
          </a:p>
          <a:p>
            <a:pPr algn="l" rtl="0"/>
            <a:r>
              <a:rPr lang="en-US" sz="2800" dirty="0" smtClean="0"/>
              <a:t>Our training (theoretical CS) is very handy</a:t>
            </a:r>
          </a:p>
          <a:p>
            <a:pPr lvl="1" algn="l" rtl="0">
              <a:buFont typeface="Arial" charset="0"/>
              <a:buChar char="•"/>
            </a:pPr>
            <a:r>
              <a:rPr lang="en-US" dirty="0" smtClean="0"/>
              <a:t>Knowledge of algorithms, optimization, probability</a:t>
            </a:r>
          </a:p>
          <a:p>
            <a:pPr algn="l" rtl="0">
              <a:buFont typeface="Arial" charset="0"/>
              <a:buChar char="•"/>
            </a:pPr>
            <a:r>
              <a:rPr lang="en-US" sz="2800" dirty="0" smtClean="0"/>
              <a:t>The problems have very similar flavor to what we are used </a:t>
            </a:r>
            <a:r>
              <a:rPr lang="en-US" sz="2800" dirty="0" smtClean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97541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6016" y="2852936"/>
            <a:ext cx="3384376" cy="1224136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6000" dirty="0" smtClean="0"/>
              <a:t>Thank you</a:t>
            </a:r>
            <a:endParaRPr lang="he-IL" sz="6000" dirty="0"/>
          </a:p>
        </p:txBody>
      </p:sp>
      <p:pic>
        <p:nvPicPr>
          <p:cNvPr id="7170" name="Picture 2" descr="https://lh5.googleusercontent.com/eGuVrY0dYZ7hUcU4qNPU9t19NazhjeAxPsxZ8AFBZ-Ulu2QWbCwChHmaxDvqEfpyIZsX79F0szuNhGrSdso59z7hVCkv-vaWUuEqjUh0gGWSyzf_dNHwiiB0d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24744"/>
            <a:ext cx="3240360" cy="4325922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82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webdesignfromscratch.com/wp-content/uploads/2015/03/small-ads-hilite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268760"/>
            <a:ext cx="600075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23928" y="3131676"/>
            <a:ext cx="10801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/>
              <a:t>Postdoc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236269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5017</TotalTime>
  <Words>899</Words>
  <Application>Microsoft Macintosh PowerPoint</Application>
  <PresentationFormat>On-screen Show (4:3)</PresentationFormat>
  <Paragraphs>280</Paragraphs>
  <Slides>39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Calibri</vt:lpstr>
      <vt:lpstr>Cambria</vt:lpstr>
      <vt:lpstr>Cambria Math</vt:lpstr>
      <vt:lpstr>Symbol</vt:lpstr>
      <vt:lpstr>Times New Roman</vt:lpstr>
      <vt:lpstr>Wingdings</vt:lpstr>
      <vt:lpstr>Arial</vt:lpstr>
      <vt:lpstr>Office Theme</vt:lpstr>
      <vt:lpstr>Equation</vt:lpstr>
      <vt:lpstr>The Denoising Problem in the mirror of CS and Statistics</vt:lpstr>
      <vt:lpstr>The water and oil problem</vt:lpstr>
      <vt:lpstr>The plan for this talk</vt:lpstr>
      <vt:lpstr>The Denoising Problem</vt:lpstr>
      <vt:lpstr>The Denoising Problem contd.</vt:lpstr>
      <vt:lpstr>The Denoising Problem contd.</vt:lpstr>
      <vt:lpstr>The Statistical Model</vt:lpstr>
      <vt:lpstr>The Planted Clique</vt:lpstr>
      <vt:lpstr>Planted Clique and Sparse PCA</vt:lpstr>
      <vt:lpstr>Principal Component Analysis</vt:lpstr>
      <vt:lpstr>Principal Component Analysis</vt:lpstr>
      <vt:lpstr>PCA across Science</vt:lpstr>
      <vt:lpstr>Language Comparison</vt:lpstr>
      <vt:lpstr>Single Spike Model  I. Johnstone (Annals of Stat. 2001)</vt:lpstr>
      <vt:lpstr>Covariance vs. Adjacency</vt:lpstr>
      <vt:lpstr>What would a statistician ask?</vt:lpstr>
      <vt:lpstr>Also in Erdos-Renyi Graphs …</vt:lpstr>
      <vt:lpstr>Half way through … no phase transision?! </vt:lpstr>
      <vt:lpstr>Zoom in on computational threshold</vt:lpstr>
      <vt:lpstr>Algorithmic approaches</vt:lpstr>
      <vt:lpstr>One more fact …</vt:lpstr>
      <vt:lpstr>Simple Greedy Rules</vt:lpstr>
      <vt:lpstr>When does greedy work?</vt:lpstr>
      <vt:lpstr>Spectral Approaches</vt:lpstr>
      <vt:lpstr>How about PCA?</vt:lpstr>
      <vt:lpstr>PCA contd.</vt:lpstr>
      <vt:lpstr>Semi-definite Programming Approach</vt:lpstr>
      <vt:lpstr>SDP Dual</vt:lpstr>
      <vt:lpstr>SDP Duality contd.</vt:lpstr>
      <vt:lpstr>Does SDP work for larger k?</vt:lpstr>
      <vt:lpstr>Does SDP work for larger k?</vt:lpstr>
      <vt:lpstr>Proof Ideas</vt:lpstr>
      <vt:lpstr>Greedy approach revisited</vt:lpstr>
      <vt:lpstr>Not entirely so…</vt:lpstr>
      <vt:lpstr>Reverse Greedy on Cov. Matrix</vt:lpstr>
      <vt:lpstr>Time-data tradeoffs 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Vilenchik</dc:creator>
  <cp:lastModifiedBy>Microsoft Office User</cp:lastModifiedBy>
  <cp:revision>121</cp:revision>
  <dcterms:created xsi:type="dcterms:W3CDTF">2016-07-17T06:19:05Z</dcterms:created>
  <dcterms:modified xsi:type="dcterms:W3CDTF">2016-07-26T16:24:14Z</dcterms:modified>
</cp:coreProperties>
</file>